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12192000"/>
  <p:embeddedFontLst>
    <p:embeddedFont>
      <p:font typeface="Inter"/>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165ABE-6510-4957-AB52-0C4446FAEBA0}">
  <a:tblStyle styleId="{A7165ABE-6510-4957-AB52-0C4446FAEBA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font" Target="fonts/Inter-bold.fntdata"/><Relationship Id="rId10" Type="http://schemas.openxmlformats.org/officeDocument/2006/relationships/slide" Target="slides/slide5.xml"/><Relationship Id="rId21" Type="http://schemas.openxmlformats.org/officeDocument/2006/relationships/font" Target="fonts/Inter-regular.fntdata"/><Relationship Id="rId13" Type="http://schemas.openxmlformats.org/officeDocument/2006/relationships/slide" Target="slides/slide8.xml"/><Relationship Id="rId24" Type="http://schemas.openxmlformats.org/officeDocument/2006/relationships/font" Target="fonts/Inter-boldItalic.fntdata"/><Relationship Id="rId12" Type="http://schemas.openxmlformats.org/officeDocument/2006/relationships/slide" Target="slides/slide7.xml"/><Relationship Id="rId23" Type="http://schemas.openxmlformats.org/officeDocument/2006/relationships/font" Target="fonts/Inter-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 name="Google Shape;14;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MENSAJE CLAVE Venimos a proponer una primera versión concreta y acotada para que Grupo Agro del Litoral decida el riego sobre datos validados. GUION (Joaquín Maver) Buenas tardes. Somos Datum Sur, una consultora argentina especializada en calidad de datos y DataOps. Me acompañan Sebastián, nuestro Data Engineer; Kiara, responsable de calidad de datos; y Matías, responsable de integración y despliegue. Yo soy Joaquín y coordino el proyecto. Hoy no venimos a mostrarles tecnología por la tecnología misma. Venimos a hablar de cuánto pueden confiar en los datos con los que deciden cuándo regar, y a proponerles una primera versión acotada, de seis semanas, que además ya hicimos funcionar de punta a punta en una prueba. En los próximos minutos vamos a recorrer el problema, qué proponemos construir, cómo funciona, cuánto cuesta, qué riesgos vemos y cuál es el próximo paso. TRANSICIÓN "Empecemos por ustedes. Kiara les va a mostrar lo que encontramos en sus datos."</a:t>
            </a:r>
            <a:endParaRPr/>
          </a:p>
        </p:txBody>
      </p:sp>
      <p:sp>
        <p:nvSpPr>
          <p:cNvPr id="15" name="Google Shape;15;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MENSAJE CLAVE Sabemos con quién trabajamos y cada decisión tiene un único responsable de su lado: el proyecto no se traba por falta de definiciones. GUION (Joaquín Maver) Antes de entrar en el problema, les cuento cómo vamos a trabajar con ustedes, porque un proyecto de datos funciona solo si las personas correctas participan en el momento correcto. A la izquierda está el mapa de partes interesadas: arriba, quienes tienen más poder de decisión; a la derecha, quienes tienen más interés. Al Director General, como patrocinador, y a la Gerente de Producción los gestionamos de cerca: el Director recibe un resumen ejecutivo cada dos semanas y una reunión de validación en cada hito; con la Gerente nos reunimos cada quince días para validar variables, rangos e indicadores. Al Jefe de Riego y a la Analista de Datos los mantenemos informados. El Jefe de Riego es el principal usuario de la humedad de suelo y la lluvia, así que su opinión orienta las reglas; la Analista hoy corrige datos a mano y es quien más se beneficia de la automatización. Con IT tenemos una reunión técnica al inicio para los accesos y otra antes del cierre, y al Coordinador de Campos le avisamos ante novedades relevantes, como cambios de sensores. A la derecha está un resumen de nuestra matriz RACI: quién aprueba, quién ejecuta y a quién consultamos en las decisiones que los involucran. La regla es simple: cada decisión tiene un único aprobador, para que siempre haya una persona que dé el visto bueno. La matriz completa, con los nueve paquetes de trabajo, está en el documento del proyecto. TRANSICIÓN "Con esto claro, vamos a lo importante: el problema que encontramos. Kiara."</a:t>
            </a:r>
            <a:endParaRPr/>
          </a:p>
        </p:txBody>
      </p:sp>
      <p:sp>
        <p:nvSpPr>
          <p:cNvPr id="42" name="Google Shape;4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 name="Google Shape;7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MENSAJE CLAVE El volumen hace imposible revisar a mano, y hoy los tableros mezclan datos buenos y erróneos sin distinguirlos. GUION (Kiara Pisera) Grupo Agro del Litoral opera 8 campos en tres provincias, unas 20.000 hectáreas, con alrededor de 200 sensores que miden cada 15 minutos. Eso son 19.200 registros por día y más de 7 millones por año: nadie puede revisar ese volumen a mano. Nuestra estimación, basada en proyectos similares, es que cerca del 14 % de esas mediciones tiene algún problema: unos 2.700 registros por día. Y lo que más falla es justamente lo que más importa para el riego: la humedad de suelo y la lluvia. Quiero ser clara: los datos de la izquierda son de su operación; el 14 % es una estimación nuestra y lo primero que vamos a hacer es validarlo con sus datos reales. Lo que sí sabemos es que hoy los tableros no distinguen un dato confiable de uno erróneo: los usan por igual. TRANSICIÓN "¿Por qué debería preocuparles? Porque esos datos son los que deciden el riego."</a:t>
            </a:r>
            <a:endParaRPr/>
          </a:p>
        </p:txBody>
      </p:sp>
      <p:sp>
        <p:nvSpPr>
          <p:cNvPr id="78" name="Google Shape;7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MENSAJE CLAVE Las decisiones son correctas; los datos no. El costo es agua, energía, rendimiento y confianza en los tableros. GUION (Kiara Pisera) Les traemos dos escenarios que muestran cómo un problema de calidad se convierte en un costo. En Venado Tuerto, unos sensores fallan y reportan humedad de suelo negativa, algo físicamente imposible. El tablero promedia esas lecturas sin filtrarlas, el campo aparece con déficit hídrico y se programa un riego de emergencia sobre unas 400 hectáreas que en realidad estaban bien. Hablamos del orden de 80.000 metros cúbicos de agua, más la energía y el riesgo de anegar el suelo. En Gualeguaychú pasa lo contrario: la ingesta registra varias veces la misma lluvia, 30 milímetros figuran como 60 y se suspende el riego en unas 300 hectáreas. Si después viene un período seco, los cultivos sufren estrés hídrico en una etapa sensible. En ningún caso el agrónomo se equivocó: decidió bien con lo que veía. El problema estaba en el dato. Y hay un costo menos visible: cuando esto pasa, el equipo empieza a verificar todo a mano o directamente ignora los tableros, y se pierde lo invertido en sensores. Aclaro: son escenarios ilustrativos construidos sobre su operación; todavía no medimos cuántas veces ocurrieron. TRANSICIÓN "La pregunta entonces es cómo evitar que un dato malo llegue a la decisión. Sebastián les cuenta nuestra propuesta."</a:t>
            </a:r>
            <a:endParaRPr/>
          </a:p>
        </p:txBody>
      </p:sp>
      <p:sp>
        <p:nvSpPr>
          <p:cNvPr id="117" name="Google Shape;11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h27fbc29c1d569c38_1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h27fbc29c1d569c38_1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MENSAJE CLAVE La propuesta se entiende en tres pasos: traer, revisar y mostrar solo lo confiable. GUION (Sebastián Martínez Benegas) Lo que les proponemos se resume en tres pasos, y todos ocurren solos, sin que nadie tenga que intervenir. Uno: cada 15 minutos traemos las mediciones de los 8 campos —de los sensores y de la API meteorológica Open-Meteo— y guardamos una copia original sin modificar. Así, si algo sale mal, siempre podemos volver a procesar desde el dato original. Dos: revisamos cada dato con 12 reglas de calidad. Detectan lo físicamente imposible, como la humedad negativa de Venado Tuerto; lo duplicado, como la lluvia de Gualeguaychú; y lo faltante, como los huecos por fallas de sensor. Lo que no pasa las reglas no se borra: queda apartado, con el motivo anotado, para que se pueda revisar. Tres: el tablero solo recibe datos validados, y además muestra un Índice de Calidad que les dice cuánto pueden confiar en cada campo y cada día. El resultado es simple: su equipo decide el riego con datos revisados y deja de corregir planillas a mano. Y algo que nos diferencia: las reglas se ajustan con sus agrónomos sin reprogramar, y una prueba automática impide que un dato inválido llegue al tablero. TRANSICIÓN "Ahora, no les proponemos construir todo de una vez. Les proponemos empezar por un MVP."</a:t>
            </a:r>
            <a:endParaRPr/>
          </a:p>
        </p:txBody>
      </p:sp>
      <p:sp>
        <p:nvSpPr>
          <p:cNvPr id="141" name="Google Shape;141;h27fbc29c1d569c38_1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MENSAJE CLAVE Cada dato sigue un recorrido fijo y verificable: lo inválido queda apartado y explicado, y el tablero solo ve lo confiable. GUION (Sebastián Martínez Benegas) Sigamos un dato de izquierda a derecha. Entra desde los sensores o desde Open-Meteo y se guarda tal como llegó en la capa que llamamos Bronce, con su origen y su fecha de ingesta. Esa capa nunca se modifica: si algo falla, podemos volver a procesar todo desde el original. Después pasan las 12 reglas. Si el dato está bien, o solo tiene una advertencia, sigue a Plata. Si rompe una regla de rechazo, va a Cuarentena, sin tocarlo y con el motivo anotado. Por ejemplo, en nuestra prueba una lluvia de menos 3 milímetros quedó en Cuarentena por la regla DQ08. Finalmente, Oro guarda los indicadores diarios por campo, y es lo único que el tablero puede leer: se conecta con un usuario de solo lectura y verificamos que no puede ver ni escribir nada más. Este esquema en capas se conoce como arquitectura Medallion; lo importante para ustedes es que separa lo confiable de lo que no lo es. Además, cada corrida procesa solo lo nuevo y repetirla no genera duplicados. Abajo ven quién participa: los sensores alimentan, el proceso corre solo cada 15 minutos, Riego y Producción consultan el tablero, y el equipo de Datos ve la calidad y los rechazos. TRANSICIÓN "¿Y quién decide qué es un dato confiable? Las reglas. Kiara."</a:t>
            </a:r>
            <a:endParaRPr/>
          </a:p>
        </p:txBody>
      </p:sp>
      <p:sp>
        <p:nvSpPr>
          <p:cNvPr id="165" name="Google Shape;165;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MENSAJE CLAVE Reglas claras, ajustables por el cliente, y cada registro termina en un estado que se puede explicar. GUION (Kiara Pisera) Definimos 12 reglas agrupadas en cuatro familias. Completitud: que cada medición tenga fecha, hora y campo. Consistencia: que la fecha sea válida y no futura, que el campo exista en su maestro de campos y que las unidades sean las esperadas. Validez: que los valores sean físicamente posibles, como una humedad ambiente entre 0 y 100 % o una lluvia que no sea negativa. Y unicidad: que no haya duplicados, como la lluvia de Gualeguaychú. Diez reglas rechazan el dato. Dos solo advierten —huecos y saltos bruscos—, porque pueden ser reales y no queremos descartar información útil. En temperatura y humedad de suelo distinguimos dos niveles: fuera de lo esperado es una advertencia; fuera de lo físicamente posible, un rechazo. Con eso, cada registro termina en uno de tres estados: válido, con advertencia o inválido. Y algo importante: los rangos no los inventamos nosotros. Partimos de valores iniciales para la zona pampeana y los ajustamos con su Jefe de Riego y su Gerente de Producción. Viven en un archivo de configuración versionado, así que cambiar un umbral —por ejemplo, por provincia— no requiere reprogramar. TRANSICIÓN "Con el qué claro, Joaquín les cuenta cómo lo vamos a construir y cómo van a participar ustedes."</a:t>
            </a:r>
            <a:endParaRPr/>
          </a:p>
        </p:txBody>
      </p:sp>
      <p:sp>
        <p:nvSpPr>
          <p:cNvPr id="217" name="Google Shape;217;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MENSAJE CLAVE El MVP tiene criterios de aceptación medibles y una red de seguridad automática ante cada cambio. GUION (Matías Posse Presa) Todo el código y las reglas están versionados en un repositorio, así que cada cambio queda registrado. Cada cambio avanza por tres entornos: desarrollo, donde se prueba por primera vez; preproducción, con el proceso completo en condiciones lo más parecidas posible a las reales; y producción, que es lo que consume el tablero. Para pasar de un entorno a otro, otro integrante del equipo revisa el cambio y, además, corren controles automáticos en GitHub Actions: se revisa el código y el archivo de reglas, y se ejecutan las pruebas, con una cobertura mínima del 80 % en el módulo de validación. La más importante es la prueba de control: verifica que la capa Oro nunca tenga un dato inválido. Es nuestra protección contra la falla silenciosa. Todo corre en contenedores Docker, para que se ejecute igual en cualquier entorno, y las credenciales se guardan como secretos, nunca en el repositorio. A la derecha están los criterios con los que les proponemos aceptar el MVP. Son medibles y salen directamente de los objetivos del proyecto: las dos fuentes integradas para los 8 campos, todos los registros clasificados, cero inválidos en el tablero, todas las reglas de rechazo con pruebas, el índice por campo y día y el tablero conectado solo a datos validados. Si se cumplen, el MVP está aceptado. TRANSICIÓN "Esto no es solo un plan: ya lo hicimos funcionar. Kiara les muestra los resultados."</a:t>
            </a:r>
            <a:endParaRPr/>
          </a:p>
        </p:txBody>
      </p:sp>
      <p:sp>
        <p:nvSpPr>
          <p:cNvPr id="252" name="Google Shape;252;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6: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Font typeface="Arial"/>
              <a:buNone/>
            </a:pPr>
            <a:r>
              <a:rPr lang="en-US" sz="1200">
                <a:solidFill>
                  <a:schemeClr val="dk1"/>
                </a:solidFill>
              </a:rPr>
              <a:t>(Matías Posse Presa)</a:t>
            </a:r>
            <a:endParaRPr/>
          </a:p>
        </p:txBody>
      </p:sp>
      <p:sp>
        <p:nvSpPr>
          <p:cNvPr id="299" name="Google Shape;299;p6: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MENSAJE CLAVE Conocemos los riesgos y tenemos un plan para cada uno; el éxito también depende de algunas definiciones de su lado. GUION </a:t>
            </a:r>
            <a:r>
              <a:rPr lang="en-US" sz="1200">
                <a:solidFill>
                  <a:schemeClr val="dk1"/>
                </a:solidFill>
              </a:rPr>
              <a:t>(Matías Posse Presa)</a:t>
            </a:r>
            <a:r>
              <a:rPr lang="en-US" sz="1200">
                <a:solidFill>
                  <a:schemeClr val="dk1"/>
                </a:solidFill>
                <a:latin typeface="Arial"/>
                <a:ea typeface="Arial"/>
                <a:cs typeface="Arial"/>
                <a:sym typeface="Arial"/>
              </a:rPr>
              <a:t> Evaluamos cada riesgo por probabilidad e impacto, de 1 a 5; la exposición es el producto y la consideramos alta a partir de 15. Tres quedaron en esa zona. El primero es nuestro: buena parte de la ruta crítica depende del ingeniero de datos. Lo mitigamos con apoyo cruzado y seguimiento semanal, y si igual ocurre, otro integrante toma la capa Plata y reducimos la capa Oro a lo esencial, sin mover la fecha. El segundo es el crecimiento del alcance: es normal que aparezcan buenas ideas en el camino, como más reglas o más herramientas. Las registramos, pero un cambio entra solo si sale otro, con aprobación del Director General. El tercero es el que más les importa a ustedes: la falla silenciosa. Lo cubrimos con la prueba automática que vimos y, si se dispara, frenamos la publicación, reconstruimos desde los datos originales y le avisamos al Jefe de Riego qué período se vio afectado. Hay riesgos medios —rangos mal definidos, demoras en los accesos, cortes de la API meteorológica— que están detallados en el documento. Y hay supuestos que tenemos que validar juntos: la tasa de error del 14 %, que hoy es una estimación, y los rangos iniciales para la zona pampeana. Para todo esto necesitamos a las personas de la derecha: cada una aprueba o valida lo que le corresponde según la matriz de responsabilidades. TRANSICIÓN "Si el MVP cumple, ¿cómo sigue? Matías."</a:t>
            </a:r>
            <a:endParaRPr/>
          </a:p>
        </p:txBody>
      </p:sp>
      <p:sp>
        <p:nvSpPr>
          <p:cNvPr id="310" name="Google Shape;310;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MENSAJE CLAVE Ya hay evidencia de que el circuito funciona; el siguiente paso es medir el impacto con sus propios datos. GUION (Kiara Pisera) Corrimos el proceso completo para los 8 campos, con datos meteorológicos de Open-Meteo y el simulador de sensores, al que le inyectamos errores con la misma tasa estimada del 14 %, y efectivamente medimos un 14,08 %. De 1.343 registros, el 92,78 % resultó utilizable. Si somos estrictos y contamos solo los que no tienen ni una advertencia, el índice es 88,83 %. 97 registros fueron rechazados: quedaron en cuarentena con su motivo y ninguno llegó al tablero. Se registraron 326 hallazgos, cada uno con su regla y su severidad, y toda la corrida tardó 9,9 segundos. Si tenemos tiempo, les mostramos el tablero en Grafana. Quiero ser honesta: esto se hizo con sensores simulados. No les vamos a prometer un ahorro en metros cúbicos ni en dólares, porque todavía no lo medimos. Lo que sí les proponemos es medirlo. A la derecha están los indicadores: los tres primeros ya salen del MVP. Los dos últimos —horas de corrección manual y riegos revisados por datos erróneos— necesitan una línea base que relevaríamos con ustedes al comienzo, para poder comparar antes y después. TRANSICIÓN "Hablemos entonces de la inversión. Joaquín."</a:t>
            </a:r>
            <a:endParaRPr/>
          </a:p>
        </p:txBody>
      </p:sp>
      <p:sp>
        <p:nvSpPr>
          <p:cNvPr id="348" name="Google Shape;348;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ha603b7dbdb7178d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ha603b7dbdb7178d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MENSAJE CLAVE Un plan corto, con cuatro hitos que ustedes validan: no hay sorpresas al final. GUION (Joaquín Maver) Trabajamos de forma iterativa e incremental: entregas cortas que ustedes pueden ver y validar, no un gran informe al final. El plan dura seis semanas y está organizado en paquetes de trabajo. Las barras oscuras son la ruta crítica: arquitectura, ingesta, capas de datos y tablero. Si algo de eso se atrasa, se mueve la fecha final; por eso lo seguimos semana a semana y tenemos planes de contingencia, que vamos a ver en riesgos. Lo más importante para ustedes son los cuatro hitos, los rombos. Cada uno tiene un resultado que pueden verificar y una persona de su lado que lo valida: H1, el 19/10: las reglas y los rangos de calidad, validados por la Gerente de Producción junto con el Jefe de Riego. H2, el 26/10: la ingesta funcionando sola cada 15 minutos para los 8 campos, validada por IT. H3, el 2/11: la capa Oro con cero registros inválidos, verificado por una prueba automática; lo valida el Director General. H4, el 10/11: el tablero probado por sus usuarios. En cada hito hacemos una reunión de validación, y la facturación está atada a ellos, como vamos a ver en inversión. Mientras tanto, comparten nuestro tablero Kanban en modo lectura y el Director General recibe un resumen ejecutivo cada dos semanas. TRANSICIÓN "Ahora, ¿cómo sabemos que lo que entregamos funciona y que no se rompe cuando lo cambiamos? Matías."</a:t>
            </a:r>
            <a:endParaRPr/>
          </a:p>
        </p:txBody>
      </p:sp>
      <p:sp>
        <p:nvSpPr>
          <p:cNvPr id="388" name="Google Shape;388;ha603b7dbdb7178d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9" name="Google Shape;449;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200">
                <a:solidFill>
                  <a:schemeClr val="dk1"/>
                </a:solidFill>
              </a:rPr>
              <a:t>MENSAJE CLAVE Una inversión acotada, transparente y atada a entregables; el costo de operar después se compara con lo que hoy se pierde por decidir con datos erróneos. GUION (Joaquín Maver) El MVP tiene un costo de USD 11.000 sin IVA. Son 360 horas del equipo durante seis semanas —con tarifas de USD 30 la hora para gestión e ingeniería de datos y de USD 25 para calidad y despliegue—, USD 100 de alojamiento en la nube y una contingencia del 10 %. Todo el software es gratuito o de código abierto: no hay licencias. La facturación está atada a los hitos que vimos en el plan: 10 % cuando ustedes validan las reglas y los rangos (H1), 60 % cuando la ingesta ya funciona sola para los 8 campos (H2) y 30 % cuando sus usuarios validan el tablero (H4). El H3, la capa Oro sin datos inválidos, es un control de calidad y no se factura, pero es condición para llegar al H4. Es decir, la mayor parte se paga cuando ya pueden ver el proceso andando. Si después deciden pasar a producción, estimamos USD 860 por mes, unos 10.320 por año, para un volumen de 7 millones de registros anuales. La mayor parte, 500 dólares, es soporte: ajustar reglas y atender incidencias. No les vamos a decir cuánto ahorran, porque todavía no lo medimos. Lo que les proponemos es comparar ese costo con el agua, la energía y las horas de corrección manual que hoy se pierden, usando los indicadores que vimos recién. (Opcional: la parte de producción puede presentarla Matías, como en el modelo anterior.) TRANSICIÓN "Toda propuesta seria tiene riesgos. Estos son los nuestros y cómo los manejamos."</a:t>
            </a:r>
            <a:endParaRPr sz="1200">
              <a:solidFill>
                <a:schemeClr val="dk1"/>
              </a:solidFill>
            </a:endParaRPr>
          </a:p>
          <a:p>
            <a:pPr indent="0" lvl="0" marL="0" marR="0" rtl="0" algn="l">
              <a:spcBef>
                <a:spcPts val="0"/>
              </a:spcBef>
              <a:spcAft>
                <a:spcPts val="0"/>
              </a:spcAft>
              <a:buNone/>
            </a:pPr>
            <a:r>
              <a:t/>
            </a:r>
            <a:endParaRPr sz="1200">
              <a:solidFill>
                <a:schemeClr val="dk1"/>
              </a:solidFill>
            </a:endParaRPr>
          </a:p>
        </p:txBody>
      </p:sp>
      <p:sp>
        <p:nvSpPr>
          <p:cNvPr id="450" name="Google Shape;450;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1" name="Google Shape;50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MENSAJE CLAVE El MVP es el primer escalón; cada paso siguiente se decide con evidencia, no con supuestos. GUION (Matías Posse Presa) ¿Por qué empezar con un MVP y no con el sistema completo? Porque nos permite validar el valor con una inversión acotada y decidir el resto con datos. El MVP prueba el circuito completo con sensores simulados. Si cumple los criterios de aceptación, el siguiente paso que recomendamos es conectarlo a sus sensores reales y recalibrar con ellos la tasa de error y los rangos, incluso diferenciando por provincia o por campo, porque Entre Ríos, Santa Fe y Córdoba no tienen el mismo clima ni el mismo suelo. Después viene la puesta en producción: base de datos gestionada, alertas cuando cae el Índice de Calidad, una ejecución programada más robusta —con GitHub Actions o Apache Airflow si la orquestación se complejiza— y un proceso formal para gestionar incidentes de calidad, incluido el reproceso automático, que hoy es manual. También pueden sumarse reglas nuevas, como detectar sensores que quedan "congelados" en un mismo valor o inconsistencias entre variables. Ninguna de estas etapas tiene fecha todavía: son recomendaciones nuestras y las definimos juntos según lo que muestre el MVP. TRANSICIÓN "Para cerrar, Joaquín resume nuestra propuesta y el próximo paso."</a:t>
            </a:r>
            <a:endParaRPr/>
          </a:p>
        </p:txBody>
      </p:sp>
      <p:sp>
        <p:nvSpPr>
          <p:cNvPr id="502" name="Google Shape;502;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1" name="Google Shape;531;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MENSAJE CLAVE Cerramos agradeciendo la confianza y abrimos la conversación: cada pregunta tiene un responsable en el equipo. GUION (Joaquín Maver) Muchas gracias por su tiempo y por confiar en nosotros. Nuestro trabajo, a partir de ahora, es que también puedan confiar en sus datos: como decimos en Datum Sur, un dato solo es útil si se puede confiar en él. Con gusto respondemos sus preguntas. Para orientarlos: arquitectura e ingesta, Sebastián; reglas de calidad e indicadores, Kiara; integración, despliegue y seguridad, Matías; y alcance, riesgos y costos, yo. TRANSICIÓN Abrir la ronda de preguntas. Si hay tiempo, mostrar el tablero de Grafana o el video de la demo.</a:t>
            </a:r>
            <a:endParaRPr/>
          </a:p>
        </p:txBody>
      </p:sp>
      <p:sp>
        <p:nvSpPr>
          <p:cNvPr id="532" name="Google Shape;532;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DFDFE"/>
        </a:solidFill>
      </p:bgPr>
    </p:bg>
    <p:spTree>
      <p:nvGrpSpPr>
        <p:cNvPr id="8" name="Shape 8"/>
        <p:cNvGrpSpPr/>
        <p:nvPr/>
      </p:nvGrpSpPr>
      <p:grpSpPr>
        <a:xfrm>
          <a:off x="0" y="0"/>
          <a:ext cx="0" cy="0"/>
          <a:chOff x="0" y="0"/>
          <a:chExt cx="0" cy="0"/>
        </a:xfrm>
      </p:grpSpPr>
      <p:sp>
        <p:nvSpPr>
          <p:cNvPr id="9" name="Google Shape;9;p2"/>
          <p:cNvSpPr txBox="1"/>
          <p:nvPr>
            <p:ph type="title"/>
          </p:nvPr>
        </p:nvSpPr>
        <p:spPr>
          <a:xfrm>
            <a:off x="812800" y="1051520"/>
            <a:ext cx="10566400" cy="4191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0F2743"/>
              </a:buClr>
              <a:buSzPts val="3000"/>
              <a:buFont typeface="Inter"/>
              <a:buNone/>
              <a:defRPr sz="3000">
                <a:solidFill>
                  <a:srgbClr val="0F2743"/>
                </a:solidFill>
                <a:latin typeface="Inter"/>
                <a:ea typeface="Inter"/>
                <a:cs typeface="Inter"/>
                <a:sym typeface="Int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 name="Google Shape;10;p2"/>
          <p:cNvSpPr txBox="1"/>
          <p:nvPr>
            <p:ph idx="1" type="body"/>
          </p:nvPr>
        </p:nvSpPr>
        <p:spPr>
          <a:xfrm>
            <a:off x="812800" y="1775420"/>
            <a:ext cx="10566400" cy="426978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0F2743"/>
              </a:buClr>
              <a:buSzPts val="1600"/>
              <a:buNone/>
              <a:defRPr sz="1600">
                <a:solidFill>
                  <a:srgbClr val="0F2743"/>
                </a:solidFill>
                <a:latin typeface="Inter"/>
                <a:ea typeface="Inter"/>
                <a:cs typeface="Inter"/>
                <a:sym typeface="Inte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E"/>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12800" y="1051520"/>
            <a:ext cx="10566400" cy="4191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0F2743"/>
              </a:buClr>
              <a:buSzPts val="3000"/>
              <a:buFont typeface="Inter"/>
              <a:buNone/>
              <a:defRPr b="0" i="0" sz="3000" u="none" cap="none" strike="noStrike">
                <a:solidFill>
                  <a:srgbClr val="0F2743"/>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12800" y="1775420"/>
            <a:ext cx="10566400" cy="426978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0F2743"/>
              </a:buClr>
              <a:buSzPts val="1600"/>
              <a:buFont typeface="Arial"/>
              <a:buNone/>
              <a:defRPr b="0" i="0" sz="1600" u="none" cap="none" strike="noStrike">
                <a:solidFill>
                  <a:srgbClr val="0F2743"/>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20.jpg"/><Relationship Id="rId5"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2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2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2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2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image" Target="../media/image20.jp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2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9.png"/><Relationship Id="rId9" Type="http://schemas.openxmlformats.org/officeDocument/2006/relationships/image" Target="../media/image20.jpg"/><Relationship Id="rId5" Type="http://schemas.openxmlformats.org/officeDocument/2006/relationships/image" Target="../media/image10.png"/><Relationship Id="rId6" Type="http://schemas.openxmlformats.org/officeDocument/2006/relationships/image" Target="../media/image8.png"/><Relationship Id="rId7" Type="http://schemas.openxmlformats.org/officeDocument/2006/relationships/image" Target="../media/image11.png"/><Relationship Id="rId8"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20.jpg"/><Relationship Id="rId5" Type="http://schemas.openxmlformats.org/officeDocument/2006/relationships/hyperlink" Target="http://drive.google.com/file/d/1qUrswVb3VKLcc4XYFxerXuF9ryk3BwZM/view" TargetMode="External"/><Relationship Id="rId6"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2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2.png"/><Relationship Id="rId6"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2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20.jpg"/><Relationship Id="rId5"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E"/>
        </a:solidFill>
      </p:bgPr>
    </p:bg>
    <p:spTree>
      <p:nvGrpSpPr>
        <p:cNvPr id="16" name="Shape 16"/>
        <p:cNvGrpSpPr/>
        <p:nvPr/>
      </p:nvGrpSpPr>
      <p:grpSpPr>
        <a:xfrm>
          <a:off x="0" y="0"/>
          <a:ext cx="0" cy="0"/>
          <a:chOff x="0" y="0"/>
          <a:chExt cx="0" cy="0"/>
        </a:xfrm>
      </p:grpSpPr>
      <p:sp>
        <p:nvSpPr>
          <p:cNvPr id="17" name="Google Shape;17;p4"/>
          <p:cNvSpPr/>
          <p:nvPr/>
        </p:nvSpPr>
        <p:spPr>
          <a:xfrm>
            <a:off x="8001000" y="0"/>
            <a:ext cx="4191000" cy="6858000"/>
          </a:xfrm>
          <a:prstGeom prst="rect">
            <a:avLst/>
          </a:prstGeom>
          <a:solidFill>
            <a:srgbClr val="0F27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cxnSp>
        <p:nvCxnSpPr>
          <p:cNvPr id="18" name="Google Shape;18;p4"/>
          <p:cNvCxnSpPr/>
          <p:nvPr/>
        </p:nvCxnSpPr>
        <p:spPr>
          <a:xfrm>
            <a:off x="8039100" y="0"/>
            <a:ext cx="0" cy="6858000"/>
          </a:xfrm>
          <a:prstGeom prst="straightConnector1">
            <a:avLst/>
          </a:prstGeom>
          <a:noFill/>
          <a:ln cap="flat" cmpd="sng" w="76200">
            <a:solidFill>
              <a:srgbClr val="E3A82B"/>
            </a:solidFill>
            <a:prstDash val="solid"/>
            <a:round/>
            <a:headEnd len="sm" w="sm" type="none"/>
            <a:tailEnd len="sm" w="sm" type="none"/>
          </a:ln>
        </p:spPr>
      </p:cxnSp>
      <p:sp>
        <p:nvSpPr>
          <p:cNvPr id="19" name="Google Shape;19;p4"/>
          <p:cNvSpPr/>
          <p:nvPr/>
        </p:nvSpPr>
        <p:spPr>
          <a:xfrm>
            <a:off x="8585200" y="711200"/>
            <a:ext cx="319176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2B"/>
              </a:buClr>
              <a:buSzPts val="1200"/>
              <a:buFont typeface="Inter"/>
              <a:buNone/>
            </a:pPr>
            <a:r>
              <a:rPr b="1" lang="en-US" sz="1200">
                <a:solidFill>
                  <a:srgbClr val="E3A82B"/>
                </a:solidFill>
                <a:latin typeface="Inter"/>
                <a:ea typeface="Inter"/>
                <a:cs typeface="Inter"/>
                <a:sym typeface="Inter"/>
              </a:rPr>
              <a:t>EQUIPO DATUM SUR</a:t>
            </a:r>
            <a:endParaRPr sz="1200">
              <a:solidFill>
                <a:schemeClr val="dk1"/>
              </a:solidFill>
              <a:latin typeface="Inter"/>
              <a:ea typeface="Inter"/>
              <a:cs typeface="Inter"/>
              <a:sym typeface="Inter"/>
            </a:endParaRPr>
          </a:p>
        </p:txBody>
      </p:sp>
      <p:sp>
        <p:nvSpPr>
          <p:cNvPr id="20" name="Google Shape;20;p4"/>
          <p:cNvSpPr/>
          <p:nvPr/>
        </p:nvSpPr>
        <p:spPr>
          <a:xfrm>
            <a:off x="8585200" y="1102320"/>
            <a:ext cx="3191764"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400"/>
              <a:buFont typeface="Inter"/>
              <a:buNone/>
            </a:pPr>
            <a:r>
              <a:rPr b="1" lang="en-US" sz="1400">
                <a:solidFill>
                  <a:srgbClr val="F4F5F9"/>
                </a:solidFill>
                <a:latin typeface="Inter"/>
                <a:ea typeface="Inter"/>
                <a:cs typeface="Inter"/>
                <a:sym typeface="Inter"/>
              </a:rPr>
              <a:t>Joaquín Maver</a:t>
            </a:r>
            <a:endParaRPr sz="1400">
              <a:solidFill>
                <a:schemeClr val="dk1"/>
              </a:solidFill>
              <a:latin typeface="Inter"/>
              <a:ea typeface="Inter"/>
              <a:cs typeface="Inter"/>
              <a:sym typeface="Inter"/>
            </a:endParaRPr>
          </a:p>
        </p:txBody>
      </p:sp>
      <p:sp>
        <p:nvSpPr>
          <p:cNvPr id="21" name="Google Shape;21;p4"/>
          <p:cNvSpPr/>
          <p:nvPr/>
        </p:nvSpPr>
        <p:spPr>
          <a:xfrm>
            <a:off x="8585200" y="1376561"/>
            <a:ext cx="319176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Project Manager</a:t>
            </a:r>
            <a:endParaRPr sz="1200">
              <a:solidFill>
                <a:schemeClr val="dk1"/>
              </a:solidFill>
              <a:latin typeface="Inter"/>
              <a:ea typeface="Inter"/>
              <a:cs typeface="Inter"/>
              <a:sym typeface="Inter"/>
            </a:endParaRPr>
          </a:p>
        </p:txBody>
      </p:sp>
      <p:sp>
        <p:nvSpPr>
          <p:cNvPr id="22" name="Google Shape;22;p4"/>
          <p:cNvSpPr/>
          <p:nvPr/>
        </p:nvSpPr>
        <p:spPr>
          <a:xfrm>
            <a:off x="8585200" y="1767681"/>
            <a:ext cx="3191764"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400"/>
              <a:buFont typeface="Inter"/>
              <a:buNone/>
            </a:pPr>
            <a:r>
              <a:rPr b="1" lang="en-US" sz="1400">
                <a:solidFill>
                  <a:srgbClr val="F4F5F9"/>
                </a:solidFill>
                <a:latin typeface="Inter"/>
                <a:ea typeface="Inter"/>
                <a:cs typeface="Inter"/>
                <a:sym typeface="Inter"/>
              </a:rPr>
              <a:t>Sebastián Martínez Benegas</a:t>
            </a:r>
            <a:endParaRPr sz="1400">
              <a:solidFill>
                <a:schemeClr val="dk1"/>
              </a:solidFill>
              <a:latin typeface="Inter"/>
              <a:ea typeface="Inter"/>
              <a:cs typeface="Inter"/>
              <a:sym typeface="Inter"/>
            </a:endParaRPr>
          </a:p>
        </p:txBody>
      </p:sp>
      <p:sp>
        <p:nvSpPr>
          <p:cNvPr id="23" name="Google Shape;23;p4"/>
          <p:cNvSpPr/>
          <p:nvPr/>
        </p:nvSpPr>
        <p:spPr>
          <a:xfrm>
            <a:off x="8585200" y="2041922"/>
            <a:ext cx="319176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Data Engineer</a:t>
            </a:r>
            <a:endParaRPr sz="1200">
              <a:solidFill>
                <a:schemeClr val="dk1"/>
              </a:solidFill>
              <a:latin typeface="Inter"/>
              <a:ea typeface="Inter"/>
              <a:cs typeface="Inter"/>
              <a:sym typeface="Inter"/>
            </a:endParaRPr>
          </a:p>
        </p:txBody>
      </p:sp>
      <p:sp>
        <p:nvSpPr>
          <p:cNvPr id="24" name="Google Shape;24;p4"/>
          <p:cNvSpPr/>
          <p:nvPr/>
        </p:nvSpPr>
        <p:spPr>
          <a:xfrm>
            <a:off x="8585200" y="2433042"/>
            <a:ext cx="3191764"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400"/>
              <a:buFont typeface="Inter"/>
              <a:buNone/>
            </a:pPr>
            <a:r>
              <a:rPr b="1" lang="en-US" sz="1400">
                <a:solidFill>
                  <a:srgbClr val="F4F5F9"/>
                </a:solidFill>
                <a:latin typeface="Inter"/>
                <a:ea typeface="Inter"/>
                <a:cs typeface="Inter"/>
                <a:sym typeface="Inter"/>
              </a:rPr>
              <a:t>Kiara Pisera</a:t>
            </a:r>
            <a:endParaRPr sz="1400">
              <a:solidFill>
                <a:schemeClr val="dk1"/>
              </a:solidFill>
              <a:latin typeface="Inter"/>
              <a:ea typeface="Inter"/>
              <a:cs typeface="Inter"/>
              <a:sym typeface="Inter"/>
            </a:endParaRPr>
          </a:p>
        </p:txBody>
      </p:sp>
      <p:sp>
        <p:nvSpPr>
          <p:cNvPr id="25" name="Google Shape;25;p4"/>
          <p:cNvSpPr/>
          <p:nvPr/>
        </p:nvSpPr>
        <p:spPr>
          <a:xfrm>
            <a:off x="8585200" y="2707283"/>
            <a:ext cx="319176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QA / Data Quality</a:t>
            </a:r>
            <a:endParaRPr sz="1200">
              <a:solidFill>
                <a:schemeClr val="dk1"/>
              </a:solidFill>
              <a:latin typeface="Inter"/>
              <a:ea typeface="Inter"/>
              <a:cs typeface="Inter"/>
              <a:sym typeface="Inter"/>
            </a:endParaRPr>
          </a:p>
        </p:txBody>
      </p:sp>
      <p:sp>
        <p:nvSpPr>
          <p:cNvPr id="26" name="Google Shape;26;p4"/>
          <p:cNvSpPr/>
          <p:nvPr/>
        </p:nvSpPr>
        <p:spPr>
          <a:xfrm>
            <a:off x="8585200" y="3098403"/>
            <a:ext cx="3191764"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400"/>
              <a:buFont typeface="Inter"/>
              <a:buNone/>
            </a:pPr>
            <a:r>
              <a:rPr b="1" lang="en-US" sz="1400">
                <a:solidFill>
                  <a:srgbClr val="F4F5F9"/>
                </a:solidFill>
                <a:latin typeface="Inter"/>
                <a:ea typeface="Inter"/>
                <a:cs typeface="Inter"/>
                <a:sym typeface="Inter"/>
              </a:rPr>
              <a:t>Matías Posse Presa</a:t>
            </a:r>
            <a:endParaRPr sz="1400">
              <a:solidFill>
                <a:schemeClr val="dk1"/>
              </a:solidFill>
              <a:latin typeface="Inter"/>
              <a:ea typeface="Inter"/>
              <a:cs typeface="Inter"/>
              <a:sym typeface="Inter"/>
            </a:endParaRPr>
          </a:p>
        </p:txBody>
      </p:sp>
      <p:sp>
        <p:nvSpPr>
          <p:cNvPr id="27" name="Google Shape;27;p4"/>
          <p:cNvSpPr/>
          <p:nvPr/>
        </p:nvSpPr>
        <p:spPr>
          <a:xfrm>
            <a:off x="8585200" y="3372644"/>
            <a:ext cx="319176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DevOps / CI-CD</a:t>
            </a:r>
            <a:endParaRPr sz="1200">
              <a:solidFill>
                <a:schemeClr val="dk1"/>
              </a:solidFill>
              <a:latin typeface="Inter"/>
              <a:ea typeface="Inter"/>
              <a:cs typeface="Inter"/>
              <a:sym typeface="Inter"/>
            </a:endParaRPr>
          </a:p>
        </p:txBody>
      </p:sp>
      <p:cxnSp>
        <p:nvCxnSpPr>
          <p:cNvPr id="28" name="Google Shape;28;p4"/>
          <p:cNvCxnSpPr/>
          <p:nvPr/>
        </p:nvCxnSpPr>
        <p:spPr>
          <a:xfrm>
            <a:off x="8585200" y="5224264"/>
            <a:ext cx="3098800" cy="0"/>
          </a:xfrm>
          <a:prstGeom prst="straightConnector1">
            <a:avLst/>
          </a:prstGeom>
          <a:noFill/>
          <a:ln cap="flat" cmpd="sng" w="9525">
            <a:solidFill>
              <a:srgbClr val="34496B"/>
            </a:solidFill>
            <a:prstDash val="solid"/>
            <a:round/>
            <a:headEnd len="sm" w="sm" type="none"/>
            <a:tailEnd len="sm" w="sm" type="none"/>
          </a:ln>
        </p:spPr>
      </p:cxnSp>
      <p:sp>
        <p:nvSpPr>
          <p:cNvPr id="29" name="Google Shape;29;p4"/>
          <p:cNvSpPr/>
          <p:nvPr/>
        </p:nvSpPr>
        <p:spPr>
          <a:xfrm>
            <a:off x="8585200" y="5405239"/>
            <a:ext cx="319176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Ingeniería de Software · UADE</a:t>
            </a:r>
            <a:endParaRPr sz="1200">
              <a:solidFill>
                <a:schemeClr val="dk1"/>
              </a:solidFill>
              <a:latin typeface="Inter"/>
              <a:ea typeface="Inter"/>
              <a:cs typeface="Inter"/>
              <a:sym typeface="Inter"/>
            </a:endParaRPr>
          </a:p>
        </p:txBody>
      </p:sp>
      <p:sp>
        <p:nvSpPr>
          <p:cNvPr id="30" name="Google Shape;30;p4"/>
          <p:cNvSpPr/>
          <p:nvPr/>
        </p:nvSpPr>
        <p:spPr>
          <a:xfrm>
            <a:off x="8585200" y="5669359"/>
            <a:ext cx="319176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Docente: José Ramón Castiñeiras</a:t>
            </a:r>
            <a:endParaRPr sz="1200">
              <a:solidFill>
                <a:schemeClr val="dk1"/>
              </a:solidFill>
              <a:latin typeface="Inter"/>
              <a:ea typeface="Inter"/>
              <a:cs typeface="Inter"/>
              <a:sym typeface="Inter"/>
            </a:endParaRPr>
          </a:p>
        </p:txBody>
      </p:sp>
      <p:sp>
        <p:nvSpPr>
          <p:cNvPr id="31" name="Google Shape;31;p4"/>
          <p:cNvSpPr/>
          <p:nvPr/>
        </p:nvSpPr>
        <p:spPr>
          <a:xfrm>
            <a:off x="8585200" y="5933480"/>
            <a:ext cx="319176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27 de Octubre de 2026</a:t>
            </a:r>
            <a:endParaRPr sz="1200">
              <a:solidFill>
                <a:schemeClr val="dk1"/>
              </a:solidFill>
              <a:latin typeface="Inter"/>
              <a:ea typeface="Inter"/>
              <a:cs typeface="Inter"/>
              <a:sym typeface="Inter"/>
            </a:endParaRPr>
          </a:p>
        </p:txBody>
      </p:sp>
      <p:pic>
        <p:nvPicPr>
          <p:cNvPr descr="Logotipo de Datum Sur: calidad de datos y DataOps" id="32" name="Google Shape;32;p4"/>
          <p:cNvPicPr preferRelativeResize="0"/>
          <p:nvPr/>
        </p:nvPicPr>
        <p:blipFill rotWithShape="1">
          <a:blip r:embed="rId3">
            <a:alphaModFix/>
          </a:blip>
          <a:srcRect b="0" l="-183" r="-183" t="0"/>
          <a:stretch/>
        </p:blipFill>
        <p:spPr>
          <a:xfrm>
            <a:off x="812800" y="711200"/>
            <a:ext cx="2286000" cy="825500"/>
          </a:xfrm>
          <a:prstGeom prst="rect">
            <a:avLst/>
          </a:prstGeom>
          <a:noFill/>
          <a:ln>
            <a:noFill/>
          </a:ln>
        </p:spPr>
      </p:pic>
      <p:sp>
        <p:nvSpPr>
          <p:cNvPr id="33" name="Google Shape;33;p4"/>
          <p:cNvSpPr/>
          <p:nvPr/>
        </p:nvSpPr>
        <p:spPr>
          <a:xfrm>
            <a:off x="812800" y="3490218"/>
            <a:ext cx="304800" cy="38100"/>
          </a:xfrm>
          <a:prstGeom prst="roundRect">
            <a:avLst>
              <a:gd fmla="val 5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4" name="Google Shape;34;p4"/>
          <p:cNvSpPr/>
          <p:nvPr/>
        </p:nvSpPr>
        <p:spPr>
          <a:xfrm>
            <a:off x="1219200" y="3402608"/>
            <a:ext cx="358652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PROPUESTA COMERCIAL · MVP</a:t>
            </a:r>
            <a:endParaRPr sz="1200">
              <a:solidFill>
                <a:schemeClr val="dk1"/>
              </a:solidFill>
              <a:latin typeface="Inter"/>
              <a:ea typeface="Inter"/>
              <a:cs typeface="Inter"/>
              <a:sym typeface="Inter"/>
            </a:endParaRPr>
          </a:p>
        </p:txBody>
      </p:sp>
      <p:sp>
        <p:nvSpPr>
          <p:cNvPr id="35" name="Google Shape;35;p4"/>
          <p:cNvSpPr txBox="1"/>
          <p:nvPr>
            <p:ph type="title"/>
          </p:nvPr>
        </p:nvSpPr>
        <p:spPr>
          <a:xfrm>
            <a:off x="812800" y="3793728"/>
            <a:ext cx="6540500" cy="1122561"/>
          </a:xfrm>
          <a:prstGeom prst="rect">
            <a:avLst/>
          </a:prstGeom>
          <a:noFill/>
          <a:ln>
            <a:noFill/>
          </a:ln>
        </p:spPr>
        <p:txBody>
          <a:bodyPr anchorCtr="0" anchor="t" bIns="0" lIns="0" spcFirstLastPara="1" rIns="0" wrap="square" tIns="0">
            <a:normAutofit/>
          </a:bodyPr>
          <a:lstStyle/>
          <a:p>
            <a:pPr indent="0" lvl="0" marL="0" rtl="0" algn="l">
              <a:lnSpc>
                <a:spcPct val="108000"/>
              </a:lnSpc>
              <a:spcBef>
                <a:spcPts val="0"/>
              </a:spcBef>
              <a:spcAft>
                <a:spcPts val="0"/>
              </a:spcAft>
              <a:buClr>
                <a:srgbClr val="0F2743"/>
              </a:buClr>
              <a:buSzPts val="4000"/>
              <a:buFont typeface="Inter"/>
              <a:buNone/>
            </a:pPr>
            <a:r>
              <a:rPr b="1" i="0" lang="en-US" sz="4000">
                <a:solidFill>
                  <a:srgbClr val="0F2743"/>
                </a:solidFill>
                <a:latin typeface="Inter"/>
                <a:ea typeface="Inter"/>
                <a:cs typeface="Inter"/>
                <a:sym typeface="Inter"/>
              </a:rPr>
              <a:t>Datos confiables para decidir el riego</a:t>
            </a:r>
            <a:endParaRPr sz="4000"/>
          </a:p>
        </p:txBody>
      </p:sp>
      <p:sp>
        <p:nvSpPr>
          <p:cNvPr id="36" name="Google Shape;36;p4"/>
          <p:cNvSpPr/>
          <p:nvPr/>
        </p:nvSpPr>
        <p:spPr>
          <a:xfrm>
            <a:off x="812800" y="5068689"/>
            <a:ext cx="6540500" cy="798711"/>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568"/>
              </a:buClr>
              <a:buSzPts val="1400"/>
              <a:buFont typeface="Inter"/>
              <a:buNone/>
            </a:pPr>
            <a:r>
              <a:rPr lang="en-US" sz="1400">
                <a:solidFill>
                  <a:srgbClr val="4A5568"/>
                </a:solidFill>
                <a:latin typeface="Inter"/>
                <a:ea typeface="Inter"/>
                <a:cs typeface="Inter"/>
                <a:sym typeface="Inter"/>
              </a:rPr>
              <a:t>Propuesta de Datum Sur para </a:t>
            </a:r>
            <a:r>
              <a:rPr b="1" lang="en-US" sz="1400">
                <a:solidFill>
                  <a:srgbClr val="4A5568"/>
                </a:solidFill>
                <a:latin typeface="Inter"/>
                <a:ea typeface="Inter"/>
                <a:cs typeface="Inter"/>
                <a:sym typeface="Inter"/>
              </a:rPr>
              <a:t>Grupo Agro del Litoral S.A.</a:t>
            </a:r>
            <a:r>
              <a:rPr lang="en-US" sz="1400">
                <a:solidFill>
                  <a:srgbClr val="4A5568"/>
                </a:solidFill>
                <a:latin typeface="Inter"/>
                <a:ea typeface="Inter"/>
                <a:cs typeface="Inter"/>
                <a:sym typeface="Inter"/>
              </a:rPr>
              <a:t>: un proceso automatizado que valida cada dato de los sensores antes de que llegue a los tableros.</a:t>
            </a:r>
            <a:endParaRPr sz="1400">
              <a:solidFill>
                <a:schemeClr val="dk1"/>
              </a:solidFill>
              <a:latin typeface="Inter"/>
              <a:ea typeface="Inter"/>
              <a:cs typeface="Inter"/>
              <a:sym typeface="Inter"/>
            </a:endParaRPr>
          </a:p>
        </p:txBody>
      </p:sp>
      <p:pic>
        <p:nvPicPr>
          <p:cNvPr descr="logo-uade » CEDOL" id="37" name="Google Shape;37;p4"/>
          <p:cNvPicPr preferRelativeResize="0"/>
          <p:nvPr/>
        </p:nvPicPr>
        <p:blipFill rotWithShape="1">
          <a:blip r:embed="rId4">
            <a:alphaModFix/>
          </a:blip>
          <a:srcRect b="0" l="0" r="0" t="0"/>
          <a:stretch/>
        </p:blipFill>
        <p:spPr>
          <a:xfrm>
            <a:off x="5252019" y="413940"/>
            <a:ext cx="2475931" cy="1420019"/>
          </a:xfrm>
          <a:prstGeom prst="rect">
            <a:avLst/>
          </a:prstGeom>
          <a:noFill/>
          <a:ln>
            <a:noFill/>
          </a:ln>
        </p:spPr>
      </p:pic>
      <p:pic>
        <p:nvPicPr>
          <p:cNvPr id="38" name="Google Shape;38;p4"/>
          <p:cNvPicPr preferRelativeResize="0"/>
          <p:nvPr/>
        </p:nvPicPr>
        <p:blipFill>
          <a:blip r:embed="rId5">
            <a:alphaModFix/>
          </a:blip>
          <a:stretch>
            <a:fillRect/>
          </a:stretch>
        </p:blipFill>
        <p:spPr>
          <a:xfrm>
            <a:off x="812812" y="1846998"/>
            <a:ext cx="2475927" cy="124531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5"/>
          <p:cNvSpPr/>
          <p:nvPr/>
        </p:nvSpPr>
        <p:spPr>
          <a:xfrm>
            <a:off x="812800" y="798810"/>
            <a:ext cx="304800" cy="38100"/>
          </a:xfrm>
          <a:prstGeom prst="roundRect">
            <a:avLst>
              <a:gd fmla="val 5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45" name="Google Shape;45;p5"/>
          <p:cNvSpPr/>
          <p:nvPr/>
        </p:nvSpPr>
        <p:spPr>
          <a:xfrm>
            <a:off x="1219200" y="711200"/>
            <a:ext cx="259127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PARTES INTERESADAS</a:t>
            </a:r>
            <a:endParaRPr sz="1200">
              <a:solidFill>
                <a:schemeClr val="dk1"/>
              </a:solidFill>
              <a:latin typeface="Inter"/>
              <a:ea typeface="Inter"/>
              <a:cs typeface="Inter"/>
              <a:sym typeface="Inter"/>
            </a:endParaRPr>
          </a:p>
        </p:txBody>
      </p:sp>
      <p:sp>
        <p:nvSpPr>
          <p:cNvPr id="46" name="Google Shape;46;p5"/>
          <p:cNvSpPr txBox="1"/>
          <p:nvPr>
            <p:ph type="title"/>
          </p:nvPr>
        </p:nvSpPr>
        <p:spPr>
          <a:xfrm>
            <a:off x="812800" y="10515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2743"/>
              </a:buClr>
              <a:buSzPts val="3000"/>
              <a:buFont typeface="Inter"/>
              <a:buNone/>
            </a:pPr>
            <a:r>
              <a:rPr b="1" i="0" lang="en-US" sz="3000">
                <a:solidFill>
                  <a:srgbClr val="0F2743"/>
                </a:solidFill>
                <a:latin typeface="Inter"/>
                <a:ea typeface="Inter"/>
                <a:cs typeface="Inter"/>
                <a:sym typeface="Inter"/>
              </a:rPr>
              <a:t>Así vamos a trabajar con su equipo</a:t>
            </a:r>
            <a:endParaRPr sz="3000"/>
          </a:p>
        </p:txBody>
      </p:sp>
      <p:sp>
        <p:nvSpPr>
          <p:cNvPr id="47" name="Google Shape;47;p5"/>
          <p:cNvSpPr/>
          <p:nvPr/>
        </p:nvSpPr>
        <p:spPr>
          <a:xfrm>
            <a:off x="815975" y="1753195"/>
            <a:ext cx="2686050" cy="1578372"/>
          </a:xfrm>
          <a:prstGeom prst="roundRect">
            <a:avLst>
              <a:gd fmla="val 4627"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48" name="Google Shape;48;p5"/>
          <p:cNvSpPr/>
          <p:nvPr/>
        </p:nvSpPr>
        <p:spPr>
          <a:xfrm>
            <a:off x="971550" y="1908770"/>
            <a:ext cx="244614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MANTENER SATISFECHO</a:t>
            </a:r>
            <a:endParaRPr sz="1200">
              <a:solidFill>
                <a:schemeClr val="dk1"/>
              </a:solidFill>
              <a:latin typeface="Inter"/>
              <a:ea typeface="Inter"/>
              <a:cs typeface="Inter"/>
              <a:sym typeface="Inter"/>
            </a:endParaRPr>
          </a:p>
        </p:txBody>
      </p:sp>
      <p:sp>
        <p:nvSpPr>
          <p:cNvPr id="49" name="Google Shape;49;p5"/>
          <p:cNvSpPr/>
          <p:nvPr/>
        </p:nvSpPr>
        <p:spPr>
          <a:xfrm>
            <a:off x="971550" y="2198291"/>
            <a:ext cx="2446147"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300"/>
              <a:buFont typeface="Inter"/>
              <a:buNone/>
            </a:pPr>
            <a:r>
              <a:rPr b="1" lang="en-US" sz="1300">
                <a:solidFill>
                  <a:srgbClr val="0F2743"/>
                </a:solidFill>
                <a:latin typeface="Inter"/>
                <a:ea typeface="Inter"/>
                <a:cs typeface="Inter"/>
                <a:sym typeface="Inter"/>
              </a:rPr>
              <a:t>Lucía Benítez</a:t>
            </a:r>
            <a:endParaRPr sz="1300">
              <a:solidFill>
                <a:schemeClr val="dk1"/>
              </a:solidFill>
              <a:latin typeface="Inter"/>
              <a:ea typeface="Inter"/>
              <a:cs typeface="Inter"/>
              <a:sym typeface="Inter"/>
            </a:endParaRPr>
          </a:p>
        </p:txBody>
      </p:sp>
      <p:sp>
        <p:nvSpPr>
          <p:cNvPr id="50" name="Google Shape;50;p5"/>
          <p:cNvSpPr/>
          <p:nvPr/>
        </p:nvSpPr>
        <p:spPr>
          <a:xfrm>
            <a:off x="971550" y="2442071"/>
            <a:ext cx="244614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Responsable de IT</a:t>
            </a:r>
            <a:endParaRPr sz="1200">
              <a:solidFill>
                <a:schemeClr val="dk1"/>
              </a:solidFill>
              <a:latin typeface="Inter"/>
              <a:ea typeface="Inter"/>
              <a:cs typeface="Inter"/>
              <a:sym typeface="Inter"/>
            </a:endParaRPr>
          </a:p>
        </p:txBody>
      </p:sp>
      <p:sp>
        <p:nvSpPr>
          <p:cNvPr id="51" name="Google Shape;51;p5"/>
          <p:cNvSpPr/>
          <p:nvPr/>
        </p:nvSpPr>
        <p:spPr>
          <a:xfrm>
            <a:off x="3581400" y="1750020"/>
            <a:ext cx="2692400" cy="1584722"/>
          </a:xfrm>
          <a:prstGeom prst="roundRect">
            <a:avLst>
              <a:gd fmla="val 4808" name="adj"/>
            </a:avLst>
          </a:prstGeom>
          <a:solidFill>
            <a:srgbClr val="0F27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52" name="Google Shape;52;p5"/>
          <p:cNvSpPr/>
          <p:nvPr/>
        </p:nvSpPr>
        <p:spPr>
          <a:xfrm>
            <a:off x="3733800" y="1902420"/>
            <a:ext cx="245922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2B"/>
              </a:buClr>
              <a:buSzPts val="1200"/>
              <a:buFont typeface="Inter"/>
              <a:buNone/>
            </a:pPr>
            <a:r>
              <a:rPr b="1" lang="en-US" sz="1200">
                <a:solidFill>
                  <a:srgbClr val="E3A82B"/>
                </a:solidFill>
                <a:latin typeface="Inter"/>
                <a:ea typeface="Inter"/>
                <a:cs typeface="Inter"/>
                <a:sym typeface="Inter"/>
              </a:rPr>
              <a:t>GESTIONAR DE CERCA</a:t>
            </a:r>
            <a:endParaRPr sz="1200">
              <a:solidFill>
                <a:schemeClr val="dk1"/>
              </a:solidFill>
              <a:latin typeface="Inter"/>
              <a:ea typeface="Inter"/>
              <a:cs typeface="Inter"/>
              <a:sym typeface="Inter"/>
            </a:endParaRPr>
          </a:p>
        </p:txBody>
      </p:sp>
      <p:sp>
        <p:nvSpPr>
          <p:cNvPr id="53" name="Google Shape;53;p5"/>
          <p:cNvSpPr/>
          <p:nvPr/>
        </p:nvSpPr>
        <p:spPr>
          <a:xfrm>
            <a:off x="3733800" y="2191941"/>
            <a:ext cx="2459228"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300"/>
              <a:buFont typeface="Inter"/>
              <a:buNone/>
            </a:pPr>
            <a:r>
              <a:rPr b="1" lang="en-US" sz="1300">
                <a:solidFill>
                  <a:srgbClr val="F4F5F9"/>
                </a:solidFill>
                <a:latin typeface="Inter"/>
                <a:ea typeface="Inter"/>
                <a:cs typeface="Inter"/>
                <a:sym typeface="Inter"/>
              </a:rPr>
              <a:t>José R. Castiñeiras</a:t>
            </a:r>
            <a:endParaRPr sz="1300">
              <a:solidFill>
                <a:schemeClr val="dk1"/>
              </a:solidFill>
              <a:latin typeface="Inter"/>
              <a:ea typeface="Inter"/>
              <a:cs typeface="Inter"/>
              <a:sym typeface="Inter"/>
            </a:endParaRPr>
          </a:p>
        </p:txBody>
      </p:sp>
      <p:sp>
        <p:nvSpPr>
          <p:cNvPr id="54" name="Google Shape;54;p5"/>
          <p:cNvSpPr/>
          <p:nvPr/>
        </p:nvSpPr>
        <p:spPr>
          <a:xfrm>
            <a:off x="3733800" y="2435721"/>
            <a:ext cx="245922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Director General</a:t>
            </a:r>
            <a:endParaRPr sz="1200">
              <a:solidFill>
                <a:schemeClr val="dk1"/>
              </a:solidFill>
              <a:latin typeface="Inter"/>
              <a:ea typeface="Inter"/>
              <a:cs typeface="Inter"/>
              <a:sym typeface="Inter"/>
            </a:endParaRPr>
          </a:p>
        </p:txBody>
      </p:sp>
      <p:sp>
        <p:nvSpPr>
          <p:cNvPr id="55" name="Google Shape;55;p5"/>
          <p:cNvSpPr/>
          <p:nvPr/>
        </p:nvSpPr>
        <p:spPr>
          <a:xfrm>
            <a:off x="3733800" y="2725241"/>
            <a:ext cx="2459228"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300"/>
              <a:buFont typeface="Inter"/>
              <a:buNone/>
            </a:pPr>
            <a:r>
              <a:rPr b="1" lang="en-US" sz="1300">
                <a:solidFill>
                  <a:srgbClr val="F4F5F9"/>
                </a:solidFill>
                <a:latin typeface="Inter"/>
                <a:ea typeface="Inter"/>
                <a:cs typeface="Inter"/>
                <a:sym typeface="Inter"/>
              </a:rPr>
              <a:t>Mariana Echeverría</a:t>
            </a:r>
            <a:endParaRPr sz="1300">
              <a:solidFill>
                <a:schemeClr val="dk1"/>
              </a:solidFill>
              <a:latin typeface="Inter"/>
              <a:ea typeface="Inter"/>
              <a:cs typeface="Inter"/>
              <a:sym typeface="Inter"/>
            </a:endParaRPr>
          </a:p>
        </p:txBody>
      </p:sp>
      <p:sp>
        <p:nvSpPr>
          <p:cNvPr id="56" name="Google Shape;56;p5"/>
          <p:cNvSpPr/>
          <p:nvPr/>
        </p:nvSpPr>
        <p:spPr>
          <a:xfrm>
            <a:off x="3733800" y="2969022"/>
            <a:ext cx="245922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Gerente de Producción</a:t>
            </a:r>
            <a:endParaRPr sz="1200">
              <a:solidFill>
                <a:schemeClr val="dk1"/>
              </a:solidFill>
              <a:latin typeface="Inter"/>
              <a:ea typeface="Inter"/>
              <a:cs typeface="Inter"/>
              <a:sym typeface="Inter"/>
            </a:endParaRPr>
          </a:p>
        </p:txBody>
      </p:sp>
      <p:sp>
        <p:nvSpPr>
          <p:cNvPr id="57" name="Google Shape;57;p5"/>
          <p:cNvSpPr/>
          <p:nvPr/>
        </p:nvSpPr>
        <p:spPr>
          <a:xfrm>
            <a:off x="815975" y="3414117"/>
            <a:ext cx="2686050" cy="1591072"/>
          </a:xfrm>
          <a:prstGeom prst="roundRect">
            <a:avLst>
              <a:gd fmla="val 4590"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58" name="Google Shape;58;p5"/>
          <p:cNvSpPr/>
          <p:nvPr/>
        </p:nvSpPr>
        <p:spPr>
          <a:xfrm>
            <a:off x="971550" y="3569692"/>
            <a:ext cx="244614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MONITOREAR</a:t>
            </a:r>
            <a:endParaRPr sz="1200">
              <a:solidFill>
                <a:schemeClr val="dk1"/>
              </a:solidFill>
              <a:latin typeface="Inter"/>
              <a:ea typeface="Inter"/>
              <a:cs typeface="Inter"/>
              <a:sym typeface="Inter"/>
            </a:endParaRPr>
          </a:p>
        </p:txBody>
      </p:sp>
      <p:sp>
        <p:nvSpPr>
          <p:cNvPr id="59" name="Google Shape;59;p5"/>
          <p:cNvSpPr/>
          <p:nvPr/>
        </p:nvSpPr>
        <p:spPr>
          <a:xfrm>
            <a:off x="971550" y="3859212"/>
            <a:ext cx="2446147"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300"/>
              <a:buFont typeface="Inter"/>
              <a:buNone/>
            </a:pPr>
            <a:r>
              <a:rPr b="1" lang="en-US" sz="1300">
                <a:solidFill>
                  <a:srgbClr val="0F2743"/>
                </a:solidFill>
                <a:latin typeface="Inter"/>
                <a:ea typeface="Inter"/>
                <a:cs typeface="Inter"/>
                <a:sym typeface="Inter"/>
              </a:rPr>
              <a:t>Pablo Ferreyra</a:t>
            </a:r>
            <a:endParaRPr sz="1300">
              <a:solidFill>
                <a:schemeClr val="dk1"/>
              </a:solidFill>
              <a:latin typeface="Inter"/>
              <a:ea typeface="Inter"/>
              <a:cs typeface="Inter"/>
              <a:sym typeface="Inter"/>
            </a:endParaRPr>
          </a:p>
        </p:txBody>
      </p:sp>
      <p:sp>
        <p:nvSpPr>
          <p:cNvPr id="60" name="Google Shape;60;p5"/>
          <p:cNvSpPr/>
          <p:nvPr/>
        </p:nvSpPr>
        <p:spPr>
          <a:xfrm>
            <a:off x="971550" y="4102993"/>
            <a:ext cx="244614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Coordinador de Campos</a:t>
            </a:r>
            <a:endParaRPr sz="1200">
              <a:solidFill>
                <a:schemeClr val="dk1"/>
              </a:solidFill>
              <a:latin typeface="Inter"/>
              <a:ea typeface="Inter"/>
              <a:cs typeface="Inter"/>
              <a:sym typeface="Inter"/>
            </a:endParaRPr>
          </a:p>
        </p:txBody>
      </p:sp>
      <p:sp>
        <p:nvSpPr>
          <p:cNvPr id="61" name="Google Shape;61;p5"/>
          <p:cNvSpPr/>
          <p:nvPr/>
        </p:nvSpPr>
        <p:spPr>
          <a:xfrm>
            <a:off x="3584575" y="3414117"/>
            <a:ext cx="2686050" cy="1591072"/>
          </a:xfrm>
          <a:prstGeom prst="roundRect">
            <a:avLst>
              <a:gd fmla="val 4590"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62" name="Google Shape;62;p5"/>
          <p:cNvSpPr/>
          <p:nvPr/>
        </p:nvSpPr>
        <p:spPr>
          <a:xfrm>
            <a:off x="3740150" y="3569692"/>
            <a:ext cx="244614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MANTENER INFORMADO</a:t>
            </a:r>
            <a:endParaRPr sz="1200">
              <a:solidFill>
                <a:schemeClr val="dk1"/>
              </a:solidFill>
              <a:latin typeface="Inter"/>
              <a:ea typeface="Inter"/>
              <a:cs typeface="Inter"/>
              <a:sym typeface="Inter"/>
            </a:endParaRPr>
          </a:p>
        </p:txBody>
      </p:sp>
      <p:sp>
        <p:nvSpPr>
          <p:cNvPr id="63" name="Google Shape;63;p5"/>
          <p:cNvSpPr/>
          <p:nvPr/>
        </p:nvSpPr>
        <p:spPr>
          <a:xfrm>
            <a:off x="3740150" y="3859212"/>
            <a:ext cx="2446147"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300"/>
              <a:buFont typeface="Inter"/>
              <a:buNone/>
            </a:pPr>
            <a:r>
              <a:rPr b="1" lang="en-US" sz="1300">
                <a:solidFill>
                  <a:srgbClr val="0F2743"/>
                </a:solidFill>
                <a:latin typeface="Inter"/>
                <a:ea typeface="Inter"/>
                <a:cs typeface="Inter"/>
                <a:sym typeface="Inter"/>
              </a:rPr>
              <a:t>Gustavo Ledesma</a:t>
            </a:r>
            <a:endParaRPr sz="1300">
              <a:solidFill>
                <a:schemeClr val="dk1"/>
              </a:solidFill>
              <a:latin typeface="Inter"/>
              <a:ea typeface="Inter"/>
              <a:cs typeface="Inter"/>
              <a:sym typeface="Inter"/>
            </a:endParaRPr>
          </a:p>
        </p:txBody>
      </p:sp>
      <p:sp>
        <p:nvSpPr>
          <p:cNvPr id="64" name="Google Shape;64;p5"/>
          <p:cNvSpPr/>
          <p:nvPr/>
        </p:nvSpPr>
        <p:spPr>
          <a:xfrm>
            <a:off x="3740150" y="4102993"/>
            <a:ext cx="244614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Jefe de Riego</a:t>
            </a:r>
            <a:endParaRPr sz="1200">
              <a:solidFill>
                <a:schemeClr val="dk1"/>
              </a:solidFill>
              <a:latin typeface="Inter"/>
              <a:ea typeface="Inter"/>
              <a:cs typeface="Inter"/>
              <a:sym typeface="Inter"/>
            </a:endParaRPr>
          </a:p>
        </p:txBody>
      </p:sp>
      <p:sp>
        <p:nvSpPr>
          <p:cNvPr id="65" name="Google Shape;65;p5"/>
          <p:cNvSpPr/>
          <p:nvPr/>
        </p:nvSpPr>
        <p:spPr>
          <a:xfrm>
            <a:off x="3740150" y="4392513"/>
            <a:ext cx="2446147"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300"/>
              <a:buFont typeface="Inter"/>
              <a:buNone/>
            </a:pPr>
            <a:r>
              <a:rPr b="1" lang="en-US" sz="1300">
                <a:solidFill>
                  <a:srgbClr val="0F2743"/>
                </a:solidFill>
                <a:latin typeface="Inter"/>
                <a:ea typeface="Inter"/>
                <a:cs typeface="Inter"/>
                <a:sym typeface="Inter"/>
              </a:rPr>
              <a:t>Soledad Arias</a:t>
            </a:r>
            <a:endParaRPr sz="1300">
              <a:solidFill>
                <a:schemeClr val="dk1"/>
              </a:solidFill>
              <a:latin typeface="Inter"/>
              <a:ea typeface="Inter"/>
              <a:cs typeface="Inter"/>
              <a:sym typeface="Inter"/>
            </a:endParaRPr>
          </a:p>
        </p:txBody>
      </p:sp>
      <p:sp>
        <p:nvSpPr>
          <p:cNvPr id="66" name="Google Shape;66;p5"/>
          <p:cNvSpPr/>
          <p:nvPr/>
        </p:nvSpPr>
        <p:spPr>
          <a:xfrm>
            <a:off x="3740150" y="4636294"/>
            <a:ext cx="244614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Analista de Datos y BI</a:t>
            </a:r>
            <a:endParaRPr sz="1200">
              <a:solidFill>
                <a:schemeClr val="dk1"/>
              </a:solidFill>
              <a:latin typeface="Inter"/>
              <a:ea typeface="Inter"/>
              <a:cs typeface="Inter"/>
              <a:sym typeface="Inter"/>
            </a:endParaRPr>
          </a:p>
        </p:txBody>
      </p:sp>
      <p:sp>
        <p:nvSpPr>
          <p:cNvPr id="67" name="Google Shape;67;p5"/>
          <p:cNvSpPr/>
          <p:nvPr/>
        </p:nvSpPr>
        <p:spPr>
          <a:xfrm>
            <a:off x="812800" y="5084564"/>
            <a:ext cx="562483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Arriba, mayor poder de decisión; a la derecha, mayor interés.</a:t>
            </a:r>
            <a:endParaRPr sz="1200">
              <a:solidFill>
                <a:schemeClr val="dk1"/>
              </a:solidFill>
              <a:latin typeface="Inter"/>
              <a:ea typeface="Inter"/>
              <a:cs typeface="Inter"/>
              <a:sym typeface="Inter"/>
            </a:endParaRPr>
          </a:p>
        </p:txBody>
      </p:sp>
      <p:sp>
        <p:nvSpPr>
          <p:cNvPr id="68" name="Google Shape;68;p5"/>
          <p:cNvSpPr/>
          <p:nvPr/>
        </p:nvSpPr>
        <p:spPr>
          <a:xfrm>
            <a:off x="6527800" y="1750020"/>
            <a:ext cx="4851400" cy="3569494"/>
          </a:xfrm>
          <a:custGeom>
            <a:rect b="b" l="l" r="r" t="t"/>
            <a:pathLst>
              <a:path extrusionOk="0" h="3569494" w="4851400">
                <a:moveTo>
                  <a:pt x="4775200" y="0"/>
                </a:moveTo>
                <a:lnTo>
                  <a:pt x="4775200" y="0"/>
                </a:lnTo>
                <a:cubicBezTo>
                  <a:pt x="4795409" y="0"/>
                  <a:pt x="4814791" y="8028"/>
                  <a:pt x="4829082" y="22318"/>
                </a:cubicBezTo>
                <a:cubicBezTo>
                  <a:pt x="4843372" y="36609"/>
                  <a:pt x="4851400" y="55991"/>
                  <a:pt x="4851400" y="76200"/>
                </a:cubicBezTo>
                <a:lnTo>
                  <a:pt x="4851400" y="3493294"/>
                </a:lnTo>
                <a:cubicBezTo>
                  <a:pt x="4851400" y="3535378"/>
                  <a:pt x="4817284" y="3569494"/>
                  <a:pt x="4775200" y="3569494"/>
                </a:cubicBezTo>
                <a:lnTo>
                  <a:pt x="76200" y="3569494"/>
                </a:lnTo>
                <a:cubicBezTo>
                  <a:pt x="34116" y="3569494"/>
                  <a:pt x="0" y="3535378"/>
                  <a:pt x="0" y="3493294"/>
                </a:cubicBezTo>
                <a:lnTo>
                  <a:pt x="0" y="3493294"/>
                </a:lnTo>
                <a:cubicBezTo>
                  <a:pt x="0" y="3531871"/>
                  <a:pt x="34116" y="3563144"/>
                  <a:pt x="76200" y="3563144"/>
                </a:cubicBezTo>
                <a:lnTo>
                  <a:pt x="4775200" y="3563144"/>
                </a:lnTo>
                <a:cubicBezTo>
                  <a:pt x="4813777" y="3563144"/>
                  <a:pt x="4845050" y="3531871"/>
                  <a:pt x="4845050" y="3493294"/>
                </a:cubicBezTo>
                <a:lnTo>
                  <a:pt x="4845050" y="76200"/>
                </a:lnTo>
                <a:cubicBezTo>
                  <a:pt x="4845050" y="34116"/>
                  <a:pt x="4813777" y="0"/>
                  <a:pt x="4775200" y="0"/>
                </a:cubicBezTo>
                <a:close/>
              </a:path>
            </a:pathLst>
          </a:custGeom>
          <a:solidFill>
            <a:srgbClr val="E3E7E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69" name="Google Shape;69;p5"/>
          <p:cNvSpPr/>
          <p:nvPr/>
        </p:nvSpPr>
        <p:spPr>
          <a:xfrm>
            <a:off x="6527800" y="1750020"/>
            <a:ext cx="4851400" cy="3569494"/>
          </a:xfrm>
          <a:custGeom>
            <a:rect b="b" l="l" r="r" t="t"/>
            <a:pathLst>
              <a:path extrusionOk="0" h="3569494" w="4851400">
                <a:moveTo>
                  <a:pt x="76200" y="3569494"/>
                </a:moveTo>
                <a:lnTo>
                  <a:pt x="76200" y="3569494"/>
                </a:lnTo>
                <a:cubicBezTo>
                  <a:pt x="34116" y="3569494"/>
                  <a:pt x="0" y="3535378"/>
                  <a:pt x="0" y="3493294"/>
                </a:cubicBezTo>
                <a:lnTo>
                  <a:pt x="0" y="76200"/>
                </a:lnTo>
                <a:cubicBezTo>
                  <a:pt x="0" y="34116"/>
                  <a:pt x="34116" y="0"/>
                  <a:pt x="76200" y="0"/>
                </a:cubicBezTo>
                <a:lnTo>
                  <a:pt x="4775200" y="0"/>
                </a:lnTo>
                <a:cubicBezTo>
                  <a:pt x="4795409" y="0"/>
                  <a:pt x="4814791" y="8028"/>
                  <a:pt x="4829082" y="22318"/>
                </a:cubicBezTo>
                <a:cubicBezTo>
                  <a:pt x="4843372" y="36609"/>
                  <a:pt x="4851400" y="55991"/>
                  <a:pt x="4851400" y="76200"/>
                </a:cubicBezTo>
                <a:lnTo>
                  <a:pt x="4851400" y="76200"/>
                </a:lnTo>
                <a:cubicBezTo>
                  <a:pt x="4851400" y="41130"/>
                  <a:pt x="4817284" y="12700"/>
                  <a:pt x="4775200" y="12700"/>
                </a:cubicBezTo>
                <a:lnTo>
                  <a:pt x="76200" y="12700"/>
                </a:lnTo>
                <a:cubicBezTo>
                  <a:pt x="41130" y="12700"/>
                  <a:pt x="12700" y="41130"/>
                  <a:pt x="12700" y="76200"/>
                </a:cubicBezTo>
                <a:lnTo>
                  <a:pt x="12700" y="3493294"/>
                </a:lnTo>
                <a:cubicBezTo>
                  <a:pt x="12700" y="3535378"/>
                  <a:pt x="41130" y="3569494"/>
                  <a:pt x="76200" y="3569494"/>
                </a:cubicBezTo>
                <a:close/>
              </a:path>
            </a:pathLst>
          </a:custGeom>
          <a:solidFill>
            <a:srgbClr val="141413">
              <a:alpha val="21961"/>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graphicFrame>
        <p:nvGraphicFramePr>
          <p:cNvPr id="70" name="Google Shape;70;p5"/>
          <p:cNvGraphicFramePr/>
          <p:nvPr/>
        </p:nvGraphicFramePr>
        <p:xfrm>
          <a:off x="6540500" y="1762720"/>
          <a:ext cx="3000000" cy="3000000"/>
        </p:xfrm>
        <a:graphic>
          <a:graphicData uri="http://schemas.openxmlformats.org/drawingml/2006/table">
            <a:tbl>
              <a:tblPr>
                <a:noFill/>
                <a:tableStyleId>{A7165ABE-6510-4957-AB52-0C4446FAEBA0}</a:tableStyleId>
              </a:tblPr>
              <a:tblGrid>
                <a:gridCol w="1449700"/>
                <a:gridCol w="1256400"/>
                <a:gridCol w="966475"/>
                <a:gridCol w="1159775"/>
              </a:tblGrid>
              <a:tr h="591750">
                <a:tc>
                  <a:txBody>
                    <a:bodyPr/>
                    <a:lstStyle/>
                    <a:p>
                      <a:pPr indent="0" lvl="0" marL="0" marR="0" rtl="0" algn="l">
                        <a:lnSpc>
                          <a:spcPct val="140000"/>
                        </a:lnSpc>
                        <a:spcBef>
                          <a:spcPts val="0"/>
                        </a:spcBef>
                        <a:spcAft>
                          <a:spcPts val="0"/>
                        </a:spcAft>
                        <a:buClr>
                          <a:srgbClr val="F4F5F9"/>
                        </a:buClr>
                        <a:buSzPts val="1200"/>
                        <a:buFont typeface="Inter"/>
                        <a:buNone/>
                      </a:pPr>
                      <a:r>
                        <a:rPr b="1" lang="en-US" sz="1200" u="none" cap="none" strike="noStrike">
                          <a:solidFill>
                            <a:srgbClr val="F4F5F9"/>
                          </a:solidFill>
                          <a:latin typeface="Inter"/>
                          <a:ea typeface="Inter"/>
                          <a:cs typeface="Inter"/>
                          <a:sym typeface="Inter"/>
                        </a:rPr>
                        <a:t>Decisión</a:t>
                      </a:r>
                      <a:endParaRPr sz="1200" u="none" cap="none" strike="noStrike">
                        <a:latin typeface="Inter"/>
                        <a:ea typeface="Inter"/>
                        <a:cs typeface="Inter"/>
                        <a:sym typeface="Inter"/>
                      </a:endParaRPr>
                    </a:p>
                  </a:txBody>
                  <a:tcPr marT="76200" marB="76200" marR="101600" marL="101600">
                    <a:lnL cap="flat" cmpd="sng" w="9525">
                      <a:solidFill>
                        <a:srgbClr val="000000">
                          <a:alpha val="0"/>
                        </a:srgbClr>
                      </a:solidFill>
                      <a:prstDash val="solid"/>
                      <a:round/>
                      <a:headEnd len="sm" w="sm" type="none"/>
                      <a:tailEnd len="sm" w="sm" type="none"/>
                    </a:lnL>
                    <a:lnR cap="flat" cmpd="sng" w="12700">
                      <a:solidFill>
                        <a:srgbClr val="10233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102338"/>
                      </a:solidFill>
                      <a:prstDash val="solid"/>
                      <a:round/>
                      <a:headEnd len="sm" w="sm" type="none"/>
                      <a:tailEnd len="sm" w="sm" type="none"/>
                    </a:lnB>
                    <a:solidFill>
                      <a:srgbClr val="0F2743"/>
                    </a:solidFill>
                  </a:tcPr>
                </a:tc>
                <a:tc>
                  <a:txBody>
                    <a:bodyPr/>
                    <a:lstStyle/>
                    <a:p>
                      <a:pPr indent="0" lvl="0" marL="0" marR="0" rtl="0" algn="l">
                        <a:lnSpc>
                          <a:spcPct val="140000"/>
                        </a:lnSpc>
                        <a:spcBef>
                          <a:spcPts val="0"/>
                        </a:spcBef>
                        <a:spcAft>
                          <a:spcPts val="0"/>
                        </a:spcAft>
                        <a:buClr>
                          <a:srgbClr val="F4F5F9"/>
                        </a:buClr>
                        <a:buSzPts val="1200"/>
                        <a:buFont typeface="Inter"/>
                        <a:buNone/>
                      </a:pPr>
                      <a:r>
                        <a:rPr b="1" lang="en-US" sz="1200" u="none" cap="none" strike="noStrike">
                          <a:solidFill>
                            <a:srgbClr val="F4F5F9"/>
                          </a:solidFill>
                          <a:latin typeface="Inter"/>
                          <a:ea typeface="Inter"/>
                          <a:cs typeface="Inter"/>
                          <a:sym typeface="Inter"/>
                        </a:rPr>
                        <a:t>Aprueba (A)</a:t>
                      </a:r>
                      <a:endParaRPr sz="1200" u="none" cap="none" strike="noStrike">
                        <a:latin typeface="Inter"/>
                        <a:ea typeface="Inter"/>
                        <a:cs typeface="Inter"/>
                        <a:sym typeface="Inter"/>
                      </a:endParaRPr>
                    </a:p>
                  </a:txBody>
                  <a:tcPr marT="76200" marB="76200" marR="101600" marL="101600">
                    <a:lnL cap="flat" cmpd="sng" w="12700">
                      <a:solidFill>
                        <a:srgbClr val="102338"/>
                      </a:solidFill>
                      <a:prstDash val="solid"/>
                      <a:round/>
                      <a:headEnd len="sm" w="sm" type="none"/>
                      <a:tailEnd len="sm" w="sm" type="none"/>
                    </a:lnL>
                    <a:lnR cap="flat" cmpd="sng" w="12700">
                      <a:solidFill>
                        <a:srgbClr val="10233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102338"/>
                      </a:solidFill>
                      <a:prstDash val="solid"/>
                      <a:round/>
                      <a:headEnd len="sm" w="sm" type="none"/>
                      <a:tailEnd len="sm" w="sm" type="none"/>
                    </a:lnB>
                    <a:solidFill>
                      <a:srgbClr val="0F2743"/>
                    </a:solidFill>
                  </a:tcPr>
                </a:tc>
                <a:tc>
                  <a:txBody>
                    <a:bodyPr/>
                    <a:lstStyle/>
                    <a:p>
                      <a:pPr indent="0" lvl="0" marL="0" marR="0" rtl="0" algn="l">
                        <a:lnSpc>
                          <a:spcPct val="140000"/>
                        </a:lnSpc>
                        <a:spcBef>
                          <a:spcPts val="0"/>
                        </a:spcBef>
                        <a:spcAft>
                          <a:spcPts val="0"/>
                        </a:spcAft>
                        <a:buClr>
                          <a:srgbClr val="F4F5F9"/>
                        </a:buClr>
                        <a:buSzPts val="1200"/>
                        <a:buFont typeface="Inter"/>
                        <a:buNone/>
                      </a:pPr>
                      <a:r>
                        <a:rPr b="1" lang="en-US" sz="1200" u="none" cap="none" strike="noStrike">
                          <a:solidFill>
                            <a:srgbClr val="F4F5F9"/>
                          </a:solidFill>
                          <a:latin typeface="Inter"/>
                          <a:ea typeface="Inter"/>
                          <a:cs typeface="Inter"/>
                          <a:sym typeface="Inter"/>
                        </a:rPr>
                        <a:t>Ejecuta (R)</a:t>
                      </a:r>
                      <a:endParaRPr sz="1200" u="none" cap="none" strike="noStrike">
                        <a:latin typeface="Inter"/>
                        <a:ea typeface="Inter"/>
                        <a:cs typeface="Inter"/>
                        <a:sym typeface="Inter"/>
                      </a:endParaRPr>
                    </a:p>
                  </a:txBody>
                  <a:tcPr marT="76200" marB="76200" marR="101600" marL="101600">
                    <a:lnL cap="flat" cmpd="sng" w="12700">
                      <a:solidFill>
                        <a:srgbClr val="102338"/>
                      </a:solidFill>
                      <a:prstDash val="solid"/>
                      <a:round/>
                      <a:headEnd len="sm" w="sm" type="none"/>
                      <a:tailEnd len="sm" w="sm" type="none"/>
                    </a:lnL>
                    <a:lnR cap="flat" cmpd="sng" w="12700">
                      <a:solidFill>
                        <a:srgbClr val="10233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102338"/>
                      </a:solidFill>
                      <a:prstDash val="solid"/>
                      <a:round/>
                      <a:headEnd len="sm" w="sm" type="none"/>
                      <a:tailEnd len="sm" w="sm" type="none"/>
                    </a:lnB>
                    <a:solidFill>
                      <a:srgbClr val="0F2743"/>
                    </a:solidFill>
                  </a:tcPr>
                </a:tc>
                <a:tc>
                  <a:txBody>
                    <a:bodyPr/>
                    <a:lstStyle/>
                    <a:p>
                      <a:pPr indent="0" lvl="0" marL="0" marR="0" rtl="0" algn="l">
                        <a:lnSpc>
                          <a:spcPct val="140000"/>
                        </a:lnSpc>
                        <a:spcBef>
                          <a:spcPts val="0"/>
                        </a:spcBef>
                        <a:spcAft>
                          <a:spcPts val="0"/>
                        </a:spcAft>
                        <a:buClr>
                          <a:srgbClr val="F4F5F9"/>
                        </a:buClr>
                        <a:buSzPts val="1200"/>
                        <a:buFont typeface="Inter"/>
                        <a:buNone/>
                      </a:pPr>
                      <a:r>
                        <a:rPr b="1" lang="en-US" sz="1200" u="none" cap="none" strike="noStrike">
                          <a:solidFill>
                            <a:srgbClr val="F4F5F9"/>
                          </a:solidFill>
                          <a:latin typeface="Inter"/>
                          <a:ea typeface="Inter"/>
                          <a:cs typeface="Inter"/>
                          <a:sym typeface="Inter"/>
                        </a:rPr>
                        <a:t>Consulta (C)</a:t>
                      </a:r>
                      <a:endParaRPr sz="1200" u="none" cap="none" strike="noStrike">
                        <a:latin typeface="Inter"/>
                        <a:ea typeface="Inter"/>
                        <a:cs typeface="Inter"/>
                        <a:sym typeface="Inter"/>
                      </a:endParaRPr>
                    </a:p>
                  </a:txBody>
                  <a:tcPr marT="76200" marB="76200" marR="101600" marL="101600">
                    <a:lnL cap="flat" cmpd="sng" w="12700">
                      <a:solidFill>
                        <a:srgbClr val="102338"/>
                      </a:solidFill>
                      <a:prstDash val="solid"/>
                      <a:round/>
                      <a:headEnd len="sm" w="sm" type="none"/>
                      <a:tailEnd len="sm" w="sm" type="none"/>
                    </a:lnL>
                    <a:lnR cap="flat" cmpd="sng" w="12700">
                      <a:solidFill>
                        <a:srgbClr val="102338"/>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102338"/>
                      </a:solidFill>
                      <a:prstDash val="solid"/>
                      <a:round/>
                      <a:headEnd len="sm" w="sm" type="none"/>
                      <a:tailEnd len="sm" w="sm" type="none"/>
                    </a:lnB>
                    <a:solidFill>
                      <a:srgbClr val="0F2743"/>
                    </a:solidFill>
                  </a:tcPr>
                </a:tc>
              </a:tr>
              <a:tr h="591750">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Hitos </a:t>
                      </a:r>
                      <a:r>
                        <a:rPr lang="en-US" sz="1200">
                          <a:solidFill>
                            <a:srgbClr val="0F2743"/>
                          </a:solidFill>
                          <a:latin typeface="Inter"/>
                          <a:ea typeface="Inter"/>
                          <a:cs typeface="Inter"/>
                          <a:sym typeface="Inter"/>
                        </a:rPr>
                        <a:t>del proyecto</a:t>
                      </a:r>
                      <a:endParaRPr sz="1200" u="none" cap="none" strike="noStrike">
                        <a:latin typeface="Inter"/>
                        <a:ea typeface="Inter"/>
                        <a:cs typeface="Inter"/>
                        <a:sym typeface="Inter"/>
                      </a:endParaRPr>
                    </a:p>
                  </a:txBody>
                  <a:tcPr marT="76200" marB="76200" marR="101600" marL="101600">
                    <a:lnL cap="flat" cmpd="sng" w="9525">
                      <a:solidFill>
                        <a:srgbClr val="000000">
                          <a:alpha val="0"/>
                        </a:srgbClr>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102338"/>
                      </a:solidFill>
                      <a:prstDash val="solid"/>
                      <a:round/>
                      <a:headEnd len="sm" w="sm" type="none"/>
                      <a:tailEnd len="sm" w="sm" type="none"/>
                    </a:lnT>
                    <a:lnB cap="flat" cmpd="sng" w="12700">
                      <a:solidFill>
                        <a:srgbClr val="CACACA"/>
                      </a:solidFill>
                      <a:prstDash val="solid"/>
                      <a:round/>
                      <a:headEnd len="sm" w="sm" type="none"/>
                      <a:tailEnd len="sm" w="sm" type="none"/>
                    </a:lnB>
                    <a:solidFill>
                      <a:srgbClr val="FDFDFE"/>
                    </a:solidFill>
                  </a:tcPr>
                </a:tc>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Director General</a:t>
                      </a:r>
                      <a:endParaRPr sz="1200" u="none" cap="none" strike="noStrike">
                        <a:latin typeface="Inter"/>
                        <a:ea typeface="Inter"/>
                        <a:cs typeface="Inter"/>
                        <a:sym typeface="Inter"/>
                      </a:endParaRPr>
                    </a:p>
                  </a:txBody>
                  <a:tcPr marT="76200" marB="76200" marR="101600" marL="101600">
                    <a:lnL cap="flat" cmpd="sng" w="12700">
                      <a:solidFill>
                        <a:srgbClr val="CACACA"/>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102338"/>
                      </a:solidFill>
                      <a:prstDash val="solid"/>
                      <a:round/>
                      <a:headEnd len="sm" w="sm" type="none"/>
                      <a:tailEnd len="sm" w="sm" type="none"/>
                    </a:lnT>
                    <a:lnB cap="flat" cmpd="sng" w="12700">
                      <a:solidFill>
                        <a:srgbClr val="CACACA"/>
                      </a:solidFill>
                      <a:prstDash val="solid"/>
                      <a:round/>
                      <a:headEnd len="sm" w="sm" type="none"/>
                      <a:tailEnd len="sm" w="sm" type="none"/>
                    </a:lnB>
                    <a:solidFill>
                      <a:srgbClr val="FDFDFE"/>
                    </a:solidFill>
                  </a:tcPr>
                </a:tc>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Maver</a:t>
                      </a:r>
                      <a:endParaRPr sz="1200" u="none" cap="none" strike="noStrike">
                        <a:latin typeface="Inter"/>
                        <a:ea typeface="Inter"/>
                        <a:cs typeface="Inter"/>
                        <a:sym typeface="Inter"/>
                      </a:endParaRPr>
                    </a:p>
                  </a:txBody>
                  <a:tcPr marT="76200" marB="76200" marR="101600" marL="101600">
                    <a:lnL cap="flat" cmpd="sng" w="12700">
                      <a:solidFill>
                        <a:srgbClr val="CACACA"/>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102338"/>
                      </a:solidFill>
                      <a:prstDash val="solid"/>
                      <a:round/>
                      <a:headEnd len="sm" w="sm" type="none"/>
                      <a:tailEnd len="sm" w="sm" type="none"/>
                    </a:lnT>
                    <a:lnB cap="flat" cmpd="sng" w="12700">
                      <a:solidFill>
                        <a:srgbClr val="CACACA"/>
                      </a:solidFill>
                      <a:prstDash val="solid"/>
                      <a:round/>
                      <a:headEnd len="sm" w="sm" type="none"/>
                      <a:tailEnd len="sm" w="sm" type="none"/>
                    </a:lnB>
                    <a:solidFill>
                      <a:srgbClr val="FDFDFE"/>
                    </a:solidFill>
                  </a:tcPr>
                </a:tc>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Equipo técnico</a:t>
                      </a:r>
                      <a:endParaRPr sz="1200" u="none" cap="none" strike="noStrike">
                        <a:latin typeface="Inter"/>
                        <a:ea typeface="Inter"/>
                        <a:cs typeface="Inter"/>
                        <a:sym typeface="Inter"/>
                      </a:endParaRPr>
                    </a:p>
                  </a:txBody>
                  <a:tcPr marT="76200" marB="76200" marR="101600" marL="101600">
                    <a:lnL cap="flat" cmpd="sng" w="12700">
                      <a:solidFill>
                        <a:srgbClr val="CACACA"/>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102338"/>
                      </a:solidFill>
                      <a:prstDash val="solid"/>
                      <a:round/>
                      <a:headEnd len="sm" w="sm" type="none"/>
                      <a:tailEnd len="sm" w="sm" type="none"/>
                    </a:lnT>
                    <a:lnB cap="flat" cmpd="sng" w="12700">
                      <a:solidFill>
                        <a:srgbClr val="CACACA"/>
                      </a:solidFill>
                      <a:prstDash val="solid"/>
                      <a:round/>
                      <a:headEnd len="sm" w="sm" type="none"/>
                      <a:tailEnd len="sm" w="sm" type="none"/>
                    </a:lnB>
                    <a:solidFill>
                      <a:srgbClr val="FDFDFE"/>
                    </a:solidFill>
                  </a:tcPr>
                </a:tc>
              </a:tr>
              <a:tr h="591750">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Cambios de alcance</a:t>
                      </a:r>
                      <a:endParaRPr sz="1200" u="none" cap="none" strike="noStrike">
                        <a:latin typeface="Inter"/>
                        <a:ea typeface="Inter"/>
                        <a:cs typeface="Inter"/>
                        <a:sym typeface="Inter"/>
                      </a:endParaRPr>
                    </a:p>
                  </a:txBody>
                  <a:tcPr marT="76200" marB="76200" marR="101600" marL="101600">
                    <a:lnL cap="flat" cmpd="sng" w="9525">
                      <a:solidFill>
                        <a:srgbClr val="000000">
                          <a:alpha val="0"/>
                        </a:srgbClr>
                      </a:solidFill>
                      <a:prstDash val="solid"/>
                      <a:round/>
                      <a:headEnd len="sm" w="sm" type="none"/>
                      <a:tailEnd len="sm" w="sm" type="none"/>
                    </a:lnL>
                    <a:lnR cap="flat" cmpd="sng" w="12700">
                      <a:solidFill>
                        <a:srgbClr val="C3C4C6"/>
                      </a:solidFill>
                      <a:prstDash val="solid"/>
                      <a:round/>
                      <a:headEnd len="sm" w="sm" type="none"/>
                      <a:tailEnd len="sm" w="sm" type="none"/>
                    </a:lnR>
                    <a:lnT cap="flat" cmpd="sng" w="12700">
                      <a:solidFill>
                        <a:srgbClr val="CACACA"/>
                      </a:solidFill>
                      <a:prstDash val="solid"/>
                      <a:round/>
                      <a:headEnd len="sm" w="sm" type="none"/>
                      <a:tailEnd len="sm" w="sm" type="none"/>
                    </a:lnT>
                    <a:lnB cap="flat" cmpd="sng" w="12700">
                      <a:solidFill>
                        <a:srgbClr val="C3C4C6"/>
                      </a:solidFill>
                      <a:prstDash val="solid"/>
                      <a:round/>
                      <a:headEnd len="sm" w="sm" type="none"/>
                      <a:tailEnd len="sm" w="sm" type="none"/>
                    </a:lnB>
                    <a:solidFill>
                      <a:srgbClr val="F4F5F9"/>
                    </a:solidFill>
                  </a:tcPr>
                </a:tc>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Director General</a:t>
                      </a:r>
                      <a:endParaRPr sz="1200" u="none" cap="none" strike="noStrike">
                        <a:latin typeface="Inter"/>
                        <a:ea typeface="Inter"/>
                        <a:cs typeface="Inter"/>
                        <a:sym typeface="Inter"/>
                      </a:endParaRPr>
                    </a:p>
                  </a:txBody>
                  <a:tcPr marT="76200" marB="76200" marR="101600" marL="101600">
                    <a:lnL cap="flat" cmpd="sng" w="12700">
                      <a:solidFill>
                        <a:srgbClr val="C3C4C6"/>
                      </a:solidFill>
                      <a:prstDash val="solid"/>
                      <a:round/>
                      <a:headEnd len="sm" w="sm" type="none"/>
                      <a:tailEnd len="sm" w="sm" type="none"/>
                    </a:lnL>
                    <a:lnR cap="flat" cmpd="sng" w="12700">
                      <a:solidFill>
                        <a:srgbClr val="C3C4C6"/>
                      </a:solidFill>
                      <a:prstDash val="solid"/>
                      <a:round/>
                      <a:headEnd len="sm" w="sm" type="none"/>
                      <a:tailEnd len="sm" w="sm" type="none"/>
                    </a:lnR>
                    <a:lnT cap="flat" cmpd="sng" w="12700">
                      <a:solidFill>
                        <a:srgbClr val="CACACA"/>
                      </a:solidFill>
                      <a:prstDash val="solid"/>
                      <a:round/>
                      <a:headEnd len="sm" w="sm" type="none"/>
                      <a:tailEnd len="sm" w="sm" type="none"/>
                    </a:lnT>
                    <a:lnB cap="flat" cmpd="sng" w="12700">
                      <a:solidFill>
                        <a:srgbClr val="C3C4C6"/>
                      </a:solidFill>
                      <a:prstDash val="solid"/>
                      <a:round/>
                      <a:headEnd len="sm" w="sm" type="none"/>
                      <a:tailEnd len="sm" w="sm" type="none"/>
                    </a:lnB>
                    <a:solidFill>
                      <a:srgbClr val="F4F5F9"/>
                    </a:solidFill>
                  </a:tcPr>
                </a:tc>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Maver</a:t>
                      </a:r>
                      <a:endParaRPr sz="1200" u="none" cap="none" strike="noStrike">
                        <a:latin typeface="Inter"/>
                        <a:ea typeface="Inter"/>
                        <a:cs typeface="Inter"/>
                        <a:sym typeface="Inter"/>
                      </a:endParaRPr>
                    </a:p>
                  </a:txBody>
                  <a:tcPr marT="76200" marB="76200" marR="101600" marL="101600">
                    <a:lnL cap="flat" cmpd="sng" w="12700">
                      <a:solidFill>
                        <a:srgbClr val="C3C4C6"/>
                      </a:solidFill>
                      <a:prstDash val="solid"/>
                      <a:round/>
                      <a:headEnd len="sm" w="sm" type="none"/>
                      <a:tailEnd len="sm" w="sm" type="none"/>
                    </a:lnL>
                    <a:lnR cap="flat" cmpd="sng" w="12700">
                      <a:solidFill>
                        <a:srgbClr val="C3C4C6"/>
                      </a:solidFill>
                      <a:prstDash val="solid"/>
                      <a:round/>
                      <a:headEnd len="sm" w="sm" type="none"/>
                      <a:tailEnd len="sm" w="sm" type="none"/>
                    </a:lnR>
                    <a:lnT cap="flat" cmpd="sng" w="12700">
                      <a:solidFill>
                        <a:srgbClr val="CACACA"/>
                      </a:solidFill>
                      <a:prstDash val="solid"/>
                      <a:round/>
                      <a:headEnd len="sm" w="sm" type="none"/>
                      <a:tailEnd len="sm" w="sm" type="none"/>
                    </a:lnT>
                    <a:lnB cap="flat" cmpd="sng" w="12700">
                      <a:solidFill>
                        <a:srgbClr val="C3C4C6"/>
                      </a:solidFill>
                      <a:prstDash val="solid"/>
                      <a:round/>
                      <a:headEnd len="sm" w="sm" type="none"/>
                      <a:tailEnd len="sm" w="sm" type="none"/>
                    </a:lnB>
                    <a:solidFill>
                      <a:srgbClr val="F4F5F9"/>
                    </a:solidFill>
                  </a:tcPr>
                </a:tc>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Equipo técnico</a:t>
                      </a:r>
                      <a:endParaRPr sz="1200" u="none" cap="none" strike="noStrike">
                        <a:latin typeface="Inter"/>
                        <a:ea typeface="Inter"/>
                        <a:cs typeface="Inter"/>
                        <a:sym typeface="Inter"/>
                      </a:endParaRPr>
                    </a:p>
                  </a:txBody>
                  <a:tcPr marT="76200" marB="76200" marR="101600" marL="101600">
                    <a:lnL cap="flat" cmpd="sng" w="12700">
                      <a:solidFill>
                        <a:srgbClr val="C3C4C6"/>
                      </a:solidFill>
                      <a:prstDash val="solid"/>
                      <a:round/>
                      <a:headEnd len="sm" w="sm" type="none"/>
                      <a:tailEnd len="sm" w="sm" type="none"/>
                    </a:lnL>
                    <a:lnR cap="flat" cmpd="sng" w="12700">
                      <a:solidFill>
                        <a:srgbClr val="C3C4C6"/>
                      </a:solidFill>
                      <a:prstDash val="solid"/>
                      <a:round/>
                      <a:headEnd len="sm" w="sm" type="none"/>
                      <a:tailEnd len="sm" w="sm" type="none"/>
                    </a:lnR>
                    <a:lnT cap="flat" cmpd="sng" w="12700">
                      <a:solidFill>
                        <a:srgbClr val="CACACA"/>
                      </a:solidFill>
                      <a:prstDash val="solid"/>
                      <a:round/>
                      <a:headEnd len="sm" w="sm" type="none"/>
                      <a:tailEnd len="sm" w="sm" type="none"/>
                    </a:lnT>
                    <a:lnB cap="flat" cmpd="sng" w="12700">
                      <a:solidFill>
                        <a:srgbClr val="C3C4C6"/>
                      </a:solidFill>
                      <a:prstDash val="solid"/>
                      <a:round/>
                      <a:headEnd len="sm" w="sm" type="none"/>
                      <a:tailEnd len="sm" w="sm" type="none"/>
                    </a:lnB>
                    <a:solidFill>
                      <a:srgbClr val="F4F5F9"/>
                    </a:solidFill>
                  </a:tcPr>
                </a:tc>
              </a:tr>
              <a:tr h="591750">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Rangos de calidad</a:t>
                      </a:r>
                      <a:endParaRPr sz="1200" u="none" cap="none" strike="noStrike">
                        <a:latin typeface="Inter"/>
                        <a:ea typeface="Inter"/>
                        <a:cs typeface="Inter"/>
                        <a:sym typeface="Inter"/>
                      </a:endParaRPr>
                    </a:p>
                  </a:txBody>
                  <a:tcPr marT="76200" marB="76200" marR="101600" marL="101600">
                    <a:lnL cap="flat" cmpd="sng" w="9525">
                      <a:solidFill>
                        <a:srgbClr val="000000">
                          <a:alpha val="0"/>
                        </a:srgbClr>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C3C4C6"/>
                      </a:solidFill>
                      <a:prstDash val="solid"/>
                      <a:round/>
                      <a:headEnd len="sm" w="sm" type="none"/>
                      <a:tailEnd len="sm" w="sm" type="none"/>
                    </a:lnT>
                    <a:lnB cap="flat" cmpd="sng" w="12700">
                      <a:solidFill>
                        <a:srgbClr val="CACACA"/>
                      </a:solidFill>
                      <a:prstDash val="solid"/>
                      <a:round/>
                      <a:headEnd len="sm" w="sm" type="none"/>
                      <a:tailEnd len="sm" w="sm" type="none"/>
                    </a:lnB>
                    <a:solidFill>
                      <a:srgbClr val="FDFDFE"/>
                    </a:solidFill>
                  </a:tcPr>
                </a:tc>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Gerente de Producción</a:t>
                      </a:r>
                      <a:endParaRPr sz="1200" u="none" cap="none" strike="noStrike">
                        <a:latin typeface="Inter"/>
                        <a:ea typeface="Inter"/>
                        <a:cs typeface="Inter"/>
                        <a:sym typeface="Inter"/>
                      </a:endParaRPr>
                    </a:p>
                  </a:txBody>
                  <a:tcPr marT="76200" marB="76200" marR="101600" marL="101600">
                    <a:lnL cap="flat" cmpd="sng" w="12700">
                      <a:solidFill>
                        <a:srgbClr val="CACACA"/>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C3C4C6"/>
                      </a:solidFill>
                      <a:prstDash val="solid"/>
                      <a:round/>
                      <a:headEnd len="sm" w="sm" type="none"/>
                      <a:tailEnd len="sm" w="sm" type="none"/>
                    </a:lnT>
                    <a:lnB cap="flat" cmpd="sng" w="12700">
                      <a:solidFill>
                        <a:srgbClr val="CACACA"/>
                      </a:solidFill>
                      <a:prstDash val="solid"/>
                      <a:round/>
                      <a:headEnd len="sm" w="sm" type="none"/>
                      <a:tailEnd len="sm" w="sm" type="none"/>
                    </a:lnB>
                    <a:solidFill>
                      <a:srgbClr val="FDFDFE"/>
                    </a:solidFill>
                  </a:tcPr>
                </a:tc>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Pisera</a:t>
                      </a:r>
                      <a:endParaRPr sz="1200" u="none" cap="none" strike="noStrike">
                        <a:latin typeface="Inter"/>
                        <a:ea typeface="Inter"/>
                        <a:cs typeface="Inter"/>
                        <a:sym typeface="Inter"/>
                      </a:endParaRPr>
                    </a:p>
                  </a:txBody>
                  <a:tcPr marT="76200" marB="76200" marR="101600" marL="101600">
                    <a:lnL cap="flat" cmpd="sng" w="12700">
                      <a:solidFill>
                        <a:srgbClr val="CACACA"/>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C3C4C6"/>
                      </a:solidFill>
                      <a:prstDash val="solid"/>
                      <a:round/>
                      <a:headEnd len="sm" w="sm" type="none"/>
                      <a:tailEnd len="sm" w="sm" type="none"/>
                    </a:lnT>
                    <a:lnB cap="flat" cmpd="sng" w="12700">
                      <a:solidFill>
                        <a:srgbClr val="CACACA"/>
                      </a:solidFill>
                      <a:prstDash val="solid"/>
                      <a:round/>
                      <a:headEnd len="sm" w="sm" type="none"/>
                      <a:tailEnd len="sm" w="sm" type="none"/>
                    </a:lnB>
                    <a:solidFill>
                      <a:srgbClr val="FDFDFE"/>
                    </a:solidFill>
                  </a:tcPr>
                </a:tc>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Jefe de Riego</a:t>
                      </a:r>
                      <a:endParaRPr sz="1200" u="none" cap="none" strike="noStrike">
                        <a:latin typeface="Inter"/>
                        <a:ea typeface="Inter"/>
                        <a:cs typeface="Inter"/>
                        <a:sym typeface="Inter"/>
                      </a:endParaRPr>
                    </a:p>
                  </a:txBody>
                  <a:tcPr marT="76200" marB="76200" marR="101600" marL="101600">
                    <a:lnL cap="flat" cmpd="sng" w="12700">
                      <a:solidFill>
                        <a:srgbClr val="CACACA"/>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C3C4C6"/>
                      </a:solidFill>
                      <a:prstDash val="solid"/>
                      <a:round/>
                      <a:headEnd len="sm" w="sm" type="none"/>
                      <a:tailEnd len="sm" w="sm" type="none"/>
                    </a:lnT>
                    <a:lnB cap="flat" cmpd="sng" w="12700">
                      <a:solidFill>
                        <a:srgbClr val="CACACA"/>
                      </a:solidFill>
                      <a:prstDash val="solid"/>
                      <a:round/>
                      <a:headEnd len="sm" w="sm" type="none"/>
                      <a:tailEnd len="sm" w="sm" type="none"/>
                    </a:lnB>
                    <a:solidFill>
                      <a:srgbClr val="FDFDFE"/>
                    </a:solidFill>
                  </a:tcPr>
                </a:tc>
              </a:tr>
              <a:tr h="591750">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Accesos e infraestructura</a:t>
                      </a:r>
                      <a:endParaRPr sz="1200" u="none" cap="none" strike="noStrike">
                        <a:latin typeface="Inter"/>
                        <a:ea typeface="Inter"/>
                        <a:cs typeface="Inter"/>
                        <a:sym typeface="Inter"/>
                      </a:endParaRPr>
                    </a:p>
                  </a:txBody>
                  <a:tcPr marT="76200" marB="76200" marR="101600" marL="101600">
                    <a:lnL cap="flat" cmpd="sng" w="9525">
                      <a:solidFill>
                        <a:srgbClr val="000000">
                          <a:alpha val="0"/>
                        </a:srgbClr>
                      </a:solidFill>
                      <a:prstDash val="solid"/>
                      <a:round/>
                      <a:headEnd len="sm" w="sm" type="none"/>
                      <a:tailEnd len="sm" w="sm" type="none"/>
                    </a:lnL>
                    <a:lnR cap="flat" cmpd="sng" w="12700">
                      <a:solidFill>
                        <a:srgbClr val="C3C4C6"/>
                      </a:solidFill>
                      <a:prstDash val="solid"/>
                      <a:round/>
                      <a:headEnd len="sm" w="sm" type="none"/>
                      <a:tailEnd len="sm" w="sm" type="none"/>
                    </a:lnR>
                    <a:lnT cap="flat" cmpd="sng" w="12700">
                      <a:solidFill>
                        <a:srgbClr val="CACACA"/>
                      </a:solidFill>
                      <a:prstDash val="solid"/>
                      <a:round/>
                      <a:headEnd len="sm" w="sm" type="none"/>
                      <a:tailEnd len="sm" w="sm" type="none"/>
                    </a:lnT>
                    <a:lnB cap="flat" cmpd="sng" w="12700">
                      <a:solidFill>
                        <a:srgbClr val="C3C4C6"/>
                      </a:solidFill>
                      <a:prstDash val="solid"/>
                      <a:round/>
                      <a:headEnd len="sm" w="sm" type="none"/>
                      <a:tailEnd len="sm" w="sm" type="none"/>
                    </a:lnB>
                    <a:solidFill>
                      <a:srgbClr val="F4F5F9"/>
                    </a:solidFill>
                  </a:tcPr>
                </a:tc>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Responsable de IT</a:t>
                      </a:r>
                      <a:endParaRPr sz="1200" u="none" cap="none" strike="noStrike">
                        <a:latin typeface="Inter"/>
                        <a:ea typeface="Inter"/>
                        <a:cs typeface="Inter"/>
                        <a:sym typeface="Inter"/>
                      </a:endParaRPr>
                    </a:p>
                  </a:txBody>
                  <a:tcPr marT="76200" marB="76200" marR="101600" marL="101600">
                    <a:lnL cap="flat" cmpd="sng" w="12700">
                      <a:solidFill>
                        <a:srgbClr val="C3C4C6"/>
                      </a:solidFill>
                      <a:prstDash val="solid"/>
                      <a:round/>
                      <a:headEnd len="sm" w="sm" type="none"/>
                      <a:tailEnd len="sm" w="sm" type="none"/>
                    </a:lnL>
                    <a:lnR cap="flat" cmpd="sng" w="12700">
                      <a:solidFill>
                        <a:srgbClr val="C3C4C6"/>
                      </a:solidFill>
                      <a:prstDash val="solid"/>
                      <a:round/>
                      <a:headEnd len="sm" w="sm" type="none"/>
                      <a:tailEnd len="sm" w="sm" type="none"/>
                    </a:lnR>
                    <a:lnT cap="flat" cmpd="sng" w="12700">
                      <a:solidFill>
                        <a:srgbClr val="CACACA"/>
                      </a:solidFill>
                      <a:prstDash val="solid"/>
                      <a:round/>
                      <a:headEnd len="sm" w="sm" type="none"/>
                      <a:tailEnd len="sm" w="sm" type="none"/>
                    </a:lnT>
                    <a:lnB cap="flat" cmpd="sng" w="12700">
                      <a:solidFill>
                        <a:srgbClr val="C3C4C6"/>
                      </a:solidFill>
                      <a:prstDash val="solid"/>
                      <a:round/>
                      <a:headEnd len="sm" w="sm" type="none"/>
                      <a:tailEnd len="sm" w="sm" type="none"/>
                    </a:lnB>
                    <a:solidFill>
                      <a:srgbClr val="F4F5F9"/>
                    </a:solidFill>
                  </a:tcPr>
                </a:tc>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Posse Presa</a:t>
                      </a:r>
                      <a:endParaRPr sz="1200" u="none" cap="none" strike="noStrike">
                        <a:latin typeface="Inter"/>
                        <a:ea typeface="Inter"/>
                        <a:cs typeface="Inter"/>
                        <a:sym typeface="Inter"/>
                      </a:endParaRPr>
                    </a:p>
                  </a:txBody>
                  <a:tcPr marT="76200" marB="76200" marR="101600" marL="101600">
                    <a:lnL cap="flat" cmpd="sng" w="12700">
                      <a:solidFill>
                        <a:srgbClr val="C3C4C6"/>
                      </a:solidFill>
                      <a:prstDash val="solid"/>
                      <a:round/>
                      <a:headEnd len="sm" w="sm" type="none"/>
                      <a:tailEnd len="sm" w="sm" type="none"/>
                    </a:lnL>
                    <a:lnR cap="flat" cmpd="sng" w="12700">
                      <a:solidFill>
                        <a:srgbClr val="C3C4C6"/>
                      </a:solidFill>
                      <a:prstDash val="solid"/>
                      <a:round/>
                      <a:headEnd len="sm" w="sm" type="none"/>
                      <a:tailEnd len="sm" w="sm" type="none"/>
                    </a:lnR>
                    <a:lnT cap="flat" cmpd="sng" w="12700">
                      <a:solidFill>
                        <a:srgbClr val="CACACA"/>
                      </a:solidFill>
                      <a:prstDash val="solid"/>
                      <a:round/>
                      <a:headEnd len="sm" w="sm" type="none"/>
                      <a:tailEnd len="sm" w="sm" type="none"/>
                    </a:lnT>
                    <a:lnB cap="flat" cmpd="sng" w="12700">
                      <a:solidFill>
                        <a:srgbClr val="C3C4C6"/>
                      </a:solidFill>
                      <a:prstDash val="solid"/>
                      <a:round/>
                      <a:headEnd len="sm" w="sm" type="none"/>
                      <a:tailEnd len="sm" w="sm" type="none"/>
                    </a:lnB>
                    <a:solidFill>
                      <a:srgbClr val="F4F5F9"/>
                    </a:solidFill>
                  </a:tcPr>
                </a:tc>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Maver, Martínez B.</a:t>
                      </a:r>
                      <a:endParaRPr sz="1200" u="none" cap="none" strike="noStrike">
                        <a:latin typeface="Inter"/>
                        <a:ea typeface="Inter"/>
                        <a:cs typeface="Inter"/>
                        <a:sym typeface="Inter"/>
                      </a:endParaRPr>
                    </a:p>
                  </a:txBody>
                  <a:tcPr marT="76200" marB="76200" marR="101600" marL="101600">
                    <a:lnL cap="flat" cmpd="sng" w="12700">
                      <a:solidFill>
                        <a:srgbClr val="C3C4C6"/>
                      </a:solidFill>
                      <a:prstDash val="solid"/>
                      <a:round/>
                      <a:headEnd len="sm" w="sm" type="none"/>
                      <a:tailEnd len="sm" w="sm" type="none"/>
                    </a:lnL>
                    <a:lnR cap="flat" cmpd="sng" w="12700">
                      <a:solidFill>
                        <a:srgbClr val="C3C4C6"/>
                      </a:solidFill>
                      <a:prstDash val="solid"/>
                      <a:round/>
                      <a:headEnd len="sm" w="sm" type="none"/>
                      <a:tailEnd len="sm" w="sm" type="none"/>
                    </a:lnR>
                    <a:lnT cap="flat" cmpd="sng" w="12700">
                      <a:solidFill>
                        <a:srgbClr val="CACACA"/>
                      </a:solidFill>
                      <a:prstDash val="solid"/>
                      <a:round/>
                      <a:headEnd len="sm" w="sm" type="none"/>
                      <a:tailEnd len="sm" w="sm" type="none"/>
                    </a:lnT>
                    <a:lnB cap="flat" cmpd="sng" w="12700">
                      <a:solidFill>
                        <a:srgbClr val="C3C4C6"/>
                      </a:solidFill>
                      <a:prstDash val="solid"/>
                      <a:round/>
                      <a:headEnd len="sm" w="sm" type="none"/>
                      <a:tailEnd len="sm" w="sm" type="none"/>
                    </a:lnB>
                    <a:solidFill>
                      <a:srgbClr val="F4F5F9"/>
                    </a:solidFill>
                  </a:tcPr>
                </a:tc>
              </a:tr>
              <a:tr h="591750">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Tablero con usuarios</a:t>
                      </a:r>
                      <a:endParaRPr sz="1200" u="none" cap="none" strike="noStrike">
                        <a:latin typeface="Inter"/>
                        <a:ea typeface="Inter"/>
                        <a:cs typeface="Inter"/>
                        <a:sym typeface="Inter"/>
                      </a:endParaRPr>
                    </a:p>
                  </a:txBody>
                  <a:tcPr marT="76200" marB="76200" marR="101600" marL="101600">
                    <a:lnL cap="flat" cmpd="sng" w="9525">
                      <a:solidFill>
                        <a:srgbClr val="000000">
                          <a:alpha val="0"/>
                        </a:srgbClr>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C3C4C6"/>
                      </a:solidFill>
                      <a:prstDash val="solid"/>
                      <a:round/>
                      <a:headEnd len="sm" w="sm" type="none"/>
                      <a:tailEnd len="sm" w="sm" type="none"/>
                    </a:lnT>
                    <a:lnB cap="flat" cmpd="sng" w="12700">
                      <a:solidFill>
                        <a:srgbClr val="CACACA"/>
                      </a:solidFill>
                      <a:prstDash val="solid"/>
                      <a:round/>
                      <a:headEnd len="sm" w="sm" type="none"/>
                      <a:tailEnd len="sm" w="sm" type="none"/>
                    </a:lnB>
                    <a:solidFill>
                      <a:srgbClr val="FDFDFE"/>
                    </a:solidFill>
                  </a:tcPr>
                </a:tc>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Gerente de Producción</a:t>
                      </a:r>
                      <a:endParaRPr sz="1200" u="none" cap="none" strike="noStrike">
                        <a:latin typeface="Inter"/>
                        <a:ea typeface="Inter"/>
                        <a:cs typeface="Inter"/>
                        <a:sym typeface="Inter"/>
                      </a:endParaRPr>
                    </a:p>
                  </a:txBody>
                  <a:tcPr marT="76200" marB="76200" marR="101600" marL="101600">
                    <a:lnL cap="flat" cmpd="sng" w="12700">
                      <a:solidFill>
                        <a:srgbClr val="CACACA"/>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C3C4C6"/>
                      </a:solidFill>
                      <a:prstDash val="solid"/>
                      <a:round/>
                      <a:headEnd len="sm" w="sm" type="none"/>
                      <a:tailEnd len="sm" w="sm" type="none"/>
                    </a:lnT>
                    <a:lnB cap="flat" cmpd="sng" w="12700">
                      <a:solidFill>
                        <a:srgbClr val="CACACA"/>
                      </a:solidFill>
                      <a:prstDash val="solid"/>
                      <a:round/>
                      <a:headEnd len="sm" w="sm" type="none"/>
                      <a:tailEnd len="sm" w="sm" type="none"/>
                    </a:lnB>
                    <a:solidFill>
                      <a:srgbClr val="FDFDFE"/>
                    </a:solidFill>
                  </a:tcPr>
                </a:tc>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Pisera</a:t>
                      </a:r>
                      <a:endParaRPr sz="1200" u="none" cap="none" strike="noStrike">
                        <a:latin typeface="Inter"/>
                        <a:ea typeface="Inter"/>
                        <a:cs typeface="Inter"/>
                        <a:sym typeface="Inter"/>
                      </a:endParaRPr>
                    </a:p>
                  </a:txBody>
                  <a:tcPr marT="76200" marB="76200" marR="101600" marL="101600">
                    <a:lnL cap="flat" cmpd="sng" w="12700">
                      <a:solidFill>
                        <a:srgbClr val="CACACA"/>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C3C4C6"/>
                      </a:solidFill>
                      <a:prstDash val="solid"/>
                      <a:round/>
                      <a:headEnd len="sm" w="sm" type="none"/>
                      <a:tailEnd len="sm" w="sm" type="none"/>
                    </a:lnT>
                    <a:lnB cap="flat" cmpd="sng" w="12700">
                      <a:solidFill>
                        <a:srgbClr val="CACACA"/>
                      </a:solidFill>
                      <a:prstDash val="solid"/>
                      <a:round/>
                      <a:headEnd len="sm" w="sm" type="none"/>
                      <a:tailEnd len="sm" w="sm" type="none"/>
                    </a:lnB>
                    <a:solidFill>
                      <a:srgbClr val="FDFDFE"/>
                    </a:solidFill>
                  </a:tcPr>
                </a:tc>
                <a:tc>
                  <a:txBody>
                    <a:bodyPr/>
                    <a:lstStyle/>
                    <a:p>
                      <a:pPr indent="0" lvl="0" marL="0" marR="0" rtl="0" algn="l">
                        <a:lnSpc>
                          <a:spcPct val="140000"/>
                        </a:lnSpc>
                        <a:spcBef>
                          <a:spcPts val="0"/>
                        </a:spcBef>
                        <a:spcAft>
                          <a:spcPts val="0"/>
                        </a:spcAft>
                        <a:buClr>
                          <a:srgbClr val="0F2743"/>
                        </a:buClr>
                        <a:buSzPts val="1200"/>
                        <a:buFont typeface="Inter"/>
                        <a:buNone/>
                      </a:pPr>
                      <a:r>
                        <a:rPr lang="en-US" sz="1200" u="none" cap="none" strike="noStrike">
                          <a:solidFill>
                            <a:srgbClr val="0F2743"/>
                          </a:solidFill>
                          <a:latin typeface="Inter"/>
                          <a:ea typeface="Inter"/>
                          <a:cs typeface="Inter"/>
                          <a:sym typeface="Inter"/>
                        </a:rPr>
                        <a:t>Riego, Datos y BI</a:t>
                      </a:r>
                      <a:endParaRPr sz="1200" u="none" cap="none" strike="noStrike">
                        <a:latin typeface="Inter"/>
                        <a:ea typeface="Inter"/>
                        <a:cs typeface="Inter"/>
                        <a:sym typeface="Inter"/>
                      </a:endParaRPr>
                    </a:p>
                  </a:txBody>
                  <a:tcPr marT="76200" marB="76200" marR="101600" marL="101600">
                    <a:lnL cap="flat" cmpd="sng" w="12700">
                      <a:solidFill>
                        <a:srgbClr val="CACACA"/>
                      </a:solidFill>
                      <a:prstDash val="solid"/>
                      <a:round/>
                      <a:headEnd len="sm" w="sm" type="none"/>
                      <a:tailEnd len="sm" w="sm" type="none"/>
                    </a:lnL>
                    <a:lnR cap="flat" cmpd="sng" w="12700">
                      <a:solidFill>
                        <a:srgbClr val="CACACA"/>
                      </a:solidFill>
                      <a:prstDash val="solid"/>
                      <a:round/>
                      <a:headEnd len="sm" w="sm" type="none"/>
                      <a:tailEnd len="sm" w="sm" type="none"/>
                    </a:lnR>
                    <a:lnT cap="flat" cmpd="sng" w="12700">
                      <a:solidFill>
                        <a:srgbClr val="C3C4C6"/>
                      </a:solidFill>
                      <a:prstDash val="solid"/>
                      <a:round/>
                      <a:headEnd len="sm" w="sm" type="none"/>
                      <a:tailEnd len="sm" w="sm" type="none"/>
                    </a:lnT>
                    <a:lnB cap="flat" cmpd="sng" w="12700">
                      <a:solidFill>
                        <a:srgbClr val="CACACA"/>
                      </a:solidFill>
                      <a:prstDash val="solid"/>
                      <a:round/>
                      <a:headEnd len="sm" w="sm" type="none"/>
                      <a:tailEnd len="sm" w="sm" type="none"/>
                    </a:lnB>
                    <a:solidFill>
                      <a:srgbClr val="FDFDFE"/>
                    </a:solidFill>
                  </a:tcPr>
                </a:tc>
              </a:tr>
            </a:tbl>
          </a:graphicData>
        </a:graphic>
      </p:graphicFrame>
      <p:sp>
        <p:nvSpPr>
          <p:cNvPr id="71" name="Google Shape;71;p5"/>
          <p:cNvSpPr/>
          <p:nvPr/>
        </p:nvSpPr>
        <p:spPr>
          <a:xfrm>
            <a:off x="6527800" y="5395714"/>
            <a:ext cx="4996942"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Un único aprobador por decisión. Matriz RACI completa en el documento.</a:t>
            </a:r>
            <a:endParaRPr sz="1200">
              <a:solidFill>
                <a:schemeClr val="dk1"/>
              </a:solidFill>
              <a:latin typeface="Inter"/>
              <a:ea typeface="Inter"/>
              <a:cs typeface="Inter"/>
              <a:sym typeface="Inter"/>
            </a:endParaRPr>
          </a:p>
        </p:txBody>
      </p:sp>
      <p:sp>
        <p:nvSpPr>
          <p:cNvPr id="72" name="Google Shape;72;p5"/>
          <p:cNvSpPr/>
          <p:nvPr/>
        </p:nvSpPr>
        <p:spPr>
          <a:xfrm>
            <a:off x="9093200" y="6238280"/>
            <a:ext cx="558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02</a:t>
            </a:r>
            <a:endParaRPr sz="1200">
              <a:solidFill>
                <a:schemeClr val="dk1"/>
              </a:solidFill>
              <a:latin typeface="Inter"/>
              <a:ea typeface="Inter"/>
              <a:cs typeface="Inter"/>
              <a:sym typeface="Inter"/>
            </a:endParaRPr>
          </a:p>
        </p:txBody>
      </p:sp>
      <p:pic>
        <p:nvPicPr>
          <p:cNvPr descr="Logotipo de Datum Sur" id="73" name="Google Shape;73;p5"/>
          <p:cNvPicPr preferRelativeResize="0"/>
          <p:nvPr/>
        </p:nvPicPr>
        <p:blipFill rotWithShape="1">
          <a:blip r:embed="rId3">
            <a:alphaModFix/>
          </a:blip>
          <a:srcRect b="-584" l="0" r="0" t="-584"/>
          <a:stretch/>
        </p:blipFill>
        <p:spPr>
          <a:xfrm>
            <a:off x="10617200" y="6223000"/>
            <a:ext cx="762000" cy="279400"/>
          </a:xfrm>
          <a:prstGeom prst="rect">
            <a:avLst/>
          </a:prstGeom>
          <a:noFill/>
          <a:ln>
            <a:noFill/>
          </a:ln>
        </p:spPr>
      </p:pic>
      <p:pic>
        <p:nvPicPr>
          <p:cNvPr descr="logo-uade » CEDOL" id="74" name="Google Shape;74;p5"/>
          <p:cNvPicPr preferRelativeResize="0"/>
          <p:nvPr/>
        </p:nvPicPr>
        <p:blipFill rotWithShape="1">
          <a:blip r:embed="rId4">
            <a:alphaModFix/>
          </a:blip>
          <a:srcRect b="0" l="0" r="0" t="0"/>
          <a:stretch/>
        </p:blipFill>
        <p:spPr>
          <a:xfrm>
            <a:off x="9862481" y="6160518"/>
            <a:ext cx="703920" cy="4037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E"/>
        </a:solidFill>
      </p:bgPr>
    </p:bg>
    <p:spTree>
      <p:nvGrpSpPr>
        <p:cNvPr id="79" name="Shape 79"/>
        <p:cNvGrpSpPr/>
        <p:nvPr/>
      </p:nvGrpSpPr>
      <p:grpSpPr>
        <a:xfrm>
          <a:off x="0" y="0"/>
          <a:ext cx="0" cy="0"/>
          <a:chOff x="0" y="0"/>
          <a:chExt cx="0" cy="0"/>
        </a:xfrm>
      </p:grpSpPr>
      <p:sp>
        <p:nvSpPr>
          <p:cNvPr id="80" name="Google Shape;80;p6"/>
          <p:cNvSpPr/>
          <p:nvPr/>
        </p:nvSpPr>
        <p:spPr>
          <a:xfrm>
            <a:off x="812800" y="798810"/>
            <a:ext cx="304800" cy="38100"/>
          </a:xfrm>
          <a:prstGeom prst="roundRect">
            <a:avLst>
              <a:gd fmla="val 5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81" name="Google Shape;81;p6"/>
          <p:cNvSpPr/>
          <p:nvPr/>
        </p:nvSpPr>
        <p:spPr>
          <a:xfrm>
            <a:off x="1219200" y="711200"/>
            <a:ext cx="135886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EL DESAFÍO</a:t>
            </a:r>
            <a:endParaRPr sz="1200">
              <a:solidFill>
                <a:schemeClr val="dk1"/>
              </a:solidFill>
              <a:latin typeface="Inter"/>
              <a:ea typeface="Inter"/>
              <a:cs typeface="Inter"/>
              <a:sym typeface="Inter"/>
            </a:endParaRPr>
          </a:p>
        </p:txBody>
      </p:sp>
      <p:sp>
        <p:nvSpPr>
          <p:cNvPr id="82" name="Google Shape;82;p6"/>
          <p:cNvSpPr txBox="1"/>
          <p:nvPr>
            <p:ph type="title"/>
          </p:nvPr>
        </p:nvSpPr>
        <p:spPr>
          <a:xfrm>
            <a:off x="812800" y="10515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2743"/>
              </a:buClr>
              <a:buSzPts val="3000"/>
              <a:buFont typeface="Inter"/>
              <a:buNone/>
            </a:pPr>
            <a:r>
              <a:rPr b="1" i="0" lang="en-US" sz="3000">
                <a:solidFill>
                  <a:srgbClr val="0F2743"/>
                </a:solidFill>
                <a:latin typeface="Inter"/>
                <a:ea typeface="Inter"/>
                <a:cs typeface="Inter"/>
                <a:sym typeface="Inter"/>
              </a:rPr>
              <a:t>Cerca del 14 % de sus datos tiene problemas</a:t>
            </a:r>
            <a:endParaRPr sz="3000"/>
          </a:p>
        </p:txBody>
      </p:sp>
      <p:sp>
        <p:nvSpPr>
          <p:cNvPr id="83" name="Google Shape;83;p6"/>
          <p:cNvSpPr/>
          <p:nvPr/>
        </p:nvSpPr>
        <p:spPr>
          <a:xfrm>
            <a:off x="815975" y="1778595"/>
            <a:ext cx="2635250" cy="1309291"/>
          </a:xfrm>
          <a:prstGeom prst="roundRect">
            <a:avLst>
              <a:gd fmla="val 5577"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84" name="Google Shape;84;p6"/>
          <p:cNvSpPr/>
          <p:nvPr/>
        </p:nvSpPr>
        <p:spPr>
          <a:xfrm>
            <a:off x="1022350" y="1984970"/>
            <a:ext cx="2289175" cy="444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743"/>
              </a:buClr>
              <a:buSzPts val="3000"/>
              <a:buFont typeface="Inter"/>
              <a:buNone/>
            </a:pPr>
            <a:r>
              <a:rPr b="1" lang="en-US" sz="3000">
                <a:solidFill>
                  <a:srgbClr val="0F2743"/>
                </a:solidFill>
                <a:latin typeface="Inter"/>
                <a:ea typeface="Inter"/>
                <a:cs typeface="Inter"/>
                <a:sym typeface="Inter"/>
              </a:rPr>
              <a:t>8</a:t>
            </a:r>
            <a:endParaRPr sz="3000">
              <a:solidFill>
                <a:schemeClr val="dk1"/>
              </a:solidFill>
              <a:latin typeface="Inter"/>
              <a:ea typeface="Inter"/>
              <a:cs typeface="Inter"/>
              <a:sym typeface="Inter"/>
            </a:endParaRPr>
          </a:p>
        </p:txBody>
      </p:sp>
      <p:sp>
        <p:nvSpPr>
          <p:cNvPr id="85" name="Google Shape;85;p6"/>
          <p:cNvSpPr/>
          <p:nvPr/>
        </p:nvSpPr>
        <p:spPr>
          <a:xfrm>
            <a:off x="1022350" y="2454870"/>
            <a:ext cx="2289175"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campos en Entre Ríos, Santa Fe y Córdoba</a:t>
            </a:r>
            <a:endParaRPr sz="1200">
              <a:solidFill>
                <a:schemeClr val="dk1"/>
              </a:solidFill>
              <a:latin typeface="Inter"/>
              <a:ea typeface="Inter"/>
              <a:cs typeface="Inter"/>
              <a:sym typeface="Inter"/>
            </a:endParaRPr>
          </a:p>
        </p:txBody>
      </p:sp>
      <p:sp>
        <p:nvSpPr>
          <p:cNvPr id="86" name="Google Shape;86;p6"/>
          <p:cNvSpPr/>
          <p:nvPr/>
        </p:nvSpPr>
        <p:spPr>
          <a:xfrm>
            <a:off x="3584575" y="1778595"/>
            <a:ext cx="2635250" cy="1309291"/>
          </a:xfrm>
          <a:prstGeom prst="roundRect">
            <a:avLst>
              <a:gd fmla="val 5577"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87" name="Google Shape;87;p6"/>
          <p:cNvSpPr/>
          <p:nvPr/>
        </p:nvSpPr>
        <p:spPr>
          <a:xfrm>
            <a:off x="3790950" y="1984970"/>
            <a:ext cx="2289175" cy="444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743"/>
              </a:buClr>
              <a:buSzPts val="3000"/>
              <a:buFont typeface="Inter"/>
              <a:buNone/>
            </a:pPr>
            <a:r>
              <a:rPr b="1" lang="en-US" sz="3000">
                <a:solidFill>
                  <a:srgbClr val="0F2743"/>
                </a:solidFill>
                <a:latin typeface="Inter"/>
                <a:ea typeface="Inter"/>
                <a:cs typeface="Inter"/>
                <a:sym typeface="Inter"/>
              </a:rPr>
              <a:t>20.000</a:t>
            </a:r>
            <a:endParaRPr sz="3000">
              <a:solidFill>
                <a:schemeClr val="dk1"/>
              </a:solidFill>
              <a:latin typeface="Inter"/>
              <a:ea typeface="Inter"/>
              <a:cs typeface="Inter"/>
              <a:sym typeface="Inter"/>
            </a:endParaRPr>
          </a:p>
        </p:txBody>
      </p:sp>
      <p:sp>
        <p:nvSpPr>
          <p:cNvPr id="88" name="Google Shape;88;p6"/>
          <p:cNvSpPr/>
          <p:nvPr/>
        </p:nvSpPr>
        <p:spPr>
          <a:xfrm>
            <a:off x="3790950" y="2454870"/>
            <a:ext cx="2289175"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hectáreas de soja, maíz, trigo y girasol</a:t>
            </a:r>
            <a:endParaRPr sz="1200">
              <a:solidFill>
                <a:schemeClr val="dk1"/>
              </a:solidFill>
              <a:latin typeface="Inter"/>
              <a:ea typeface="Inter"/>
              <a:cs typeface="Inter"/>
              <a:sym typeface="Inter"/>
            </a:endParaRPr>
          </a:p>
        </p:txBody>
      </p:sp>
      <p:sp>
        <p:nvSpPr>
          <p:cNvPr id="89" name="Google Shape;89;p6"/>
          <p:cNvSpPr/>
          <p:nvPr/>
        </p:nvSpPr>
        <p:spPr>
          <a:xfrm>
            <a:off x="815975" y="3221236"/>
            <a:ext cx="2635250" cy="1309291"/>
          </a:xfrm>
          <a:prstGeom prst="roundRect">
            <a:avLst>
              <a:gd fmla="val 5577"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90" name="Google Shape;90;p6"/>
          <p:cNvSpPr/>
          <p:nvPr/>
        </p:nvSpPr>
        <p:spPr>
          <a:xfrm>
            <a:off x="1022350" y="3427611"/>
            <a:ext cx="2289175" cy="444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743"/>
              </a:buClr>
              <a:buSzPts val="3000"/>
              <a:buFont typeface="Inter"/>
              <a:buNone/>
            </a:pPr>
            <a:r>
              <a:rPr b="1" lang="en-US" sz="3000">
                <a:solidFill>
                  <a:srgbClr val="0F2743"/>
                </a:solidFill>
                <a:latin typeface="Inter"/>
                <a:ea typeface="Inter"/>
                <a:cs typeface="Inter"/>
                <a:sym typeface="Inter"/>
              </a:rPr>
              <a:t>~200</a:t>
            </a:r>
            <a:endParaRPr sz="3000">
              <a:solidFill>
                <a:schemeClr val="dk1"/>
              </a:solidFill>
              <a:latin typeface="Inter"/>
              <a:ea typeface="Inter"/>
              <a:cs typeface="Inter"/>
              <a:sym typeface="Inter"/>
            </a:endParaRPr>
          </a:p>
        </p:txBody>
      </p:sp>
      <p:sp>
        <p:nvSpPr>
          <p:cNvPr id="91" name="Google Shape;91;p6"/>
          <p:cNvSpPr/>
          <p:nvPr/>
        </p:nvSpPr>
        <p:spPr>
          <a:xfrm>
            <a:off x="1022350" y="3897511"/>
            <a:ext cx="2289175"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sensores IoT que miden cada 15 minutos</a:t>
            </a:r>
            <a:endParaRPr sz="1200">
              <a:solidFill>
                <a:schemeClr val="dk1"/>
              </a:solidFill>
              <a:latin typeface="Inter"/>
              <a:ea typeface="Inter"/>
              <a:cs typeface="Inter"/>
              <a:sym typeface="Inter"/>
            </a:endParaRPr>
          </a:p>
        </p:txBody>
      </p:sp>
      <p:sp>
        <p:nvSpPr>
          <p:cNvPr id="92" name="Google Shape;92;p6"/>
          <p:cNvSpPr/>
          <p:nvPr/>
        </p:nvSpPr>
        <p:spPr>
          <a:xfrm>
            <a:off x="3584575" y="3221236"/>
            <a:ext cx="2635250" cy="1309291"/>
          </a:xfrm>
          <a:prstGeom prst="roundRect">
            <a:avLst>
              <a:gd fmla="val 5577"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93" name="Google Shape;93;p6"/>
          <p:cNvSpPr/>
          <p:nvPr/>
        </p:nvSpPr>
        <p:spPr>
          <a:xfrm>
            <a:off x="3790950" y="3427611"/>
            <a:ext cx="2289175" cy="444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743"/>
              </a:buClr>
              <a:buSzPts val="3000"/>
              <a:buFont typeface="Inter"/>
              <a:buNone/>
            </a:pPr>
            <a:r>
              <a:rPr b="1" lang="en-US" sz="3000">
                <a:solidFill>
                  <a:srgbClr val="0F2743"/>
                </a:solidFill>
                <a:latin typeface="Inter"/>
                <a:ea typeface="Inter"/>
                <a:cs typeface="Inter"/>
                <a:sym typeface="Inter"/>
              </a:rPr>
              <a:t>19.200</a:t>
            </a:r>
            <a:endParaRPr sz="3000">
              <a:solidFill>
                <a:schemeClr val="dk1"/>
              </a:solidFill>
              <a:latin typeface="Inter"/>
              <a:ea typeface="Inter"/>
              <a:cs typeface="Inter"/>
              <a:sym typeface="Inter"/>
            </a:endParaRPr>
          </a:p>
        </p:txBody>
      </p:sp>
      <p:sp>
        <p:nvSpPr>
          <p:cNvPr id="94" name="Google Shape;94;p6"/>
          <p:cNvSpPr/>
          <p:nvPr/>
        </p:nvSpPr>
        <p:spPr>
          <a:xfrm>
            <a:off x="3790950" y="3897511"/>
            <a:ext cx="2289175"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registros por día: más de 7 millones al año</a:t>
            </a:r>
            <a:endParaRPr sz="1200">
              <a:solidFill>
                <a:schemeClr val="dk1"/>
              </a:solidFill>
              <a:latin typeface="Inter"/>
              <a:ea typeface="Inter"/>
              <a:cs typeface="Inter"/>
              <a:sym typeface="Inter"/>
            </a:endParaRPr>
          </a:p>
        </p:txBody>
      </p:sp>
      <p:sp>
        <p:nvSpPr>
          <p:cNvPr id="95" name="Google Shape;95;p6"/>
          <p:cNvSpPr/>
          <p:nvPr/>
        </p:nvSpPr>
        <p:spPr>
          <a:xfrm>
            <a:off x="812800" y="4660702"/>
            <a:ext cx="1703189" cy="289520"/>
          </a:xfrm>
          <a:custGeom>
            <a:rect b="b" l="l" r="r" t="t"/>
            <a:pathLst>
              <a:path extrusionOk="0" h="289520" w="1703189">
                <a:moveTo>
                  <a:pt x="144760" y="0"/>
                </a:moveTo>
                <a:lnTo>
                  <a:pt x="1558429" y="0"/>
                </a:lnTo>
                <a:cubicBezTo>
                  <a:pt x="1596822" y="0"/>
                  <a:pt x="1633642" y="15251"/>
                  <a:pt x="1660790" y="42399"/>
                </a:cubicBezTo>
                <a:cubicBezTo>
                  <a:pt x="1687938" y="69547"/>
                  <a:pt x="1703189" y="106367"/>
                  <a:pt x="1703189" y="144760"/>
                </a:cubicBezTo>
                <a:lnTo>
                  <a:pt x="1703189" y="144760"/>
                </a:lnTo>
                <a:cubicBezTo>
                  <a:pt x="1703189" y="224709"/>
                  <a:pt x="1638378" y="289520"/>
                  <a:pt x="1558429" y="289520"/>
                </a:cubicBezTo>
                <a:lnTo>
                  <a:pt x="144760" y="289520"/>
                </a:lnTo>
                <a:cubicBezTo>
                  <a:pt x="64811" y="289520"/>
                  <a:pt x="0" y="224709"/>
                  <a:pt x="0" y="144760"/>
                </a:cubicBezTo>
                <a:lnTo>
                  <a:pt x="0" y="144760"/>
                </a:lnTo>
                <a:cubicBezTo>
                  <a:pt x="0" y="64811"/>
                  <a:pt x="64811" y="0"/>
                  <a:pt x="144760" y="0"/>
                </a:cubicBezTo>
                <a:close/>
              </a:path>
            </a:pathLst>
          </a:custGeom>
          <a:solidFill>
            <a:srgbClr val="E6EBF2"/>
          </a:solid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0F2743"/>
              </a:buClr>
              <a:buSzPts val="1200"/>
              <a:buFont typeface="Inter"/>
              <a:buNone/>
            </a:pPr>
            <a:r>
              <a:rPr b="1" lang="en-US" sz="1200">
                <a:solidFill>
                  <a:srgbClr val="0F2743"/>
                </a:solidFill>
                <a:latin typeface="Inter"/>
                <a:ea typeface="Inter"/>
                <a:cs typeface="Inter"/>
                <a:sym typeface="Inter"/>
              </a:rPr>
              <a:t>Relevado del cliente</a:t>
            </a:r>
            <a:endParaRPr sz="1200">
              <a:solidFill>
                <a:schemeClr val="dk1"/>
              </a:solidFill>
              <a:latin typeface="Inter"/>
              <a:ea typeface="Inter"/>
              <a:cs typeface="Inter"/>
              <a:sym typeface="Inter"/>
            </a:endParaRPr>
          </a:p>
        </p:txBody>
      </p:sp>
      <p:sp>
        <p:nvSpPr>
          <p:cNvPr id="96" name="Google Shape;96;p6"/>
          <p:cNvSpPr/>
          <p:nvPr/>
        </p:nvSpPr>
        <p:spPr>
          <a:xfrm>
            <a:off x="6426200" y="1775420"/>
            <a:ext cx="4953000" cy="3682603"/>
          </a:xfrm>
          <a:prstGeom prst="roundRect">
            <a:avLst>
              <a:gd fmla="val 2069" name="adj"/>
            </a:avLst>
          </a:prstGeom>
          <a:solidFill>
            <a:srgbClr val="0F27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97" name="Google Shape;97;p6"/>
          <p:cNvSpPr/>
          <p:nvPr/>
        </p:nvSpPr>
        <p:spPr>
          <a:xfrm>
            <a:off x="6731000" y="2080220"/>
            <a:ext cx="4473702" cy="5588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E3A82B"/>
              </a:buClr>
              <a:buSzPts val="4000"/>
              <a:buFont typeface="Inter"/>
              <a:buNone/>
            </a:pPr>
            <a:r>
              <a:rPr b="1" lang="en-US" sz="4000">
                <a:solidFill>
                  <a:srgbClr val="E3A82B"/>
                </a:solidFill>
                <a:latin typeface="Inter"/>
                <a:ea typeface="Inter"/>
                <a:cs typeface="Inter"/>
                <a:sym typeface="Inter"/>
              </a:rPr>
              <a:t>14 %</a:t>
            </a:r>
            <a:endParaRPr sz="4000">
              <a:solidFill>
                <a:schemeClr val="dk1"/>
              </a:solidFill>
              <a:latin typeface="Inter"/>
              <a:ea typeface="Inter"/>
              <a:cs typeface="Inter"/>
              <a:sym typeface="Inter"/>
            </a:endParaRPr>
          </a:p>
        </p:txBody>
      </p:sp>
      <p:sp>
        <p:nvSpPr>
          <p:cNvPr id="98" name="Google Shape;98;p6"/>
          <p:cNvSpPr/>
          <p:nvPr/>
        </p:nvSpPr>
        <p:spPr>
          <a:xfrm>
            <a:off x="6731000" y="2766020"/>
            <a:ext cx="4473702" cy="52308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400"/>
              <a:buFont typeface="Inter"/>
              <a:buNone/>
            </a:pPr>
            <a:r>
              <a:rPr lang="en-US" sz="1400">
                <a:solidFill>
                  <a:srgbClr val="F4F5F9"/>
                </a:solidFill>
                <a:latin typeface="Inter"/>
                <a:ea typeface="Inter"/>
                <a:cs typeface="Inter"/>
                <a:sym typeface="Inter"/>
              </a:rPr>
              <a:t>≈ 2.700 registros por día con algún problema, que los tableros usan igual que los datos buenos.</a:t>
            </a:r>
            <a:endParaRPr sz="1400">
              <a:solidFill>
                <a:schemeClr val="dk1"/>
              </a:solidFill>
              <a:latin typeface="Inter"/>
              <a:ea typeface="Inter"/>
              <a:cs typeface="Inter"/>
              <a:sym typeface="Inter"/>
            </a:endParaRPr>
          </a:p>
        </p:txBody>
      </p:sp>
      <p:sp>
        <p:nvSpPr>
          <p:cNvPr id="99" name="Google Shape;99;p6"/>
          <p:cNvSpPr/>
          <p:nvPr/>
        </p:nvSpPr>
        <p:spPr>
          <a:xfrm>
            <a:off x="6731000" y="3416102"/>
            <a:ext cx="2276094"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Humedad de suelo faltante o fuera de rango</a:t>
            </a:r>
            <a:endParaRPr sz="1200">
              <a:solidFill>
                <a:schemeClr val="dk1"/>
              </a:solidFill>
              <a:latin typeface="Inter"/>
              <a:ea typeface="Inter"/>
              <a:cs typeface="Inter"/>
              <a:sym typeface="Inter"/>
            </a:endParaRPr>
          </a:p>
        </p:txBody>
      </p:sp>
      <p:sp>
        <p:nvSpPr>
          <p:cNvPr id="100" name="Google Shape;100;p6"/>
          <p:cNvSpPr/>
          <p:nvPr/>
        </p:nvSpPr>
        <p:spPr>
          <a:xfrm>
            <a:off x="9042400" y="3565922"/>
            <a:ext cx="1524000" cy="127000"/>
          </a:xfrm>
          <a:prstGeom prst="roundRect">
            <a:avLst>
              <a:gd fmla="val 2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01" name="Google Shape;101;p6"/>
          <p:cNvSpPr/>
          <p:nvPr/>
        </p:nvSpPr>
        <p:spPr>
          <a:xfrm>
            <a:off x="10617200" y="3522762"/>
            <a:ext cx="4572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F4F5F9"/>
              </a:buClr>
              <a:buSzPts val="1200"/>
              <a:buFont typeface="Inter"/>
              <a:buNone/>
            </a:pPr>
            <a:r>
              <a:rPr b="1" lang="en-US" sz="1200">
                <a:solidFill>
                  <a:srgbClr val="F4F5F9"/>
                </a:solidFill>
                <a:latin typeface="Inter"/>
                <a:ea typeface="Inter"/>
                <a:cs typeface="Inter"/>
                <a:sym typeface="Inter"/>
              </a:rPr>
              <a:t>6 %</a:t>
            </a:r>
            <a:endParaRPr sz="1200">
              <a:solidFill>
                <a:schemeClr val="dk1"/>
              </a:solidFill>
              <a:latin typeface="Inter"/>
              <a:ea typeface="Inter"/>
              <a:cs typeface="Inter"/>
              <a:sym typeface="Inter"/>
            </a:endParaRPr>
          </a:p>
        </p:txBody>
      </p:sp>
      <p:sp>
        <p:nvSpPr>
          <p:cNvPr id="102" name="Google Shape;102;p6"/>
          <p:cNvSpPr/>
          <p:nvPr/>
        </p:nvSpPr>
        <p:spPr>
          <a:xfrm>
            <a:off x="6731000" y="3918942"/>
            <a:ext cx="306095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Precipitaciones duplicadas</a:t>
            </a:r>
            <a:endParaRPr sz="1200">
              <a:solidFill>
                <a:schemeClr val="dk1"/>
              </a:solidFill>
              <a:latin typeface="Inter"/>
              <a:ea typeface="Inter"/>
              <a:cs typeface="Inter"/>
              <a:sym typeface="Inter"/>
            </a:endParaRPr>
          </a:p>
        </p:txBody>
      </p:sp>
      <p:sp>
        <p:nvSpPr>
          <p:cNvPr id="103" name="Google Shape;103;p6"/>
          <p:cNvSpPr/>
          <p:nvPr/>
        </p:nvSpPr>
        <p:spPr>
          <a:xfrm>
            <a:off x="9804400" y="3962102"/>
            <a:ext cx="762000" cy="127000"/>
          </a:xfrm>
          <a:prstGeom prst="roundRect">
            <a:avLst>
              <a:gd fmla="val 2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04" name="Google Shape;104;p6"/>
          <p:cNvSpPr/>
          <p:nvPr/>
        </p:nvSpPr>
        <p:spPr>
          <a:xfrm>
            <a:off x="10617200" y="3918942"/>
            <a:ext cx="4572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F4F5F9"/>
              </a:buClr>
              <a:buSzPts val="1200"/>
              <a:buFont typeface="Inter"/>
              <a:buNone/>
            </a:pPr>
            <a:r>
              <a:rPr b="1" lang="en-US" sz="1200">
                <a:solidFill>
                  <a:srgbClr val="F4F5F9"/>
                </a:solidFill>
                <a:latin typeface="Inter"/>
                <a:ea typeface="Inter"/>
                <a:cs typeface="Inter"/>
                <a:sym typeface="Inter"/>
              </a:rPr>
              <a:t>3 %</a:t>
            </a:r>
            <a:endParaRPr sz="1200">
              <a:solidFill>
                <a:schemeClr val="dk1"/>
              </a:solidFill>
              <a:latin typeface="Inter"/>
              <a:ea typeface="Inter"/>
              <a:cs typeface="Inter"/>
              <a:sym typeface="Inter"/>
            </a:endParaRPr>
          </a:p>
        </p:txBody>
      </p:sp>
      <p:sp>
        <p:nvSpPr>
          <p:cNvPr id="105" name="Google Shape;105;p6"/>
          <p:cNvSpPr/>
          <p:nvPr/>
        </p:nvSpPr>
        <p:spPr>
          <a:xfrm>
            <a:off x="6731000" y="4208463"/>
            <a:ext cx="306095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Períodos sin datos (sensor o conexión)</a:t>
            </a:r>
            <a:endParaRPr sz="1200">
              <a:solidFill>
                <a:schemeClr val="dk1"/>
              </a:solidFill>
              <a:latin typeface="Inter"/>
              <a:ea typeface="Inter"/>
              <a:cs typeface="Inter"/>
              <a:sym typeface="Inter"/>
            </a:endParaRPr>
          </a:p>
        </p:txBody>
      </p:sp>
      <p:sp>
        <p:nvSpPr>
          <p:cNvPr id="106" name="Google Shape;106;p6"/>
          <p:cNvSpPr/>
          <p:nvPr/>
        </p:nvSpPr>
        <p:spPr>
          <a:xfrm>
            <a:off x="9804400" y="4251623"/>
            <a:ext cx="762000" cy="127000"/>
          </a:xfrm>
          <a:prstGeom prst="roundRect">
            <a:avLst>
              <a:gd fmla="val 2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07" name="Google Shape;107;p6"/>
          <p:cNvSpPr/>
          <p:nvPr/>
        </p:nvSpPr>
        <p:spPr>
          <a:xfrm>
            <a:off x="10617200" y="4208463"/>
            <a:ext cx="4572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F4F5F9"/>
              </a:buClr>
              <a:buSzPts val="1200"/>
              <a:buFont typeface="Inter"/>
              <a:buNone/>
            </a:pPr>
            <a:r>
              <a:rPr b="1" lang="en-US" sz="1200">
                <a:solidFill>
                  <a:srgbClr val="F4F5F9"/>
                </a:solidFill>
                <a:latin typeface="Inter"/>
                <a:ea typeface="Inter"/>
                <a:cs typeface="Inter"/>
                <a:sym typeface="Inter"/>
              </a:rPr>
              <a:t>3 %</a:t>
            </a:r>
            <a:endParaRPr sz="1200">
              <a:solidFill>
                <a:schemeClr val="dk1"/>
              </a:solidFill>
              <a:latin typeface="Inter"/>
              <a:ea typeface="Inter"/>
              <a:cs typeface="Inter"/>
              <a:sym typeface="Inter"/>
            </a:endParaRPr>
          </a:p>
        </p:txBody>
      </p:sp>
      <p:sp>
        <p:nvSpPr>
          <p:cNvPr id="108" name="Google Shape;108;p6"/>
          <p:cNvSpPr/>
          <p:nvPr/>
        </p:nvSpPr>
        <p:spPr>
          <a:xfrm>
            <a:off x="6731000" y="4497983"/>
            <a:ext cx="332257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Otros: temperatura, unidades, fechas</a:t>
            </a:r>
            <a:endParaRPr sz="1200">
              <a:solidFill>
                <a:schemeClr val="dk1"/>
              </a:solidFill>
              <a:latin typeface="Inter"/>
              <a:ea typeface="Inter"/>
              <a:cs typeface="Inter"/>
              <a:sym typeface="Inter"/>
            </a:endParaRPr>
          </a:p>
        </p:txBody>
      </p:sp>
      <p:sp>
        <p:nvSpPr>
          <p:cNvPr id="109" name="Google Shape;109;p6"/>
          <p:cNvSpPr/>
          <p:nvPr/>
        </p:nvSpPr>
        <p:spPr>
          <a:xfrm>
            <a:off x="10058400" y="4541143"/>
            <a:ext cx="508000" cy="127000"/>
          </a:xfrm>
          <a:prstGeom prst="roundRect">
            <a:avLst>
              <a:gd fmla="val 2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10" name="Google Shape;110;p6"/>
          <p:cNvSpPr/>
          <p:nvPr/>
        </p:nvSpPr>
        <p:spPr>
          <a:xfrm>
            <a:off x="10617200" y="4497983"/>
            <a:ext cx="4572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F4F5F9"/>
              </a:buClr>
              <a:buSzPts val="1200"/>
              <a:buFont typeface="Inter"/>
              <a:buNone/>
            </a:pPr>
            <a:r>
              <a:rPr b="1" lang="en-US" sz="1200">
                <a:solidFill>
                  <a:srgbClr val="F4F5F9"/>
                </a:solidFill>
                <a:latin typeface="Inter"/>
                <a:ea typeface="Inter"/>
                <a:cs typeface="Inter"/>
                <a:sym typeface="Inter"/>
              </a:rPr>
              <a:t>2 %</a:t>
            </a:r>
            <a:endParaRPr sz="1200">
              <a:solidFill>
                <a:schemeClr val="dk1"/>
              </a:solidFill>
              <a:latin typeface="Inter"/>
              <a:ea typeface="Inter"/>
              <a:cs typeface="Inter"/>
              <a:sym typeface="Inter"/>
            </a:endParaRPr>
          </a:p>
        </p:txBody>
      </p:sp>
      <p:sp>
        <p:nvSpPr>
          <p:cNvPr id="111" name="Google Shape;111;p6"/>
          <p:cNvSpPr/>
          <p:nvPr/>
        </p:nvSpPr>
        <p:spPr>
          <a:xfrm>
            <a:off x="9093200" y="6238280"/>
            <a:ext cx="558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03</a:t>
            </a:r>
            <a:endParaRPr sz="1200">
              <a:solidFill>
                <a:schemeClr val="dk1"/>
              </a:solidFill>
              <a:latin typeface="Inter"/>
              <a:ea typeface="Inter"/>
              <a:cs typeface="Inter"/>
              <a:sym typeface="Inter"/>
            </a:endParaRPr>
          </a:p>
        </p:txBody>
      </p:sp>
      <p:pic>
        <p:nvPicPr>
          <p:cNvPr descr="Logotipo de Datum Sur" id="112" name="Google Shape;112;p6"/>
          <p:cNvPicPr preferRelativeResize="0"/>
          <p:nvPr/>
        </p:nvPicPr>
        <p:blipFill rotWithShape="1">
          <a:blip r:embed="rId3">
            <a:alphaModFix/>
          </a:blip>
          <a:srcRect b="-584" l="0" r="0" t="-584"/>
          <a:stretch/>
        </p:blipFill>
        <p:spPr>
          <a:xfrm>
            <a:off x="10617200" y="6214291"/>
            <a:ext cx="762000" cy="279400"/>
          </a:xfrm>
          <a:prstGeom prst="rect">
            <a:avLst/>
          </a:prstGeom>
          <a:noFill/>
          <a:ln>
            <a:noFill/>
          </a:ln>
        </p:spPr>
      </p:pic>
      <p:pic>
        <p:nvPicPr>
          <p:cNvPr descr="logo-uade » CEDOL" id="113" name="Google Shape;113;p6"/>
          <p:cNvPicPr preferRelativeResize="0"/>
          <p:nvPr/>
        </p:nvPicPr>
        <p:blipFill rotWithShape="1">
          <a:blip r:embed="rId4">
            <a:alphaModFix/>
          </a:blip>
          <a:srcRect b="0" l="0" r="0" t="0"/>
          <a:stretch/>
        </p:blipFill>
        <p:spPr>
          <a:xfrm>
            <a:off x="9862481" y="6160518"/>
            <a:ext cx="703920" cy="40371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E"/>
        </a:solidFill>
      </p:bgPr>
    </p:bg>
    <p:spTree>
      <p:nvGrpSpPr>
        <p:cNvPr id="118" name="Shape 118"/>
        <p:cNvGrpSpPr/>
        <p:nvPr/>
      </p:nvGrpSpPr>
      <p:grpSpPr>
        <a:xfrm>
          <a:off x="0" y="0"/>
          <a:ext cx="0" cy="0"/>
          <a:chOff x="0" y="0"/>
          <a:chExt cx="0" cy="0"/>
        </a:xfrm>
      </p:grpSpPr>
      <p:sp>
        <p:nvSpPr>
          <p:cNvPr id="119" name="Google Shape;119;p7"/>
          <p:cNvSpPr/>
          <p:nvPr/>
        </p:nvSpPr>
        <p:spPr>
          <a:xfrm>
            <a:off x="812800" y="798810"/>
            <a:ext cx="304800" cy="38100"/>
          </a:xfrm>
          <a:prstGeom prst="roundRect">
            <a:avLst>
              <a:gd fmla="val 5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20" name="Google Shape;120;p7"/>
          <p:cNvSpPr/>
          <p:nvPr/>
        </p:nvSpPr>
        <p:spPr>
          <a:xfrm>
            <a:off x="1219200" y="711200"/>
            <a:ext cx="140898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EL IMPACTO</a:t>
            </a:r>
            <a:endParaRPr sz="1200">
              <a:solidFill>
                <a:schemeClr val="dk1"/>
              </a:solidFill>
              <a:latin typeface="Inter"/>
              <a:ea typeface="Inter"/>
              <a:cs typeface="Inter"/>
              <a:sym typeface="Inter"/>
            </a:endParaRPr>
          </a:p>
        </p:txBody>
      </p:sp>
      <p:sp>
        <p:nvSpPr>
          <p:cNvPr id="121" name="Google Shape;121;p7"/>
          <p:cNvSpPr txBox="1"/>
          <p:nvPr>
            <p:ph type="title"/>
          </p:nvPr>
        </p:nvSpPr>
        <p:spPr>
          <a:xfrm>
            <a:off x="812800" y="10515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2743"/>
              </a:buClr>
              <a:buSzPts val="3000"/>
              <a:buFont typeface="Inter"/>
              <a:buNone/>
            </a:pPr>
            <a:r>
              <a:rPr b="1" i="0" lang="en-US" sz="3000">
                <a:solidFill>
                  <a:srgbClr val="0F2743"/>
                </a:solidFill>
                <a:latin typeface="Inter"/>
                <a:ea typeface="Inter"/>
                <a:cs typeface="Inter"/>
                <a:sym typeface="Inter"/>
              </a:rPr>
              <a:t>Un dato erróneo se vuelve una mala decisión</a:t>
            </a:r>
            <a:endParaRPr sz="3000"/>
          </a:p>
        </p:txBody>
      </p:sp>
      <p:sp>
        <p:nvSpPr>
          <p:cNvPr id="122" name="Google Shape;122;p7"/>
          <p:cNvSpPr/>
          <p:nvPr/>
        </p:nvSpPr>
        <p:spPr>
          <a:xfrm>
            <a:off x="815975" y="1778595"/>
            <a:ext cx="5175250" cy="2553791"/>
          </a:xfrm>
          <a:prstGeom prst="roundRect">
            <a:avLst>
              <a:gd fmla="val 2859"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23" name="Google Shape;123;p7"/>
          <p:cNvSpPr/>
          <p:nvPr/>
        </p:nvSpPr>
        <p:spPr>
          <a:xfrm>
            <a:off x="1098550" y="2061170"/>
            <a:ext cx="474840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VENADO TUERTO · RIEGO INNECESARIO</a:t>
            </a:r>
            <a:endParaRPr sz="1200">
              <a:solidFill>
                <a:schemeClr val="dk1"/>
              </a:solidFill>
              <a:latin typeface="Inter"/>
              <a:ea typeface="Inter"/>
              <a:cs typeface="Inter"/>
              <a:sym typeface="Inter"/>
            </a:endParaRPr>
          </a:p>
        </p:txBody>
      </p:sp>
      <p:sp>
        <p:nvSpPr>
          <p:cNvPr id="124" name="Google Shape;124;p7"/>
          <p:cNvSpPr/>
          <p:nvPr/>
        </p:nvSpPr>
        <p:spPr>
          <a:xfrm>
            <a:off x="1098550" y="2376091"/>
            <a:ext cx="4748403" cy="584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743"/>
              </a:buClr>
              <a:buSzPts val="4000"/>
              <a:buFont typeface="Inter"/>
              <a:buNone/>
            </a:pPr>
            <a:r>
              <a:rPr b="1" lang="en-US" sz="4000">
                <a:solidFill>
                  <a:srgbClr val="0F2743"/>
                </a:solidFill>
                <a:latin typeface="Inter"/>
                <a:ea typeface="Inter"/>
                <a:cs typeface="Inter"/>
                <a:sym typeface="Inter"/>
              </a:rPr>
              <a:t>80.000 m³</a:t>
            </a:r>
            <a:endParaRPr sz="4000">
              <a:solidFill>
                <a:schemeClr val="dk1"/>
              </a:solidFill>
              <a:latin typeface="Inter"/>
              <a:ea typeface="Inter"/>
              <a:cs typeface="Inter"/>
              <a:sym typeface="Inter"/>
            </a:endParaRPr>
          </a:p>
        </p:txBody>
      </p:sp>
      <p:sp>
        <p:nvSpPr>
          <p:cNvPr id="125" name="Google Shape;125;p7"/>
          <p:cNvSpPr/>
          <p:nvPr/>
        </p:nvSpPr>
        <p:spPr>
          <a:xfrm>
            <a:off x="1098550" y="3036491"/>
            <a:ext cx="4748403"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de agua gastados de más</a:t>
            </a:r>
            <a:endParaRPr sz="1400">
              <a:solidFill>
                <a:schemeClr val="dk1"/>
              </a:solidFill>
              <a:latin typeface="Inter"/>
              <a:ea typeface="Inter"/>
              <a:cs typeface="Inter"/>
              <a:sym typeface="Inter"/>
            </a:endParaRPr>
          </a:p>
        </p:txBody>
      </p:sp>
      <p:sp>
        <p:nvSpPr>
          <p:cNvPr id="126" name="Google Shape;126;p7"/>
          <p:cNvSpPr/>
          <p:nvPr/>
        </p:nvSpPr>
        <p:spPr>
          <a:xfrm>
            <a:off x="1098550" y="3386931"/>
            <a:ext cx="4748403" cy="68828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H</a:t>
            </a:r>
            <a:r>
              <a:rPr lang="en-US" sz="1200">
                <a:solidFill>
                  <a:srgbClr val="4A5568"/>
                </a:solidFill>
                <a:latin typeface="Inter"/>
                <a:ea typeface="Inter"/>
                <a:cs typeface="Inter"/>
                <a:sym typeface="Inter"/>
              </a:rPr>
              <a:t>umedad de suelo negativa → promedio sin filtrar → riego de emergencia unas </a:t>
            </a:r>
            <a:r>
              <a:rPr b="1" lang="en-US" sz="1200">
                <a:solidFill>
                  <a:srgbClr val="4A5568"/>
                </a:solidFill>
                <a:latin typeface="Inter"/>
                <a:ea typeface="Inter"/>
                <a:cs typeface="Inter"/>
                <a:sym typeface="Inter"/>
              </a:rPr>
              <a:t>400 ha</a:t>
            </a:r>
            <a:r>
              <a:rPr lang="en-US" sz="1200">
                <a:solidFill>
                  <a:srgbClr val="4A5568"/>
                </a:solidFill>
                <a:latin typeface="Inter"/>
                <a:ea typeface="Inter"/>
                <a:cs typeface="Inter"/>
                <a:sym typeface="Inter"/>
              </a:rPr>
              <a:t> con humedad adecuada.</a:t>
            </a:r>
            <a:endParaRPr sz="1200">
              <a:solidFill>
                <a:schemeClr val="dk1"/>
              </a:solidFill>
              <a:latin typeface="Inter"/>
              <a:ea typeface="Inter"/>
              <a:cs typeface="Inter"/>
              <a:sym typeface="Inter"/>
            </a:endParaRPr>
          </a:p>
        </p:txBody>
      </p:sp>
      <p:sp>
        <p:nvSpPr>
          <p:cNvPr id="127" name="Google Shape;127;p7"/>
          <p:cNvSpPr/>
          <p:nvPr/>
        </p:nvSpPr>
        <p:spPr>
          <a:xfrm>
            <a:off x="6200775" y="1778595"/>
            <a:ext cx="5175250" cy="2553791"/>
          </a:xfrm>
          <a:prstGeom prst="roundRect">
            <a:avLst>
              <a:gd fmla="val 2859"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28" name="Google Shape;128;p7"/>
          <p:cNvSpPr/>
          <p:nvPr/>
        </p:nvSpPr>
        <p:spPr>
          <a:xfrm>
            <a:off x="6483350" y="2061170"/>
            <a:ext cx="474840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GUALEGUAYCHÚ · RIEGO POSTERGADO</a:t>
            </a:r>
            <a:endParaRPr sz="1200">
              <a:solidFill>
                <a:schemeClr val="dk1"/>
              </a:solidFill>
              <a:latin typeface="Inter"/>
              <a:ea typeface="Inter"/>
              <a:cs typeface="Inter"/>
              <a:sym typeface="Inter"/>
            </a:endParaRPr>
          </a:p>
        </p:txBody>
      </p:sp>
      <p:sp>
        <p:nvSpPr>
          <p:cNvPr id="129" name="Google Shape;129;p7"/>
          <p:cNvSpPr/>
          <p:nvPr/>
        </p:nvSpPr>
        <p:spPr>
          <a:xfrm>
            <a:off x="6483350" y="2376091"/>
            <a:ext cx="4748403" cy="584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743"/>
              </a:buClr>
              <a:buSzPts val="4000"/>
              <a:buFont typeface="Inter"/>
              <a:buNone/>
            </a:pPr>
            <a:r>
              <a:rPr b="1" lang="en-US" sz="4000">
                <a:solidFill>
                  <a:srgbClr val="0F2743"/>
                </a:solidFill>
                <a:latin typeface="Inter"/>
                <a:ea typeface="Inter"/>
                <a:cs typeface="Inter"/>
                <a:sym typeface="Inter"/>
              </a:rPr>
              <a:t>30 → 60 mm</a:t>
            </a:r>
            <a:endParaRPr sz="4000">
              <a:solidFill>
                <a:schemeClr val="dk1"/>
              </a:solidFill>
              <a:latin typeface="Inter"/>
              <a:ea typeface="Inter"/>
              <a:cs typeface="Inter"/>
              <a:sym typeface="Inter"/>
            </a:endParaRPr>
          </a:p>
        </p:txBody>
      </p:sp>
      <p:sp>
        <p:nvSpPr>
          <p:cNvPr id="130" name="Google Shape;130;p7"/>
          <p:cNvSpPr/>
          <p:nvPr/>
        </p:nvSpPr>
        <p:spPr>
          <a:xfrm>
            <a:off x="6483350" y="3036491"/>
            <a:ext cx="4748403"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de lluvia que nunca cayó</a:t>
            </a:r>
            <a:endParaRPr sz="1400">
              <a:solidFill>
                <a:schemeClr val="dk1"/>
              </a:solidFill>
              <a:latin typeface="Inter"/>
              <a:ea typeface="Inter"/>
              <a:cs typeface="Inter"/>
              <a:sym typeface="Inter"/>
            </a:endParaRPr>
          </a:p>
        </p:txBody>
      </p:sp>
      <p:sp>
        <p:nvSpPr>
          <p:cNvPr id="131" name="Google Shape;131;p7"/>
          <p:cNvSpPr/>
          <p:nvPr/>
        </p:nvSpPr>
        <p:spPr>
          <a:xfrm>
            <a:off x="6483350" y="3386931"/>
            <a:ext cx="4748403" cy="68828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Medición duplicada</a:t>
            </a:r>
            <a:r>
              <a:rPr lang="en-US" sz="1200">
                <a:solidFill>
                  <a:srgbClr val="4A5568"/>
                </a:solidFill>
                <a:latin typeface="Inter"/>
                <a:ea typeface="Inter"/>
                <a:cs typeface="Inter"/>
                <a:sym typeface="Inter"/>
              </a:rPr>
              <a:t> → se suspende el riego en unas </a:t>
            </a:r>
            <a:r>
              <a:rPr b="1" lang="en-US" sz="1200">
                <a:solidFill>
                  <a:srgbClr val="4A5568"/>
                </a:solidFill>
                <a:latin typeface="Inter"/>
                <a:ea typeface="Inter"/>
                <a:cs typeface="Inter"/>
                <a:sym typeface="Inter"/>
              </a:rPr>
              <a:t>300 ha</a:t>
            </a:r>
            <a:r>
              <a:rPr lang="en-US" sz="1200">
                <a:solidFill>
                  <a:srgbClr val="4A5568"/>
                </a:solidFill>
                <a:latin typeface="Inter"/>
                <a:ea typeface="Inter"/>
                <a:cs typeface="Inter"/>
                <a:sym typeface="Inter"/>
              </a:rPr>
              <a:t> → período seco, estrés hídrico y pérdida de rendimiento.</a:t>
            </a:r>
            <a:endParaRPr sz="1200">
              <a:solidFill>
                <a:schemeClr val="dk1"/>
              </a:solidFill>
              <a:latin typeface="Inter"/>
              <a:ea typeface="Inter"/>
              <a:cs typeface="Inter"/>
              <a:sym typeface="Inter"/>
            </a:endParaRPr>
          </a:p>
        </p:txBody>
      </p:sp>
      <p:sp>
        <p:nvSpPr>
          <p:cNvPr id="132" name="Google Shape;132;p7"/>
          <p:cNvSpPr/>
          <p:nvPr/>
        </p:nvSpPr>
        <p:spPr>
          <a:xfrm>
            <a:off x="812800" y="4640362"/>
            <a:ext cx="10566400" cy="904081"/>
          </a:xfrm>
          <a:prstGeom prst="roundRect">
            <a:avLst>
              <a:gd fmla="val 8428" name="adj"/>
            </a:avLst>
          </a:prstGeom>
          <a:solidFill>
            <a:srgbClr val="0F27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33" name="Google Shape;133;p7"/>
          <p:cNvSpPr/>
          <p:nvPr/>
        </p:nvSpPr>
        <p:spPr>
          <a:xfrm>
            <a:off x="1066800" y="4863802"/>
            <a:ext cx="50800" cy="457200"/>
          </a:xfrm>
          <a:prstGeom prst="roundRect">
            <a:avLst>
              <a:gd fmla="val 5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34" name="Google Shape;134;p7"/>
          <p:cNvSpPr/>
          <p:nvPr/>
        </p:nvSpPr>
        <p:spPr>
          <a:xfrm>
            <a:off x="1192150" y="4939512"/>
            <a:ext cx="10124700" cy="359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400"/>
              <a:buFont typeface="Inter"/>
              <a:buNone/>
            </a:pPr>
            <a:r>
              <a:rPr lang="en-US" sz="1900">
                <a:solidFill>
                  <a:srgbClr val="F4F5F9"/>
                </a:solidFill>
                <a:latin typeface="Inter"/>
                <a:ea typeface="Inter"/>
                <a:cs typeface="Inter"/>
                <a:sym typeface="Inter"/>
              </a:rPr>
              <a:t>D</a:t>
            </a:r>
            <a:r>
              <a:rPr lang="en-US" sz="1900">
                <a:solidFill>
                  <a:srgbClr val="F4F5F9"/>
                </a:solidFill>
                <a:latin typeface="Inter"/>
                <a:ea typeface="Inter"/>
                <a:cs typeface="Inter"/>
                <a:sym typeface="Inter"/>
              </a:rPr>
              <a:t>ecisión razonable</a:t>
            </a:r>
            <a:r>
              <a:rPr lang="en-US" sz="1900">
                <a:solidFill>
                  <a:srgbClr val="F4F5F9"/>
                </a:solidFill>
                <a:latin typeface="Inter"/>
                <a:ea typeface="Inter"/>
                <a:cs typeface="Inter"/>
                <a:sym typeface="Inter"/>
              </a:rPr>
              <a:t> </a:t>
            </a:r>
            <a:r>
              <a:rPr lang="en-US" sz="1700">
                <a:solidFill>
                  <a:schemeClr val="lt1"/>
                </a:solidFill>
                <a:latin typeface="Inter"/>
                <a:ea typeface="Inter"/>
                <a:cs typeface="Inter"/>
                <a:sym typeface="Inter"/>
              </a:rPr>
              <a:t>→</a:t>
            </a:r>
            <a:r>
              <a:rPr lang="en-US" sz="1900">
                <a:solidFill>
                  <a:srgbClr val="F4F5F9"/>
                </a:solidFill>
                <a:latin typeface="Inter"/>
                <a:ea typeface="Inter"/>
                <a:cs typeface="Inter"/>
                <a:sym typeface="Inter"/>
              </a:rPr>
              <a:t> </a:t>
            </a:r>
            <a:r>
              <a:rPr b="1" lang="en-US" sz="1900">
                <a:solidFill>
                  <a:srgbClr val="F4F5F9"/>
                </a:solidFill>
                <a:latin typeface="Inter"/>
                <a:ea typeface="Inter"/>
                <a:cs typeface="Inter"/>
                <a:sym typeface="Inter"/>
              </a:rPr>
              <a:t>P</a:t>
            </a:r>
            <a:r>
              <a:rPr b="1" lang="en-US" sz="1900">
                <a:solidFill>
                  <a:srgbClr val="F4F5F9"/>
                </a:solidFill>
                <a:latin typeface="Inter"/>
                <a:ea typeface="Inter"/>
                <a:cs typeface="Inter"/>
                <a:sym typeface="Inter"/>
              </a:rPr>
              <a:t>roblema en el dato</a:t>
            </a:r>
            <a:endParaRPr sz="1900">
              <a:solidFill>
                <a:schemeClr val="dk1"/>
              </a:solidFill>
              <a:latin typeface="Inter"/>
              <a:ea typeface="Inter"/>
              <a:cs typeface="Inter"/>
              <a:sym typeface="Inter"/>
            </a:endParaRPr>
          </a:p>
        </p:txBody>
      </p:sp>
      <p:sp>
        <p:nvSpPr>
          <p:cNvPr id="135" name="Google Shape;135;p7"/>
          <p:cNvSpPr/>
          <p:nvPr/>
        </p:nvSpPr>
        <p:spPr>
          <a:xfrm>
            <a:off x="9093200" y="6238280"/>
            <a:ext cx="558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04</a:t>
            </a:r>
            <a:endParaRPr sz="1200">
              <a:solidFill>
                <a:schemeClr val="dk1"/>
              </a:solidFill>
              <a:latin typeface="Inter"/>
              <a:ea typeface="Inter"/>
              <a:cs typeface="Inter"/>
              <a:sym typeface="Inter"/>
            </a:endParaRPr>
          </a:p>
        </p:txBody>
      </p:sp>
      <p:pic>
        <p:nvPicPr>
          <p:cNvPr descr="Logotipo de Datum Sur" id="136" name="Google Shape;136;p7"/>
          <p:cNvPicPr preferRelativeResize="0"/>
          <p:nvPr/>
        </p:nvPicPr>
        <p:blipFill rotWithShape="1">
          <a:blip r:embed="rId3">
            <a:alphaModFix/>
          </a:blip>
          <a:srcRect b="-584" l="0" r="0" t="-584"/>
          <a:stretch/>
        </p:blipFill>
        <p:spPr>
          <a:xfrm>
            <a:off x="10617200" y="6223000"/>
            <a:ext cx="762000" cy="279400"/>
          </a:xfrm>
          <a:prstGeom prst="rect">
            <a:avLst/>
          </a:prstGeom>
          <a:noFill/>
          <a:ln>
            <a:noFill/>
          </a:ln>
        </p:spPr>
      </p:pic>
      <p:pic>
        <p:nvPicPr>
          <p:cNvPr descr="logo-uade » CEDOL" id="137" name="Google Shape;137;p7"/>
          <p:cNvPicPr preferRelativeResize="0"/>
          <p:nvPr/>
        </p:nvPicPr>
        <p:blipFill rotWithShape="1">
          <a:blip r:embed="rId4">
            <a:alphaModFix/>
          </a:blip>
          <a:srcRect b="0" l="0" r="0" t="0"/>
          <a:stretch/>
        </p:blipFill>
        <p:spPr>
          <a:xfrm>
            <a:off x="9862481" y="6160518"/>
            <a:ext cx="703920" cy="40371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E"/>
        </a:solidFill>
      </p:bgPr>
    </p:bg>
    <p:spTree>
      <p:nvGrpSpPr>
        <p:cNvPr id="142" name="Shape 142"/>
        <p:cNvGrpSpPr/>
        <p:nvPr/>
      </p:nvGrpSpPr>
      <p:grpSpPr>
        <a:xfrm>
          <a:off x="0" y="0"/>
          <a:ext cx="0" cy="0"/>
          <a:chOff x="0" y="0"/>
          <a:chExt cx="0" cy="0"/>
        </a:xfrm>
      </p:grpSpPr>
      <p:sp>
        <p:nvSpPr>
          <p:cNvPr id="143" name="Google Shape;143;p8"/>
          <p:cNvSpPr/>
          <p:nvPr/>
        </p:nvSpPr>
        <p:spPr>
          <a:xfrm>
            <a:off x="812800" y="798810"/>
            <a:ext cx="304800" cy="38100"/>
          </a:xfrm>
          <a:prstGeom prst="roundRect">
            <a:avLst>
              <a:gd fmla="val 50000" name="adj"/>
            </a:avLst>
          </a:prstGeom>
          <a:solidFill>
            <a:srgbClr val="E3A8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p:nvPr/>
        </p:nvSpPr>
        <p:spPr>
          <a:xfrm>
            <a:off x="1219200" y="711200"/>
            <a:ext cx="24933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i="0" lang="en-US" sz="1200" u="none" cap="none" strike="noStrike">
                <a:solidFill>
                  <a:srgbClr val="4A5568"/>
                </a:solidFill>
                <a:latin typeface="Inter"/>
                <a:ea typeface="Inter"/>
                <a:cs typeface="Inter"/>
                <a:sym typeface="Inter"/>
              </a:rPr>
              <a:t>QUÉ VAMOS A HACER</a:t>
            </a:r>
            <a:endParaRPr b="0" i="0" sz="1200" u="none" cap="none" strike="noStrike">
              <a:solidFill>
                <a:schemeClr val="dk1"/>
              </a:solidFill>
              <a:latin typeface="Inter"/>
              <a:ea typeface="Inter"/>
              <a:cs typeface="Inter"/>
              <a:sym typeface="Inter"/>
            </a:endParaRPr>
          </a:p>
        </p:txBody>
      </p:sp>
      <p:sp>
        <p:nvSpPr>
          <p:cNvPr id="145" name="Google Shape;145;p8"/>
          <p:cNvSpPr txBox="1"/>
          <p:nvPr>
            <p:ph type="title"/>
          </p:nvPr>
        </p:nvSpPr>
        <p:spPr>
          <a:xfrm>
            <a:off x="812800" y="1051520"/>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0F2743"/>
              </a:buClr>
              <a:buSzPct val="100000"/>
              <a:buFont typeface="Inter"/>
              <a:buNone/>
            </a:pPr>
            <a:r>
              <a:rPr b="1" i="0" lang="en-US" sz="3000">
                <a:solidFill>
                  <a:srgbClr val="0F2743"/>
                </a:solidFill>
                <a:latin typeface="Inter"/>
                <a:ea typeface="Inter"/>
                <a:cs typeface="Inter"/>
                <a:sym typeface="Inter"/>
              </a:rPr>
              <a:t>Revisar cada dato antes de que llegue al tablero</a:t>
            </a:r>
            <a:endParaRPr sz="3000"/>
          </a:p>
        </p:txBody>
      </p:sp>
      <p:cxnSp>
        <p:nvCxnSpPr>
          <p:cNvPr id="146" name="Google Shape;146;p8"/>
          <p:cNvCxnSpPr/>
          <p:nvPr/>
        </p:nvCxnSpPr>
        <p:spPr>
          <a:xfrm>
            <a:off x="812800" y="2429570"/>
            <a:ext cx="3251100" cy="0"/>
          </a:xfrm>
          <a:prstGeom prst="straightConnector1">
            <a:avLst/>
          </a:prstGeom>
          <a:noFill/>
          <a:ln cap="flat" cmpd="sng" w="25400">
            <a:solidFill>
              <a:srgbClr val="0F2743"/>
            </a:solidFill>
            <a:prstDash val="solid"/>
            <a:round/>
            <a:headEnd len="sm" w="sm" type="none"/>
            <a:tailEnd len="sm" w="sm" type="none"/>
          </a:ln>
        </p:spPr>
      </p:cxnSp>
      <p:sp>
        <p:nvSpPr>
          <p:cNvPr id="147" name="Google Shape;147;p8"/>
          <p:cNvSpPr/>
          <p:nvPr/>
        </p:nvSpPr>
        <p:spPr>
          <a:xfrm>
            <a:off x="812800" y="2645470"/>
            <a:ext cx="3348600" cy="635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3A82B"/>
              </a:buClr>
              <a:buSzPts val="4800"/>
              <a:buFont typeface="Inter"/>
              <a:buNone/>
            </a:pPr>
            <a:r>
              <a:rPr b="1" i="0" lang="en-US" sz="4800" u="none" cap="none" strike="noStrike">
                <a:solidFill>
                  <a:srgbClr val="E3A82B"/>
                </a:solidFill>
                <a:latin typeface="Inter"/>
                <a:ea typeface="Inter"/>
                <a:cs typeface="Inter"/>
                <a:sym typeface="Inter"/>
              </a:rPr>
              <a:t>1</a:t>
            </a:r>
            <a:endParaRPr b="0" i="0" sz="4800" u="none" cap="none" strike="noStrike">
              <a:solidFill>
                <a:schemeClr val="dk1"/>
              </a:solidFill>
              <a:latin typeface="Inter"/>
              <a:ea typeface="Inter"/>
              <a:cs typeface="Inter"/>
              <a:sym typeface="Inter"/>
            </a:endParaRPr>
          </a:p>
        </p:txBody>
      </p:sp>
      <p:sp>
        <p:nvSpPr>
          <p:cNvPr id="148" name="Google Shape;148;p8"/>
          <p:cNvSpPr/>
          <p:nvPr/>
        </p:nvSpPr>
        <p:spPr>
          <a:xfrm>
            <a:off x="812800" y="3382070"/>
            <a:ext cx="33486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743"/>
              </a:buClr>
              <a:buSzPts val="2000"/>
              <a:buFont typeface="Inter"/>
              <a:buNone/>
            </a:pPr>
            <a:r>
              <a:rPr b="1" i="0" lang="en-US" sz="2000" u="none" cap="none" strike="noStrike">
                <a:solidFill>
                  <a:srgbClr val="0F2743"/>
                </a:solidFill>
                <a:latin typeface="Inter"/>
                <a:ea typeface="Inter"/>
                <a:cs typeface="Inter"/>
                <a:sym typeface="Inter"/>
              </a:rPr>
              <a:t>Traer los datos</a:t>
            </a:r>
            <a:endParaRPr b="0" i="0" sz="2000" u="none" cap="none" strike="noStrike">
              <a:solidFill>
                <a:schemeClr val="dk1"/>
              </a:solidFill>
              <a:latin typeface="Inter"/>
              <a:ea typeface="Inter"/>
              <a:cs typeface="Inter"/>
              <a:sym typeface="Inter"/>
            </a:endParaRPr>
          </a:p>
        </p:txBody>
      </p:sp>
      <p:sp>
        <p:nvSpPr>
          <p:cNvPr id="149" name="Google Shape;149;p8"/>
          <p:cNvSpPr/>
          <p:nvPr/>
        </p:nvSpPr>
        <p:spPr>
          <a:xfrm>
            <a:off x="812800" y="3813870"/>
            <a:ext cx="3348600" cy="7986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568"/>
              </a:buClr>
              <a:buSzPts val="1400"/>
              <a:buFont typeface="Inter"/>
              <a:buNone/>
            </a:pPr>
            <a:r>
              <a:rPr b="0" i="0" lang="en-US" sz="1400" u="none" cap="none" strike="noStrike">
                <a:solidFill>
                  <a:srgbClr val="4A5568"/>
                </a:solidFill>
                <a:latin typeface="Inter"/>
                <a:ea typeface="Inter"/>
                <a:cs typeface="Inter"/>
                <a:sym typeface="Inter"/>
              </a:rPr>
              <a:t>Cada 15 minutos juntamos las mediciones de los 8 campos y guardamos el original, sin tocarlo.</a:t>
            </a:r>
            <a:endParaRPr b="0" i="0" sz="1400" u="none" cap="none" strike="noStrike">
              <a:solidFill>
                <a:schemeClr val="dk1"/>
              </a:solidFill>
              <a:latin typeface="Inter"/>
              <a:ea typeface="Inter"/>
              <a:cs typeface="Inter"/>
              <a:sym typeface="Inter"/>
            </a:endParaRPr>
          </a:p>
        </p:txBody>
      </p:sp>
      <p:cxnSp>
        <p:nvCxnSpPr>
          <p:cNvPr id="150" name="Google Shape;150;p8"/>
          <p:cNvCxnSpPr/>
          <p:nvPr/>
        </p:nvCxnSpPr>
        <p:spPr>
          <a:xfrm>
            <a:off x="4470400" y="2429570"/>
            <a:ext cx="3251100" cy="0"/>
          </a:xfrm>
          <a:prstGeom prst="straightConnector1">
            <a:avLst/>
          </a:prstGeom>
          <a:noFill/>
          <a:ln cap="flat" cmpd="sng" w="25400">
            <a:solidFill>
              <a:srgbClr val="0F2743"/>
            </a:solidFill>
            <a:prstDash val="solid"/>
            <a:round/>
            <a:headEnd len="sm" w="sm" type="none"/>
            <a:tailEnd len="sm" w="sm" type="none"/>
          </a:ln>
        </p:spPr>
      </p:cxnSp>
      <p:sp>
        <p:nvSpPr>
          <p:cNvPr id="151" name="Google Shape;151;p8"/>
          <p:cNvSpPr/>
          <p:nvPr/>
        </p:nvSpPr>
        <p:spPr>
          <a:xfrm>
            <a:off x="4470400" y="2645470"/>
            <a:ext cx="3348600" cy="635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3A82B"/>
              </a:buClr>
              <a:buSzPts val="4800"/>
              <a:buFont typeface="Inter"/>
              <a:buNone/>
            </a:pPr>
            <a:r>
              <a:rPr b="1" i="0" lang="en-US" sz="4800" u="none" cap="none" strike="noStrike">
                <a:solidFill>
                  <a:srgbClr val="E3A82B"/>
                </a:solidFill>
                <a:latin typeface="Inter"/>
                <a:ea typeface="Inter"/>
                <a:cs typeface="Inter"/>
                <a:sym typeface="Inter"/>
              </a:rPr>
              <a:t>2</a:t>
            </a:r>
            <a:endParaRPr b="0" i="0" sz="4800" u="none" cap="none" strike="noStrike">
              <a:solidFill>
                <a:schemeClr val="dk1"/>
              </a:solidFill>
              <a:latin typeface="Inter"/>
              <a:ea typeface="Inter"/>
              <a:cs typeface="Inter"/>
              <a:sym typeface="Inter"/>
            </a:endParaRPr>
          </a:p>
        </p:txBody>
      </p:sp>
      <p:sp>
        <p:nvSpPr>
          <p:cNvPr id="152" name="Google Shape;152;p8"/>
          <p:cNvSpPr/>
          <p:nvPr/>
        </p:nvSpPr>
        <p:spPr>
          <a:xfrm>
            <a:off x="4470400" y="3382070"/>
            <a:ext cx="33486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743"/>
              </a:buClr>
              <a:buSzPts val="2000"/>
              <a:buFont typeface="Inter"/>
              <a:buNone/>
            </a:pPr>
            <a:r>
              <a:rPr b="1" i="0" lang="en-US" sz="2000" u="none" cap="none" strike="noStrike">
                <a:solidFill>
                  <a:srgbClr val="0F2743"/>
                </a:solidFill>
                <a:latin typeface="Inter"/>
                <a:ea typeface="Inter"/>
                <a:cs typeface="Inter"/>
                <a:sym typeface="Inter"/>
              </a:rPr>
              <a:t>Revisar cada dato</a:t>
            </a:r>
            <a:endParaRPr b="0" i="0" sz="2000" u="none" cap="none" strike="noStrike">
              <a:solidFill>
                <a:schemeClr val="dk1"/>
              </a:solidFill>
              <a:latin typeface="Inter"/>
              <a:ea typeface="Inter"/>
              <a:cs typeface="Inter"/>
              <a:sym typeface="Inter"/>
            </a:endParaRPr>
          </a:p>
        </p:txBody>
      </p:sp>
      <p:sp>
        <p:nvSpPr>
          <p:cNvPr id="153" name="Google Shape;153;p8"/>
          <p:cNvSpPr/>
          <p:nvPr/>
        </p:nvSpPr>
        <p:spPr>
          <a:xfrm>
            <a:off x="4470400" y="3813870"/>
            <a:ext cx="3348600" cy="7986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568"/>
              </a:buClr>
              <a:buSzPts val="1400"/>
              <a:buFont typeface="Inter"/>
              <a:buNone/>
            </a:pPr>
            <a:r>
              <a:rPr b="0" i="0" lang="en-US" sz="1400" u="none" cap="none" strike="noStrike">
                <a:solidFill>
                  <a:srgbClr val="4A5568"/>
                </a:solidFill>
                <a:latin typeface="Inter"/>
                <a:ea typeface="Inter"/>
                <a:cs typeface="Inter"/>
                <a:sym typeface="Inter"/>
              </a:rPr>
              <a:t>12 reglas detectan lo imposible, lo duplicado y lo faltante. Lo que falla queda apartado, con su motivo.</a:t>
            </a:r>
            <a:endParaRPr b="0" i="0" sz="1400" u="none" cap="none" strike="noStrike">
              <a:solidFill>
                <a:schemeClr val="dk1"/>
              </a:solidFill>
              <a:latin typeface="Inter"/>
              <a:ea typeface="Inter"/>
              <a:cs typeface="Inter"/>
              <a:sym typeface="Inter"/>
            </a:endParaRPr>
          </a:p>
        </p:txBody>
      </p:sp>
      <p:cxnSp>
        <p:nvCxnSpPr>
          <p:cNvPr id="154" name="Google Shape;154;p8"/>
          <p:cNvCxnSpPr/>
          <p:nvPr/>
        </p:nvCxnSpPr>
        <p:spPr>
          <a:xfrm>
            <a:off x="8128000" y="2429570"/>
            <a:ext cx="3251100" cy="0"/>
          </a:xfrm>
          <a:prstGeom prst="straightConnector1">
            <a:avLst/>
          </a:prstGeom>
          <a:noFill/>
          <a:ln cap="flat" cmpd="sng" w="25400">
            <a:solidFill>
              <a:srgbClr val="E3A82B"/>
            </a:solidFill>
            <a:prstDash val="solid"/>
            <a:round/>
            <a:headEnd len="sm" w="sm" type="none"/>
            <a:tailEnd len="sm" w="sm" type="none"/>
          </a:ln>
        </p:spPr>
      </p:cxnSp>
      <p:sp>
        <p:nvSpPr>
          <p:cNvPr id="155" name="Google Shape;155;p8"/>
          <p:cNvSpPr/>
          <p:nvPr/>
        </p:nvSpPr>
        <p:spPr>
          <a:xfrm>
            <a:off x="8128000" y="2645470"/>
            <a:ext cx="3348600" cy="635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E3A82B"/>
              </a:buClr>
              <a:buSzPts val="4800"/>
              <a:buFont typeface="Inter"/>
              <a:buNone/>
            </a:pPr>
            <a:r>
              <a:rPr b="1" i="0" lang="en-US" sz="4800" u="none" cap="none" strike="noStrike">
                <a:solidFill>
                  <a:srgbClr val="E3A82B"/>
                </a:solidFill>
                <a:latin typeface="Inter"/>
                <a:ea typeface="Inter"/>
                <a:cs typeface="Inter"/>
                <a:sym typeface="Inter"/>
              </a:rPr>
              <a:t>3</a:t>
            </a:r>
            <a:endParaRPr b="0" i="0" sz="4800" u="none" cap="none" strike="noStrike">
              <a:solidFill>
                <a:schemeClr val="dk1"/>
              </a:solidFill>
              <a:latin typeface="Inter"/>
              <a:ea typeface="Inter"/>
              <a:cs typeface="Inter"/>
              <a:sym typeface="Inter"/>
            </a:endParaRPr>
          </a:p>
        </p:txBody>
      </p:sp>
      <p:sp>
        <p:nvSpPr>
          <p:cNvPr id="156" name="Google Shape;156;p8"/>
          <p:cNvSpPr/>
          <p:nvPr/>
        </p:nvSpPr>
        <p:spPr>
          <a:xfrm>
            <a:off x="8128000" y="3382070"/>
            <a:ext cx="3348600" cy="330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743"/>
              </a:buClr>
              <a:buSzPts val="2000"/>
              <a:buFont typeface="Inter"/>
              <a:buNone/>
            </a:pPr>
            <a:r>
              <a:rPr b="1" i="0" lang="en-US" sz="2000" u="none" cap="none" strike="noStrike">
                <a:solidFill>
                  <a:srgbClr val="0F2743"/>
                </a:solidFill>
                <a:latin typeface="Inter"/>
                <a:ea typeface="Inter"/>
                <a:cs typeface="Inter"/>
                <a:sym typeface="Inter"/>
              </a:rPr>
              <a:t>Mostrar solo lo confiable</a:t>
            </a:r>
            <a:endParaRPr b="0" i="0" sz="2000" u="none" cap="none" strike="noStrike">
              <a:solidFill>
                <a:schemeClr val="dk1"/>
              </a:solidFill>
              <a:latin typeface="Inter"/>
              <a:ea typeface="Inter"/>
              <a:cs typeface="Inter"/>
              <a:sym typeface="Inter"/>
            </a:endParaRPr>
          </a:p>
        </p:txBody>
      </p:sp>
      <p:sp>
        <p:nvSpPr>
          <p:cNvPr id="157" name="Google Shape;157;p8"/>
          <p:cNvSpPr/>
          <p:nvPr/>
        </p:nvSpPr>
        <p:spPr>
          <a:xfrm>
            <a:off x="8128000" y="3813870"/>
            <a:ext cx="3348600" cy="7986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568"/>
              </a:buClr>
              <a:buSzPts val="1400"/>
              <a:buFont typeface="Inter"/>
              <a:buNone/>
            </a:pPr>
            <a:r>
              <a:rPr b="0" i="0" lang="en-US" sz="1400" u="none" cap="none" strike="noStrike">
                <a:solidFill>
                  <a:srgbClr val="4A5568"/>
                </a:solidFill>
                <a:latin typeface="Inter"/>
                <a:ea typeface="Inter"/>
                <a:cs typeface="Inter"/>
                <a:sym typeface="Inter"/>
              </a:rPr>
              <a:t>El tablero recibe únicamente datos validados, con un índice que dice cuánto confiar en cada campo.</a:t>
            </a:r>
            <a:endParaRPr b="0" i="0" sz="1400" u="none" cap="none" strike="noStrike">
              <a:solidFill>
                <a:schemeClr val="dk1"/>
              </a:solidFill>
              <a:latin typeface="Inter"/>
              <a:ea typeface="Inter"/>
              <a:cs typeface="Inter"/>
              <a:sym typeface="Inter"/>
            </a:endParaRPr>
          </a:p>
        </p:txBody>
      </p:sp>
      <p:sp>
        <p:nvSpPr>
          <p:cNvPr id="158" name="Google Shape;158;p8"/>
          <p:cNvSpPr/>
          <p:nvPr/>
        </p:nvSpPr>
        <p:spPr>
          <a:xfrm>
            <a:off x="812800" y="5533430"/>
            <a:ext cx="10883400" cy="3339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F2743"/>
              </a:buClr>
              <a:buSzPts val="1800"/>
              <a:buFont typeface="Inter"/>
              <a:buNone/>
            </a:pPr>
            <a:r>
              <a:rPr b="1" i="0" lang="en-US" sz="1800" u="none" cap="none" strike="noStrike">
                <a:solidFill>
                  <a:srgbClr val="0F2743"/>
                </a:solidFill>
                <a:latin typeface="Inter"/>
                <a:ea typeface="Inter"/>
                <a:cs typeface="Inter"/>
                <a:sym typeface="Inter"/>
              </a:rPr>
              <a:t>Resultado: su equipo decide el riego con datos revisados, </a:t>
            </a:r>
            <a:r>
              <a:rPr b="1" i="0" lang="en-US" sz="1800" u="none" cap="none" strike="noStrike">
                <a:solidFill>
                  <a:srgbClr val="B07A0E"/>
                </a:solidFill>
                <a:latin typeface="Inter"/>
                <a:ea typeface="Inter"/>
                <a:cs typeface="Inter"/>
                <a:sym typeface="Inter"/>
              </a:rPr>
              <a:t>sin corregir planillas a mano</a:t>
            </a:r>
            <a:r>
              <a:rPr b="1" i="0" lang="en-US" sz="1800" u="none" cap="none" strike="noStrike">
                <a:solidFill>
                  <a:srgbClr val="0F2743"/>
                </a:solidFill>
                <a:latin typeface="Inter"/>
                <a:ea typeface="Inter"/>
                <a:cs typeface="Inter"/>
                <a:sym typeface="Inter"/>
              </a:rPr>
              <a:t>.</a:t>
            </a:r>
            <a:endParaRPr b="0" i="0" sz="1800" u="none" cap="none" strike="noStrike">
              <a:solidFill>
                <a:schemeClr val="dk1"/>
              </a:solidFill>
              <a:latin typeface="Inter"/>
              <a:ea typeface="Inter"/>
              <a:cs typeface="Inter"/>
              <a:sym typeface="Inter"/>
            </a:endParaRPr>
          </a:p>
        </p:txBody>
      </p:sp>
      <p:sp>
        <p:nvSpPr>
          <p:cNvPr id="159" name="Google Shape;159;p8"/>
          <p:cNvSpPr/>
          <p:nvPr/>
        </p:nvSpPr>
        <p:spPr>
          <a:xfrm>
            <a:off x="9093200" y="6238280"/>
            <a:ext cx="558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A5568"/>
              </a:buClr>
              <a:buSzPts val="1200"/>
              <a:buFont typeface="Inter"/>
              <a:buNone/>
            </a:pPr>
            <a:r>
              <a:rPr b="0" i="0" lang="en-US" sz="1200" u="none" cap="none" strike="noStrike">
                <a:solidFill>
                  <a:srgbClr val="4A5568"/>
                </a:solidFill>
                <a:latin typeface="Inter"/>
                <a:ea typeface="Inter"/>
                <a:cs typeface="Inter"/>
                <a:sym typeface="Inter"/>
              </a:rPr>
              <a:t>05</a:t>
            </a:r>
            <a:endParaRPr b="0" i="0" sz="1200" u="none" cap="none" strike="noStrike">
              <a:solidFill>
                <a:schemeClr val="dk1"/>
              </a:solidFill>
              <a:latin typeface="Inter"/>
              <a:ea typeface="Inter"/>
              <a:cs typeface="Inter"/>
              <a:sym typeface="Inter"/>
            </a:endParaRPr>
          </a:p>
        </p:txBody>
      </p:sp>
      <p:pic>
        <p:nvPicPr>
          <p:cNvPr descr="Logotipo de Datum Sur" id="160" name="Google Shape;160;p8"/>
          <p:cNvPicPr preferRelativeResize="0"/>
          <p:nvPr/>
        </p:nvPicPr>
        <p:blipFill rotWithShape="1">
          <a:blip r:embed="rId3">
            <a:alphaModFix/>
          </a:blip>
          <a:srcRect b="-577" l="0" r="0" t="-587"/>
          <a:stretch/>
        </p:blipFill>
        <p:spPr>
          <a:xfrm>
            <a:off x="10617200" y="6223000"/>
            <a:ext cx="762001" cy="279400"/>
          </a:xfrm>
          <a:prstGeom prst="rect">
            <a:avLst/>
          </a:prstGeom>
          <a:noFill/>
          <a:ln>
            <a:noFill/>
          </a:ln>
        </p:spPr>
      </p:pic>
      <p:pic>
        <p:nvPicPr>
          <p:cNvPr descr="logo-uade » CEDOL" id="161" name="Google Shape;161;p8"/>
          <p:cNvPicPr preferRelativeResize="0"/>
          <p:nvPr/>
        </p:nvPicPr>
        <p:blipFill rotWithShape="1">
          <a:blip r:embed="rId4">
            <a:alphaModFix/>
          </a:blip>
          <a:srcRect b="0" l="0" r="0" t="0"/>
          <a:stretch/>
        </p:blipFill>
        <p:spPr>
          <a:xfrm>
            <a:off x="9862481" y="6160518"/>
            <a:ext cx="703920" cy="40371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E"/>
        </a:solidFill>
      </p:bgPr>
    </p:bg>
    <p:spTree>
      <p:nvGrpSpPr>
        <p:cNvPr id="166" name="Shape 166"/>
        <p:cNvGrpSpPr/>
        <p:nvPr/>
      </p:nvGrpSpPr>
      <p:grpSpPr>
        <a:xfrm>
          <a:off x="0" y="0"/>
          <a:ext cx="0" cy="0"/>
          <a:chOff x="0" y="0"/>
          <a:chExt cx="0" cy="0"/>
        </a:xfrm>
      </p:grpSpPr>
      <p:sp>
        <p:nvSpPr>
          <p:cNvPr id="167" name="Google Shape;167;p9"/>
          <p:cNvSpPr/>
          <p:nvPr/>
        </p:nvSpPr>
        <p:spPr>
          <a:xfrm>
            <a:off x="812800" y="798810"/>
            <a:ext cx="304800" cy="38100"/>
          </a:xfrm>
          <a:prstGeom prst="roundRect">
            <a:avLst>
              <a:gd fmla="val 5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68" name="Google Shape;168;p9"/>
          <p:cNvSpPr/>
          <p:nvPr/>
        </p:nvSpPr>
        <p:spPr>
          <a:xfrm>
            <a:off x="1219200" y="711200"/>
            <a:ext cx="201108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CÓMO FUNCIONA</a:t>
            </a:r>
            <a:endParaRPr sz="1200">
              <a:solidFill>
                <a:schemeClr val="dk1"/>
              </a:solidFill>
              <a:latin typeface="Inter"/>
              <a:ea typeface="Inter"/>
              <a:cs typeface="Inter"/>
              <a:sym typeface="Inter"/>
            </a:endParaRPr>
          </a:p>
        </p:txBody>
      </p:sp>
      <p:sp>
        <p:nvSpPr>
          <p:cNvPr id="169" name="Google Shape;169;p9"/>
          <p:cNvSpPr txBox="1"/>
          <p:nvPr>
            <p:ph type="title"/>
          </p:nvPr>
        </p:nvSpPr>
        <p:spPr>
          <a:xfrm>
            <a:off x="812800" y="10515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2743"/>
              </a:buClr>
              <a:buSzPts val="3000"/>
              <a:buFont typeface="Inter"/>
              <a:buNone/>
            </a:pPr>
            <a:r>
              <a:rPr b="1" i="0" lang="en-US" sz="3000">
                <a:solidFill>
                  <a:srgbClr val="0F2743"/>
                </a:solidFill>
                <a:latin typeface="Inter"/>
                <a:ea typeface="Inter"/>
                <a:cs typeface="Inter"/>
                <a:sym typeface="Inter"/>
              </a:rPr>
              <a:t>Lo rechazado nunca llega al tablero</a:t>
            </a:r>
            <a:endParaRPr sz="3000"/>
          </a:p>
        </p:txBody>
      </p:sp>
      <p:sp>
        <p:nvSpPr>
          <p:cNvPr id="170" name="Google Shape;170;p9"/>
          <p:cNvSpPr/>
          <p:nvPr/>
        </p:nvSpPr>
        <p:spPr>
          <a:xfrm>
            <a:off x="815975" y="1753195"/>
            <a:ext cx="1807170" cy="2182813"/>
          </a:xfrm>
          <a:prstGeom prst="roundRect">
            <a:avLst>
              <a:gd fmla="val 4041"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71" name="Google Shape;171;p9"/>
          <p:cNvSpPr/>
          <p:nvPr/>
        </p:nvSpPr>
        <p:spPr>
          <a:xfrm>
            <a:off x="971550" y="1908770"/>
            <a:ext cx="1546820"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Fuentes</a:t>
            </a:r>
            <a:endParaRPr sz="1400">
              <a:solidFill>
                <a:schemeClr val="dk1"/>
              </a:solidFill>
              <a:latin typeface="Inter"/>
              <a:ea typeface="Inter"/>
              <a:cs typeface="Inter"/>
              <a:sym typeface="Inter"/>
            </a:endParaRPr>
          </a:p>
        </p:txBody>
      </p:sp>
      <p:sp>
        <p:nvSpPr>
          <p:cNvPr id="172" name="Google Shape;172;p9"/>
          <p:cNvSpPr/>
          <p:nvPr/>
        </p:nvSpPr>
        <p:spPr>
          <a:xfrm>
            <a:off x="971550" y="2208411"/>
            <a:ext cx="1546820"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Open-Meteo y sensores simulados</a:t>
            </a:r>
            <a:endParaRPr sz="1200">
              <a:solidFill>
                <a:schemeClr val="dk1"/>
              </a:solidFill>
              <a:latin typeface="Inter"/>
              <a:ea typeface="Inter"/>
              <a:cs typeface="Inter"/>
              <a:sym typeface="Inter"/>
            </a:endParaRPr>
          </a:p>
        </p:txBody>
      </p:sp>
      <p:pic>
        <p:nvPicPr>
          <p:cNvPr descr="arrow-right" id="173" name="Google Shape;173;p9"/>
          <p:cNvPicPr preferRelativeResize="0"/>
          <p:nvPr/>
        </p:nvPicPr>
        <p:blipFill rotWithShape="1">
          <a:blip r:embed="rId3">
            <a:alphaModFix/>
          </a:blip>
          <a:srcRect b="0" l="0" r="0" t="0"/>
          <a:stretch/>
        </p:blipFill>
        <p:spPr>
          <a:xfrm>
            <a:off x="2727920" y="2774752"/>
            <a:ext cx="254000" cy="139700"/>
          </a:xfrm>
          <a:prstGeom prst="rect">
            <a:avLst/>
          </a:prstGeom>
          <a:noFill/>
          <a:ln>
            <a:noFill/>
          </a:ln>
        </p:spPr>
      </p:pic>
      <p:sp>
        <p:nvSpPr>
          <p:cNvPr id="174" name="Google Shape;174;p9"/>
          <p:cNvSpPr/>
          <p:nvPr/>
        </p:nvSpPr>
        <p:spPr>
          <a:xfrm>
            <a:off x="3086695" y="1753195"/>
            <a:ext cx="1807270" cy="2182813"/>
          </a:xfrm>
          <a:prstGeom prst="roundRect">
            <a:avLst>
              <a:gd fmla="val 4041"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75" name="Google Shape;175;p9"/>
          <p:cNvSpPr/>
          <p:nvPr/>
        </p:nvSpPr>
        <p:spPr>
          <a:xfrm>
            <a:off x="3242270" y="1908770"/>
            <a:ext cx="1546920"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Bronce</a:t>
            </a:r>
            <a:endParaRPr sz="1400">
              <a:solidFill>
                <a:schemeClr val="dk1"/>
              </a:solidFill>
              <a:latin typeface="Inter"/>
              <a:ea typeface="Inter"/>
              <a:cs typeface="Inter"/>
              <a:sym typeface="Inter"/>
            </a:endParaRPr>
          </a:p>
        </p:txBody>
      </p:sp>
      <p:sp>
        <p:nvSpPr>
          <p:cNvPr id="176" name="Google Shape;176;p9"/>
          <p:cNvSpPr/>
          <p:nvPr/>
        </p:nvSpPr>
        <p:spPr>
          <a:xfrm>
            <a:off x="3242270" y="2208411"/>
            <a:ext cx="1546920"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Datos crudos, nunca se modifican</a:t>
            </a:r>
            <a:endParaRPr sz="1200">
              <a:solidFill>
                <a:schemeClr val="dk1"/>
              </a:solidFill>
              <a:latin typeface="Inter"/>
              <a:ea typeface="Inter"/>
              <a:cs typeface="Inter"/>
              <a:sym typeface="Inter"/>
            </a:endParaRPr>
          </a:p>
        </p:txBody>
      </p:sp>
      <p:pic>
        <p:nvPicPr>
          <p:cNvPr descr="arrow-right" id="177" name="Google Shape;177;p9"/>
          <p:cNvPicPr preferRelativeResize="0"/>
          <p:nvPr/>
        </p:nvPicPr>
        <p:blipFill rotWithShape="1">
          <a:blip r:embed="rId3">
            <a:alphaModFix/>
          </a:blip>
          <a:srcRect b="0" l="0" r="0" t="0"/>
          <a:stretch/>
        </p:blipFill>
        <p:spPr>
          <a:xfrm>
            <a:off x="4998740" y="2774752"/>
            <a:ext cx="254000" cy="139700"/>
          </a:xfrm>
          <a:prstGeom prst="rect">
            <a:avLst/>
          </a:prstGeom>
          <a:noFill/>
          <a:ln>
            <a:noFill/>
          </a:ln>
        </p:spPr>
      </p:pic>
      <p:sp>
        <p:nvSpPr>
          <p:cNvPr id="178" name="Google Shape;178;p9"/>
          <p:cNvSpPr/>
          <p:nvPr/>
        </p:nvSpPr>
        <p:spPr>
          <a:xfrm>
            <a:off x="5354340" y="1750020"/>
            <a:ext cx="1800820" cy="2189163"/>
          </a:xfrm>
          <a:prstGeom prst="roundRect">
            <a:avLst>
              <a:gd fmla="val 4231" name="adj"/>
            </a:avLst>
          </a:prstGeom>
          <a:solidFill>
            <a:srgbClr val="0F27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79" name="Google Shape;179;p9"/>
          <p:cNvSpPr/>
          <p:nvPr/>
        </p:nvSpPr>
        <p:spPr>
          <a:xfrm>
            <a:off x="5506740" y="1902420"/>
            <a:ext cx="1546820"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400"/>
              <a:buFont typeface="Inter"/>
              <a:buNone/>
            </a:pPr>
            <a:r>
              <a:rPr b="1" lang="en-US" sz="1400">
                <a:solidFill>
                  <a:srgbClr val="F4F5F9"/>
                </a:solidFill>
                <a:latin typeface="Inter"/>
                <a:ea typeface="Inter"/>
                <a:cs typeface="Inter"/>
                <a:sym typeface="Inter"/>
              </a:rPr>
              <a:t>12 reglas</a:t>
            </a:r>
            <a:endParaRPr sz="1400">
              <a:solidFill>
                <a:schemeClr val="dk1"/>
              </a:solidFill>
              <a:latin typeface="Inter"/>
              <a:ea typeface="Inter"/>
              <a:cs typeface="Inter"/>
              <a:sym typeface="Inter"/>
            </a:endParaRPr>
          </a:p>
        </p:txBody>
      </p:sp>
      <p:sp>
        <p:nvSpPr>
          <p:cNvPr id="180" name="Google Shape;180;p9"/>
          <p:cNvSpPr/>
          <p:nvPr/>
        </p:nvSpPr>
        <p:spPr>
          <a:xfrm>
            <a:off x="5506740" y="2202061"/>
            <a:ext cx="1546820"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2B"/>
              </a:buClr>
              <a:buSzPts val="1200"/>
              <a:buFont typeface="Inter"/>
              <a:buNone/>
            </a:pPr>
            <a:r>
              <a:rPr lang="en-US" sz="1200">
                <a:solidFill>
                  <a:srgbClr val="E3A82B"/>
                </a:solidFill>
                <a:latin typeface="Inter"/>
                <a:ea typeface="Inter"/>
                <a:cs typeface="Inter"/>
                <a:sym typeface="Inter"/>
              </a:rPr>
              <a:t>DQ01 a DQ12, cada 15 minutos</a:t>
            </a:r>
            <a:endParaRPr sz="1200">
              <a:solidFill>
                <a:schemeClr val="dk1"/>
              </a:solidFill>
              <a:latin typeface="Inter"/>
              <a:ea typeface="Inter"/>
              <a:cs typeface="Inter"/>
              <a:sym typeface="Inter"/>
            </a:endParaRPr>
          </a:p>
        </p:txBody>
      </p:sp>
      <p:pic>
        <p:nvPicPr>
          <p:cNvPr descr="arrow-right" id="181" name="Google Shape;181;p9"/>
          <p:cNvPicPr preferRelativeResize="0"/>
          <p:nvPr/>
        </p:nvPicPr>
        <p:blipFill rotWithShape="1">
          <a:blip r:embed="rId3">
            <a:alphaModFix/>
          </a:blip>
          <a:srcRect b="0" l="0" r="0" t="0"/>
          <a:stretch/>
        </p:blipFill>
        <p:spPr>
          <a:xfrm>
            <a:off x="7256760" y="2774752"/>
            <a:ext cx="254000" cy="139700"/>
          </a:xfrm>
          <a:prstGeom prst="rect">
            <a:avLst/>
          </a:prstGeom>
          <a:noFill/>
          <a:ln>
            <a:noFill/>
          </a:ln>
        </p:spPr>
      </p:pic>
      <p:sp>
        <p:nvSpPr>
          <p:cNvPr id="182" name="Google Shape;182;p9"/>
          <p:cNvSpPr/>
          <p:nvPr/>
        </p:nvSpPr>
        <p:spPr>
          <a:xfrm>
            <a:off x="7615535" y="1753195"/>
            <a:ext cx="1489770" cy="1037431"/>
          </a:xfrm>
          <a:prstGeom prst="roundRect">
            <a:avLst>
              <a:gd fmla="val 7039"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83" name="Google Shape;183;p9"/>
          <p:cNvSpPr/>
          <p:nvPr/>
        </p:nvSpPr>
        <p:spPr>
          <a:xfrm>
            <a:off x="7771110" y="1908770"/>
            <a:ext cx="1229420"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Plata</a:t>
            </a:r>
            <a:endParaRPr sz="1400">
              <a:solidFill>
                <a:schemeClr val="dk1"/>
              </a:solidFill>
              <a:latin typeface="Inter"/>
              <a:ea typeface="Inter"/>
              <a:cs typeface="Inter"/>
              <a:sym typeface="Inter"/>
            </a:endParaRPr>
          </a:p>
        </p:txBody>
      </p:sp>
      <p:sp>
        <p:nvSpPr>
          <p:cNvPr id="184" name="Google Shape;184;p9"/>
          <p:cNvSpPr/>
          <p:nvPr/>
        </p:nvSpPr>
        <p:spPr>
          <a:xfrm>
            <a:off x="7771110" y="2208411"/>
            <a:ext cx="1229420"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Válidos y con advertencia</a:t>
            </a:r>
            <a:endParaRPr sz="1200">
              <a:solidFill>
                <a:schemeClr val="dk1"/>
              </a:solidFill>
              <a:latin typeface="Inter"/>
              <a:ea typeface="Inter"/>
              <a:cs typeface="Inter"/>
              <a:sym typeface="Inter"/>
            </a:endParaRPr>
          </a:p>
        </p:txBody>
      </p:sp>
      <p:sp>
        <p:nvSpPr>
          <p:cNvPr id="185" name="Google Shape;185;p9"/>
          <p:cNvSpPr/>
          <p:nvPr/>
        </p:nvSpPr>
        <p:spPr>
          <a:xfrm>
            <a:off x="7615535" y="2898577"/>
            <a:ext cx="1489770" cy="1037431"/>
          </a:xfrm>
          <a:prstGeom prst="roundRect">
            <a:avLst>
              <a:gd fmla="val 7039" name="adj"/>
            </a:avLst>
          </a:prstGeom>
          <a:solidFill>
            <a:srgbClr val="FBEFD5"/>
          </a:solidFill>
          <a:ln cap="flat" cmpd="sng" w="9525">
            <a:solidFill>
              <a:srgbClr val="E9CF9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86" name="Google Shape;186;p9"/>
          <p:cNvSpPr/>
          <p:nvPr/>
        </p:nvSpPr>
        <p:spPr>
          <a:xfrm>
            <a:off x="7771110" y="3054152"/>
            <a:ext cx="1229420"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Cuarentena</a:t>
            </a:r>
            <a:endParaRPr sz="1400">
              <a:solidFill>
                <a:schemeClr val="dk1"/>
              </a:solidFill>
              <a:latin typeface="Inter"/>
              <a:ea typeface="Inter"/>
              <a:cs typeface="Inter"/>
              <a:sym typeface="Inter"/>
            </a:endParaRPr>
          </a:p>
        </p:txBody>
      </p:sp>
      <p:sp>
        <p:nvSpPr>
          <p:cNvPr id="187" name="Google Shape;187;p9"/>
          <p:cNvSpPr/>
          <p:nvPr/>
        </p:nvSpPr>
        <p:spPr>
          <a:xfrm>
            <a:off x="7771110" y="3353792"/>
            <a:ext cx="1229420"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Inválidos, con su motivo</a:t>
            </a:r>
            <a:endParaRPr sz="1200">
              <a:solidFill>
                <a:schemeClr val="dk1"/>
              </a:solidFill>
              <a:latin typeface="Inter"/>
              <a:ea typeface="Inter"/>
              <a:cs typeface="Inter"/>
              <a:sym typeface="Inter"/>
            </a:endParaRPr>
          </a:p>
        </p:txBody>
      </p:sp>
      <p:pic>
        <p:nvPicPr>
          <p:cNvPr descr="arrow-right" id="188" name="Google Shape;188;p9"/>
          <p:cNvPicPr preferRelativeResize="0"/>
          <p:nvPr/>
        </p:nvPicPr>
        <p:blipFill rotWithShape="1">
          <a:blip r:embed="rId3">
            <a:alphaModFix/>
          </a:blip>
          <a:srcRect b="0" l="0" r="0" t="0"/>
          <a:stretch/>
        </p:blipFill>
        <p:spPr>
          <a:xfrm>
            <a:off x="9210080" y="2774752"/>
            <a:ext cx="254000" cy="139700"/>
          </a:xfrm>
          <a:prstGeom prst="rect">
            <a:avLst/>
          </a:prstGeom>
          <a:noFill/>
          <a:ln>
            <a:noFill/>
          </a:ln>
        </p:spPr>
      </p:pic>
      <p:sp>
        <p:nvSpPr>
          <p:cNvPr id="189" name="Google Shape;189;p9"/>
          <p:cNvSpPr/>
          <p:nvPr/>
        </p:nvSpPr>
        <p:spPr>
          <a:xfrm>
            <a:off x="9568855" y="1753195"/>
            <a:ext cx="1807170" cy="2182813"/>
          </a:xfrm>
          <a:prstGeom prst="roundRect">
            <a:avLst>
              <a:gd fmla="val 4041"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90" name="Google Shape;190;p9"/>
          <p:cNvSpPr/>
          <p:nvPr/>
        </p:nvSpPr>
        <p:spPr>
          <a:xfrm>
            <a:off x="9724430" y="1908770"/>
            <a:ext cx="1546820"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Oro </a:t>
            </a:r>
            <a:endParaRPr sz="1400">
              <a:solidFill>
                <a:schemeClr val="dk1"/>
              </a:solidFill>
              <a:latin typeface="Inter"/>
              <a:ea typeface="Inter"/>
              <a:cs typeface="Inter"/>
              <a:sym typeface="Inter"/>
            </a:endParaRPr>
          </a:p>
        </p:txBody>
      </p:sp>
      <p:sp>
        <p:nvSpPr>
          <p:cNvPr id="191" name="Google Shape;191;p9"/>
          <p:cNvSpPr/>
          <p:nvPr/>
        </p:nvSpPr>
        <p:spPr>
          <a:xfrm>
            <a:off x="9724430" y="2504440"/>
            <a:ext cx="1546800" cy="6654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Indicadores diarios por campo. Lo único que lee el tablero.</a:t>
            </a:r>
            <a:endParaRPr sz="1200">
              <a:solidFill>
                <a:schemeClr val="dk1"/>
              </a:solidFill>
              <a:latin typeface="Inter"/>
              <a:ea typeface="Inter"/>
              <a:cs typeface="Inter"/>
              <a:sym typeface="Inter"/>
            </a:endParaRPr>
          </a:p>
        </p:txBody>
      </p:sp>
      <p:sp>
        <p:nvSpPr>
          <p:cNvPr id="192" name="Google Shape;192;p9"/>
          <p:cNvSpPr/>
          <p:nvPr/>
        </p:nvSpPr>
        <p:spPr>
          <a:xfrm>
            <a:off x="812800" y="4218583"/>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QUIÉN PARTICIPA</a:t>
            </a:r>
            <a:endParaRPr sz="1200">
              <a:solidFill>
                <a:schemeClr val="dk1"/>
              </a:solidFill>
              <a:latin typeface="Inter"/>
              <a:ea typeface="Inter"/>
              <a:cs typeface="Inter"/>
              <a:sym typeface="Inter"/>
            </a:endParaRPr>
          </a:p>
        </p:txBody>
      </p:sp>
      <p:sp>
        <p:nvSpPr>
          <p:cNvPr id="193" name="Google Shape;193;p9"/>
          <p:cNvSpPr/>
          <p:nvPr/>
        </p:nvSpPr>
        <p:spPr>
          <a:xfrm>
            <a:off x="815975" y="4536678"/>
            <a:ext cx="2520950" cy="1100931"/>
          </a:xfrm>
          <a:prstGeom prst="roundRect">
            <a:avLst>
              <a:gd fmla="val 6633"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pic>
        <p:nvPicPr>
          <p:cNvPr descr="Activity" id="194" name="Google Shape;194;p9"/>
          <p:cNvPicPr preferRelativeResize="0"/>
          <p:nvPr/>
        </p:nvPicPr>
        <p:blipFill rotWithShape="1">
          <a:blip r:embed="rId4">
            <a:alphaModFix/>
          </a:blip>
          <a:srcRect b="0" l="0" r="0" t="0"/>
          <a:stretch/>
        </p:blipFill>
        <p:spPr>
          <a:xfrm>
            <a:off x="996950" y="4740473"/>
            <a:ext cx="203200" cy="203200"/>
          </a:xfrm>
          <a:prstGeom prst="rect">
            <a:avLst/>
          </a:prstGeom>
          <a:noFill/>
          <a:ln>
            <a:noFill/>
          </a:ln>
        </p:spPr>
      </p:pic>
      <p:sp>
        <p:nvSpPr>
          <p:cNvPr id="195" name="Google Shape;195;p9"/>
          <p:cNvSpPr/>
          <p:nvPr/>
        </p:nvSpPr>
        <p:spPr>
          <a:xfrm>
            <a:off x="1276350" y="4717653"/>
            <a:ext cx="1780937"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Fuentes de datos</a:t>
            </a:r>
            <a:endParaRPr sz="1400">
              <a:solidFill>
                <a:schemeClr val="dk1"/>
              </a:solidFill>
              <a:latin typeface="Inter"/>
              <a:ea typeface="Inter"/>
              <a:cs typeface="Inter"/>
              <a:sym typeface="Inter"/>
            </a:endParaRPr>
          </a:p>
        </p:txBody>
      </p:sp>
      <p:sp>
        <p:nvSpPr>
          <p:cNvPr id="196" name="Google Shape;196;p9"/>
          <p:cNvSpPr/>
          <p:nvPr/>
        </p:nvSpPr>
        <p:spPr>
          <a:xfrm>
            <a:off x="996950" y="5029994"/>
            <a:ext cx="2223770"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Sensores y Open-Meteo envían las mediciones</a:t>
            </a:r>
            <a:endParaRPr sz="1200">
              <a:solidFill>
                <a:schemeClr val="dk1"/>
              </a:solidFill>
              <a:latin typeface="Inter"/>
              <a:ea typeface="Inter"/>
              <a:cs typeface="Inter"/>
              <a:sym typeface="Inter"/>
            </a:endParaRPr>
          </a:p>
        </p:txBody>
      </p:sp>
      <p:sp>
        <p:nvSpPr>
          <p:cNvPr id="197" name="Google Shape;197;p9"/>
          <p:cNvSpPr/>
          <p:nvPr/>
        </p:nvSpPr>
        <p:spPr>
          <a:xfrm>
            <a:off x="3495675" y="4536678"/>
            <a:ext cx="2520950" cy="1100931"/>
          </a:xfrm>
          <a:prstGeom prst="roundRect">
            <a:avLst>
              <a:gd fmla="val 6633"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pic>
        <p:nvPicPr>
          <p:cNvPr descr="Settings" id="198" name="Google Shape;198;p9"/>
          <p:cNvPicPr preferRelativeResize="0"/>
          <p:nvPr/>
        </p:nvPicPr>
        <p:blipFill rotWithShape="1">
          <a:blip r:embed="rId5">
            <a:alphaModFix/>
          </a:blip>
          <a:srcRect b="0" l="0" r="0" t="0"/>
          <a:stretch/>
        </p:blipFill>
        <p:spPr>
          <a:xfrm>
            <a:off x="3676650" y="4740473"/>
            <a:ext cx="203200" cy="203200"/>
          </a:xfrm>
          <a:prstGeom prst="rect">
            <a:avLst/>
          </a:prstGeom>
          <a:noFill/>
          <a:ln>
            <a:noFill/>
          </a:ln>
        </p:spPr>
      </p:pic>
      <p:sp>
        <p:nvSpPr>
          <p:cNvPr id="199" name="Google Shape;199;p9"/>
          <p:cNvSpPr/>
          <p:nvPr/>
        </p:nvSpPr>
        <p:spPr>
          <a:xfrm>
            <a:off x="3956050" y="4717653"/>
            <a:ext cx="2057400"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Proceso automático</a:t>
            </a:r>
            <a:endParaRPr sz="1400">
              <a:solidFill>
                <a:schemeClr val="dk1"/>
              </a:solidFill>
              <a:latin typeface="Inter"/>
              <a:ea typeface="Inter"/>
              <a:cs typeface="Inter"/>
              <a:sym typeface="Inter"/>
            </a:endParaRPr>
          </a:p>
        </p:txBody>
      </p:sp>
      <p:sp>
        <p:nvSpPr>
          <p:cNvPr id="200" name="Google Shape;200;p9"/>
          <p:cNvSpPr/>
          <p:nvPr/>
        </p:nvSpPr>
        <p:spPr>
          <a:xfrm>
            <a:off x="3676650" y="5029994"/>
            <a:ext cx="2223770"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Valida, separa y publica cada 15 minutos</a:t>
            </a:r>
            <a:endParaRPr sz="1200">
              <a:solidFill>
                <a:schemeClr val="dk1"/>
              </a:solidFill>
              <a:latin typeface="Inter"/>
              <a:ea typeface="Inter"/>
              <a:cs typeface="Inter"/>
              <a:sym typeface="Inter"/>
            </a:endParaRPr>
          </a:p>
        </p:txBody>
      </p:sp>
      <p:sp>
        <p:nvSpPr>
          <p:cNvPr id="201" name="Google Shape;201;p9"/>
          <p:cNvSpPr/>
          <p:nvPr/>
        </p:nvSpPr>
        <p:spPr>
          <a:xfrm>
            <a:off x="6175375" y="4536678"/>
            <a:ext cx="2520950" cy="1100931"/>
          </a:xfrm>
          <a:prstGeom prst="roundRect">
            <a:avLst>
              <a:gd fmla="val 6633"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pic>
        <p:nvPicPr>
          <p:cNvPr descr="Users" id="202" name="Google Shape;202;p9"/>
          <p:cNvPicPr preferRelativeResize="0"/>
          <p:nvPr/>
        </p:nvPicPr>
        <p:blipFill rotWithShape="1">
          <a:blip r:embed="rId6">
            <a:alphaModFix/>
          </a:blip>
          <a:srcRect b="0" l="0" r="0" t="0"/>
          <a:stretch/>
        </p:blipFill>
        <p:spPr>
          <a:xfrm>
            <a:off x="6356350" y="4740473"/>
            <a:ext cx="203200" cy="203200"/>
          </a:xfrm>
          <a:prstGeom prst="rect">
            <a:avLst/>
          </a:prstGeom>
          <a:noFill/>
          <a:ln>
            <a:noFill/>
          </a:ln>
        </p:spPr>
      </p:pic>
      <p:sp>
        <p:nvSpPr>
          <p:cNvPr id="203" name="Google Shape;203;p9"/>
          <p:cNvSpPr/>
          <p:nvPr/>
        </p:nvSpPr>
        <p:spPr>
          <a:xfrm>
            <a:off x="6635750" y="4717653"/>
            <a:ext cx="2010966"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Riego y Producción</a:t>
            </a:r>
            <a:endParaRPr sz="1400">
              <a:solidFill>
                <a:schemeClr val="dk1"/>
              </a:solidFill>
              <a:latin typeface="Inter"/>
              <a:ea typeface="Inter"/>
              <a:cs typeface="Inter"/>
              <a:sym typeface="Inter"/>
            </a:endParaRPr>
          </a:p>
        </p:txBody>
      </p:sp>
      <p:sp>
        <p:nvSpPr>
          <p:cNvPr id="204" name="Google Shape;204;p9"/>
          <p:cNvSpPr/>
          <p:nvPr/>
        </p:nvSpPr>
        <p:spPr>
          <a:xfrm>
            <a:off x="6356350" y="5029994"/>
            <a:ext cx="2223770"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Consultan el tablero con datos validados</a:t>
            </a:r>
            <a:endParaRPr sz="1200">
              <a:solidFill>
                <a:schemeClr val="dk1"/>
              </a:solidFill>
              <a:latin typeface="Inter"/>
              <a:ea typeface="Inter"/>
              <a:cs typeface="Inter"/>
              <a:sym typeface="Inter"/>
            </a:endParaRPr>
          </a:p>
        </p:txBody>
      </p:sp>
      <p:sp>
        <p:nvSpPr>
          <p:cNvPr id="205" name="Google Shape;205;p9"/>
          <p:cNvSpPr/>
          <p:nvPr/>
        </p:nvSpPr>
        <p:spPr>
          <a:xfrm>
            <a:off x="8855075" y="4536678"/>
            <a:ext cx="2520950" cy="1100931"/>
          </a:xfrm>
          <a:prstGeom prst="roundRect">
            <a:avLst>
              <a:gd fmla="val 6633"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pic>
        <p:nvPicPr>
          <p:cNvPr descr="Chart" id="206" name="Google Shape;206;p9"/>
          <p:cNvPicPr preferRelativeResize="0"/>
          <p:nvPr/>
        </p:nvPicPr>
        <p:blipFill rotWithShape="1">
          <a:blip r:embed="rId7">
            <a:alphaModFix/>
          </a:blip>
          <a:srcRect b="0" l="0" r="0" t="0"/>
          <a:stretch/>
        </p:blipFill>
        <p:spPr>
          <a:xfrm>
            <a:off x="9036050" y="4740473"/>
            <a:ext cx="203200" cy="203200"/>
          </a:xfrm>
          <a:prstGeom prst="rect">
            <a:avLst/>
          </a:prstGeom>
          <a:noFill/>
          <a:ln>
            <a:noFill/>
          </a:ln>
        </p:spPr>
      </p:pic>
      <p:sp>
        <p:nvSpPr>
          <p:cNvPr id="207" name="Google Shape;207;p9"/>
          <p:cNvSpPr/>
          <p:nvPr/>
        </p:nvSpPr>
        <p:spPr>
          <a:xfrm>
            <a:off x="9315450" y="4717653"/>
            <a:ext cx="1035010"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Datos y BI</a:t>
            </a:r>
            <a:endParaRPr sz="1400">
              <a:solidFill>
                <a:schemeClr val="dk1"/>
              </a:solidFill>
              <a:latin typeface="Inter"/>
              <a:ea typeface="Inter"/>
              <a:cs typeface="Inter"/>
              <a:sym typeface="Inter"/>
            </a:endParaRPr>
          </a:p>
        </p:txBody>
      </p:sp>
      <p:sp>
        <p:nvSpPr>
          <p:cNvPr id="208" name="Google Shape;208;p9"/>
          <p:cNvSpPr/>
          <p:nvPr/>
        </p:nvSpPr>
        <p:spPr>
          <a:xfrm>
            <a:off x="9036050" y="5029994"/>
            <a:ext cx="2223770"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Ven el Índice de Calidad y los rechazos</a:t>
            </a:r>
            <a:endParaRPr sz="1200">
              <a:solidFill>
                <a:schemeClr val="dk1"/>
              </a:solidFill>
              <a:latin typeface="Inter"/>
              <a:ea typeface="Inter"/>
              <a:cs typeface="Inter"/>
              <a:sym typeface="Inter"/>
            </a:endParaRPr>
          </a:p>
        </p:txBody>
      </p:sp>
      <p:sp>
        <p:nvSpPr>
          <p:cNvPr id="209" name="Google Shape;209;p9"/>
          <p:cNvSpPr/>
          <p:nvPr/>
        </p:nvSpPr>
        <p:spPr>
          <a:xfrm>
            <a:off x="9093200" y="6238280"/>
            <a:ext cx="558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06</a:t>
            </a:r>
            <a:endParaRPr sz="1200">
              <a:solidFill>
                <a:schemeClr val="dk1"/>
              </a:solidFill>
              <a:latin typeface="Inter"/>
              <a:ea typeface="Inter"/>
              <a:cs typeface="Inter"/>
              <a:sym typeface="Inter"/>
            </a:endParaRPr>
          </a:p>
        </p:txBody>
      </p:sp>
      <p:pic>
        <p:nvPicPr>
          <p:cNvPr descr="Logotipo de Datum Sur" id="210" name="Google Shape;210;p9"/>
          <p:cNvPicPr preferRelativeResize="0"/>
          <p:nvPr/>
        </p:nvPicPr>
        <p:blipFill rotWithShape="1">
          <a:blip r:embed="rId8">
            <a:alphaModFix/>
          </a:blip>
          <a:srcRect b="-584" l="0" r="0" t="-584"/>
          <a:stretch/>
        </p:blipFill>
        <p:spPr>
          <a:xfrm>
            <a:off x="10617200" y="6223000"/>
            <a:ext cx="762000" cy="279400"/>
          </a:xfrm>
          <a:prstGeom prst="rect">
            <a:avLst/>
          </a:prstGeom>
          <a:noFill/>
          <a:ln>
            <a:noFill/>
          </a:ln>
        </p:spPr>
      </p:pic>
      <p:pic>
        <p:nvPicPr>
          <p:cNvPr descr="logo-uade » CEDOL" id="211" name="Google Shape;211;p9"/>
          <p:cNvPicPr preferRelativeResize="0"/>
          <p:nvPr/>
        </p:nvPicPr>
        <p:blipFill rotWithShape="1">
          <a:blip r:embed="rId9">
            <a:alphaModFix/>
          </a:blip>
          <a:srcRect b="0" l="0" r="0" t="0"/>
          <a:stretch/>
        </p:blipFill>
        <p:spPr>
          <a:xfrm>
            <a:off x="9862481" y="6160518"/>
            <a:ext cx="703920" cy="403719"/>
          </a:xfrm>
          <a:prstGeom prst="rect">
            <a:avLst/>
          </a:prstGeom>
          <a:noFill/>
          <a:ln>
            <a:noFill/>
          </a:ln>
        </p:spPr>
      </p:pic>
      <p:sp>
        <p:nvSpPr>
          <p:cNvPr id="212" name="Google Shape;212;p9"/>
          <p:cNvSpPr/>
          <p:nvPr/>
        </p:nvSpPr>
        <p:spPr>
          <a:xfrm>
            <a:off x="5460941" y="2941712"/>
            <a:ext cx="1587600" cy="6426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FFFFFF"/>
              </a:buClr>
              <a:buSzPts val="1200"/>
              <a:buFont typeface="Arial"/>
              <a:buNone/>
            </a:pPr>
            <a:r>
              <a:rPr b="0" i="0" lang="en-US" sz="1200" u="none" cap="none" strike="noStrike">
                <a:solidFill>
                  <a:srgbClr val="FFFFFF"/>
                </a:solidFill>
                <a:latin typeface="Arial"/>
                <a:ea typeface="Arial"/>
                <a:cs typeface="Arial"/>
                <a:sym typeface="Arial"/>
              </a:rPr>
              <a:t>Tipado, deduplicación y validación desde un archivo versionado.</a:t>
            </a:r>
            <a:endParaRPr b="0" i="0" sz="1200" u="none" cap="none" strike="noStrike">
              <a:solidFill>
                <a:srgbClr val="0F2742"/>
              </a:solidFill>
              <a:latin typeface="Arial"/>
              <a:ea typeface="Arial"/>
              <a:cs typeface="Arial"/>
              <a:sym typeface="Arial"/>
            </a:endParaRPr>
          </a:p>
        </p:txBody>
      </p:sp>
      <p:sp>
        <p:nvSpPr>
          <p:cNvPr id="213" name="Google Shape;213;p9"/>
          <p:cNvSpPr/>
          <p:nvPr/>
        </p:nvSpPr>
        <p:spPr>
          <a:xfrm>
            <a:off x="9720874" y="2218065"/>
            <a:ext cx="1551600" cy="231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5A6B85"/>
              </a:buClr>
              <a:buSzPts val="1200"/>
              <a:buFont typeface="Arial"/>
              <a:buNone/>
            </a:pPr>
            <a:r>
              <a:rPr b="0" i="0" lang="en-US" sz="1200" u="none" cap="none" strike="noStrike">
                <a:solidFill>
                  <a:srgbClr val="5A6B85"/>
                </a:solidFill>
                <a:latin typeface="Arial"/>
                <a:ea typeface="Arial"/>
                <a:cs typeface="Arial"/>
                <a:sym typeface="Arial"/>
              </a:rPr>
              <a:t>PostgreSQL</a:t>
            </a:r>
            <a:endParaRPr b="0" i="0" sz="1200" u="none" cap="none" strike="noStrike">
              <a:solidFill>
                <a:srgbClr val="0F274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E"/>
        </a:solidFill>
      </p:bgPr>
    </p:bg>
    <p:spTree>
      <p:nvGrpSpPr>
        <p:cNvPr id="218" name="Shape 218"/>
        <p:cNvGrpSpPr/>
        <p:nvPr/>
      </p:nvGrpSpPr>
      <p:grpSpPr>
        <a:xfrm>
          <a:off x="0" y="0"/>
          <a:ext cx="0" cy="0"/>
          <a:chOff x="0" y="0"/>
          <a:chExt cx="0" cy="0"/>
        </a:xfrm>
      </p:grpSpPr>
      <p:sp>
        <p:nvSpPr>
          <p:cNvPr id="219" name="Google Shape;219;p10"/>
          <p:cNvSpPr/>
          <p:nvPr/>
        </p:nvSpPr>
        <p:spPr>
          <a:xfrm>
            <a:off x="812800" y="798810"/>
            <a:ext cx="304800" cy="38100"/>
          </a:xfrm>
          <a:prstGeom prst="roundRect">
            <a:avLst>
              <a:gd fmla="val 5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20" name="Google Shape;220;p10"/>
          <p:cNvSpPr/>
          <p:nvPr/>
        </p:nvSpPr>
        <p:spPr>
          <a:xfrm>
            <a:off x="1219200" y="711200"/>
            <a:ext cx="238779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REGLAS DE CALIDAD</a:t>
            </a:r>
            <a:endParaRPr sz="1200">
              <a:solidFill>
                <a:schemeClr val="dk1"/>
              </a:solidFill>
              <a:latin typeface="Inter"/>
              <a:ea typeface="Inter"/>
              <a:cs typeface="Inter"/>
              <a:sym typeface="Inter"/>
            </a:endParaRPr>
          </a:p>
        </p:txBody>
      </p:sp>
      <p:sp>
        <p:nvSpPr>
          <p:cNvPr id="221" name="Google Shape;221;p10"/>
          <p:cNvSpPr txBox="1"/>
          <p:nvPr>
            <p:ph type="title"/>
          </p:nvPr>
        </p:nvSpPr>
        <p:spPr>
          <a:xfrm>
            <a:off x="812800" y="10515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2743"/>
              </a:buClr>
              <a:buSzPts val="3000"/>
              <a:buFont typeface="Inter"/>
              <a:buNone/>
            </a:pPr>
            <a:r>
              <a:rPr b="1" i="0" lang="en-US" sz="3000">
                <a:solidFill>
                  <a:srgbClr val="0F2743"/>
                </a:solidFill>
                <a:latin typeface="Inter"/>
                <a:ea typeface="Inter"/>
                <a:cs typeface="Inter"/>
                <a:sym typeface="Inter"/>
              </a:rPr>
              <a:t>12 reglas definen qué dato es confiable</a:t>
            </a:r>
            <a:endParaRPr sz="3000"/>
          </a:p>
        </p:txBody>
      </p:sp>
      <p:sp>
        <p:nvSpPr>
          <p:cNvPr id="222" name="Google Shape;222;p10"/>
          <p:cNvSpPr/>
          <p:nvPr/>
        </p:nvSpPr>
        <p:spPr>
          <a:xfrm>
            <a:off x="815975" y="1753195"/>
            <a:ext cx="3460750" cy="1305421"/>
          </a:xfrm>
          <a:prstGeom prst="roundRect">
            <a:avLst>
              <a:gd fmla="val 5594"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23" name="Google Shape;223;p10"/>
          <p:cNvSpPr/>
          <p:nvPr/>
        </p:nvSpPr>
        <p:spPr>
          <a:xfrm>
            <a:off x="996950" y="1934170"/>
            <a:ext cx="3191764" cy="23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Completitud</a:t>
            </a:r>
            <a:endParaRPr sz="1400">
              <a:solidFill>
                <a:schemeClr val="dk1"/>
              </a:solidFill>
              <a:latin typeface="Inter"/>
              <a:ea typeface="Inter"/>
              <a:cs typeface="Inter"/>
              <a:sym typeface="Inter"/>
            </a:endParaRPr>
          </a:p>
        </p:txBody>
      </p:sp>
      <p:sp>
        <p:nvSpPr>
          <p:cNvPr id="224" name="Google Shape;224;p10"/>
          <p:cNvSpPr/>
          <p:nvPr/>
        </p:nvSpPr>
        <p:spPr>
          <a:xfrm>
            <a:off x="996950" y="2210991"/>
            <a:ext cx="3191764" cy="66536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Fecha y hora presentes · Campo identificado · Sin huecos inesperados (advertencia)</a:t>
            </a:r>
            <a:endParaRPr sz="1200">
              <a:solidFill>
                <a:schemeClr val="dk1"/>
              </a:solidFill>
              <a:latin typeface="Inter"/>
              <a:ea typeface="Inter"/>
              <a:cs typeface="Inter"/>
              <a:sym typeface="Inter"/>
            </a:endParaRPr>
          </a:p>
        </p:txBody>
      </p:sp>
      <p:sp>
        <p:nvSpPr>
          <p:cNvPr id="225" name="Google Shape;225;p10"/>
          <p:cNvSpPr/>
          <p:nvPr/>
        </p:nvSpPr>
        <p:spPr>
          <a:xfrm>
            <a:off x="4410075" y="1753195"/>
            <a:ext cx="3460750" cy="1305421"/>
          </a:xfrm>
          <a:prstGeom prst="roundRect">
            <a:avLst>
              <a:gd fmla="val 5594"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26" name="Google Shape;226;p10"/>
          <p:cNvSpPr/>
          <p:nvPr/>
        </p:nvSpPr>
        <p:spPr>
          <a:xfrm>
            <a:off x="4591050" y="1934170"/>
            <a:ext cx="3191764" cy="23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Consistencia</a:t>
            </a:r>
            <a:endParaRPr sz="1400">
              <a:solidFill>
                <a:schemeClr val="dk1"/>
              </a:solidFill>
              <a:latin typeface="Inter"/>
              <a:ea typeface="Inter"/>
              <a:cs typeface="Inter"/>
              <a:sym typeface="Inter"/>
            </a:endParaRPr>
          </a:p>
        </p:txBody>
      </p:sp>
      <p:sp>
        <p:nvSpPr>
          <p:cNvPr id="227" name="Google Shape;227;p10"/>
          <p:cNvSpPr/>
          <p:nvPr/>
        </p:nvSpPr>
        <p:spPr>
          <a:xfrm>
            <a:off x="4591050" y="2210991"/>
            <a:ext cx="3191764"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Fecha válida y no futura · Campo existente · Unidades esperadas</a:t>
            </a:r>
            <a:endParaRPr sz="1200">
              <a:solidFill>
                <a:schemeClr val="dk1"/>
              </a:solidFill>
              <a:latin typeface="Inter"/>
              <a:ea typeface="Inter"/>
              <a:cs typeface="Inter"/>
              <a:sym typeface="Inter"/>
            </a:endParaRPr>
          </a:p>
        </p:txBody>
      </p:sp>
      <p:sp>
        <p:nvSpPr>
          <p:cNvPr id="228" name="Google Shape;228;p10"/>
          <p:cNvSpPr/>
          <p:nvPr/>
        </p:nvSpPr>
        <p:spPr>
          <a:xfrm>
            <a:off x="815975" y="3191966"/>
            <a:ext cx="3460750" cy="1305421"/>
          </a:xfrm>
          <a:prstGeom prst="roundRect">
            <a:avLst>
              <a:gd fmla="val 5594"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29" name="Google Shape;229;p10"/>
          <p:cNvSpPr/>
          <p:nvPr/>
        </p:nvSpPr>
        <p:spPr>
          <a:xfrm>
            <a:off x="996950" y="3372941"/>
            <a:ext cx="3191764" cy="23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Validez de rangos</a:t>
            </a:r>
            <a:endParaRPr sz="1400">
              <a:solidFill>
                <a:schemeClr val="dk1"/>
              </a:solidFill>
              <a:latin typeface="Inter"/>
              <a:ea typeface="Inter"/>
              <a:cs typeface="Inter"/>
              <a:sym typeface="Inter"/>
            </a:endParaRPr>
          </a:p>
        </p:txBody>
      </p:sp>
      <p:sp>
        <p:nvSpPr>
          <p:cNvPr id="230" name="Google Shape;230;p10"/>
          <p:cNvSpPr/>
          <p:nvPr/>
        </p:nvSpPr>
        <p:spPr>
          <a:xfrm>
            <a:off x="996950" y="3649762"/>
            <a:ext cx="3191764" cy="66536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Humedad ambiente 0–100 % · Lluvia ≥ 0 mm · Temperatura y humedad de suelo en rango</a:t>
            </a:r>
            <a:endParaRPr sz="1200">
              <a:solidFill>
                <a:schemeClr val="dk1"/>
              </a:solidFill>
              <a:latin typeface="Inter"/>
              <a:ea typeface="Inter"/>
              <a:cs typeface="Inter"/>
              <a:sym typeface="Inter"/>
            </a:endParaRPr>
          </a:p>
        </p:txBody>
      </p:sp>
      <p:sp>
        <p:nvSpPr>
          <p:cNvPr id="231" name="Google Shape;231;p10"/>
          <p:cNvSpPr/>
          <p:nvPr/>
        </p:nvSpPr>
        <p:spPr>
          <a:xfrm>
            <a:off x="4410075" y="3191966"/>
            <a:ext cx="3460750" cy="1305421"/>
          </a:xfrm>
          <a:prstGeom prst="roundRect">
            <a:avLst>
              <a:gd fmla="val 5594"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2" name="Google Shape;232;p10"/>
          <p:cNvSpPr/>
          <p:nvPr/>
        </p:nvSpPr>
        <p:spPr>
          <a:xfrm>
            <a:off x="4591050" y="3372941"/>
            <a:ext cx="3191764" cy="23872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Unicidad y anomalías</a:t>
            </a:r>
            <a:endParaRPr sz="1400">
              <a:solidFill>
                <a:schemeClr val="dk1"/>
              </a:solidFill>
              <a:latin typeface="Inter"/>
              <a:ea typeface="Inter"/>
              <a:cs typeface="Inter"/>
              <a:sym typeface="Inter"/>
            </a:endParaRPr>
          </a:p>
        </p:txBody>
      </p:sp>
      <p:sp>
        <p:nvSpPr>
          <p:cNvPr id="233" name="Google Shape;233;p10"/>
          <p:cNvSpPr/>
          <p:nvPr/>
        </p:nvSpPr>
        <p:spPr>
          <a:xfrm>
            <a:off x="4591050" y="3649762"/>
            <a:ext cx="3191764"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Sin registros duplicados · Sin saltos anormales entre mediciones (advertencia)</a:t>
            </a:r>
            <a:endParaRPr sz="1200">
              <a:solidFill>
                <a:schemeClr val="dk1"/>
              </a:solidFill>
              <a:latin typeface="Inter"/>
              <a:ea typeface="Inter"/>
              <a:cs typeface="Inter"/>
              <a:sym typeface="Inter"/>
            </a:endParaRPr>
          </a:p>
        </p:txBody>
      </p:sp>
      <p:sp>
        <p:nvSpPr>
          <p:cNvPr id="234" name="Google Shape;234;p10"/>
          <p:cNvSpPr/>
          <p:nvPr/>
        </p:nvSpPr>
        <p:spPr>
          <a:xfrm>
            <a:off x="8080375" y="1753195"/>
            <a:ext cx="3295650" cy="846931"/>
          </a:xfrm>
          <a:prstGeom prst="roundRect">
            <a:avLst>
              <a:gd fmla="val 8622"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5" name="Google Shape;235;p10"/>
          <p:cNvSpPr/>
          <p:nvPr/>
        </p:nvSpPr>
        <p:spPr>
          <a:xfrm>
            <a:off x="8235950" y="1908770"/>
            <a:ext cx="307403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200"/>
              <a:buFont typeface="Inter"/>
              <a:buNone/>
            </a:pPr>
            <a:r>
              <a:rPr b="1" lang="en-US" sz="1200">
                <a:solidFill>
                  <a:srgbClr val="0F2743"/>
                </a:solidFill>
                <a:latin typeface="Inter"/>
                <a:ea typeface="Inter"/>
                <a:cs typeface="Inter"/>
                <a:sym typeface="Inter"/>
              </a:rPr>
              <a:t>VÁLIDO</a:t>
            </a:r>
            <a:endParaRPr sz="1200">
              <a:solidFill>
                <a:schemeClr val="dk1"/>
              </a:solidFill>
              <a:latin typeface="Inter"/>
              <a:ea typeface="Inter"/>
              <a:cs typeface="Inter"/>
              <a:sym typeface="Inter"/>
            </a:endParaRPr>
          </a:p>
        </p:txBody>
      </p:sp>
      <p:sp>
        <p:nvSpPr>
          <p:cNvPr id="236" name="Google Shape;236;p10"/>
          <p:cNvSpPr/>
          <p:nvPr/>
        </p:nvSpPr>
        <p:spPr>
          <a:xfrm>
            <a:off x="8235950" y="2160191"/>
            <a:ext cx="307403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Sin hallazgos. Pasa al tablero.</a:t>
            </a:r>
            <a:endParaRPr sz="1200">
              <a:solidFill>
                <a:schemeClr val="dk1"/>
              </a:solidFill>
              <a:latin typeface="Inter"/>
              <a:ea typeface="Inter"/>
              <a:cs typeface="Inter"/>
              <a:sym typeface="Inter"/>
            </a:endParaRPr>
          </a:p>
        </p:txBody>
      </p:sp>
      <p:sp>
        <p:nvSpPr>
          <p:cNvPr id="237" name="Google Shape;237;p10"/>
          <p:cNvSpPr/>
          <p:nvPr/>
        </p:nvSpPr>
        <p:spPr>
          <a:xfrm>
            <a:off x="8080375" y="2708077"/>
            <a:ext cx="3295650" cy="847030"/>
          </a:xfrm>
          <a:prstGeom prst="roundRect">
            <a:avLst>
              <a:gd fmla="val 8621" name="adj"/>
            </a:avLst>
          </a:prstGeom>
          <a:solidFill>
            <a:srgbClr val="FBEFD5"/>
          </a:solidFill>
          <a:ln cap="flat" cmpd="sng" w="9525">
            <a:solidFill>
              <a:srgbClr val="E9CF9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8" name="Google Shape;238;p10"/>
          <p:cNvSpPr/>
          <p:nvPr/>
        </p:nvSpPr>
        <p:spPr>
          <a:xfrm>
            <a:off x="8235950" y="2863652"/>
            <a:ext cx="307403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200"/>
              <a:buFont typeface="Inter"/>
              <a:buNone/>
            </a:pPr>
            <a:r>
              <a:rPr b="1" lang="en-US" sz="1200">
                <a:solidFill>
                  <a:srgbClr val="0F2743"/>
                </a:solidFill>
                <a:latin typeface="Inter"/>
                <a:ea typeface="Inter"/>
                <a:cs typeface="Inter"/>
                <a:sym typeface="Inter"/>
              </a:rPr>
              <a:t>CON ADVERTENCIA</a:t>
            </a:r>
            <a:endParaRPr sz="1200">
              <a:solidFill>
                <a:schemeClr val="dk1"/>
              </a:solidFill>
              <a:latin typeface="Inter"/>
              <a:ea typeface="Inter"/>
              <a:cs typeface="Inter"/>
              <a:sym typeface="Inter"/>
            </a:endParaRPr>
          </a:p>
        </p:txBody>
      </p:sp>
      <p:sp>
        <p:nvSpPr>
          <p:cNvPr id="239" name="Google Shape;239;p10"/>
          <p:cNvSpPr/>
          <p:nvPr/>
        </p:nvSpPr>
        <p:spPr>
          <a:xfrm>
            <a:off x="8235950" y="3115072"/>
            <a:ext cx="307403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Pasa, con la advertencia registrada.</a:t>
            </a:r>
            <a:endParaRPr sz="1200">
              <a:solidFill>
                <a:schemeClr val="dk1"/>
              </a:solidFill>
              <a:latin typeface="Inter"/>
              <a:ea typeface="Inter"/>
              <a:cs typeface="Inter"/>
              <a:sym typeface="Inter"/>
            </a:endParaRPr>
          </a:p>
        </p:txBody>
      </p:sp>
      <p:sp>
        <p:nvSpPr>
          <p:cNvPr id="240" name="Google Shape;240;p10"/>
          <p:cNvSpPr/>
          <p:nvPr/>
        </p:nvSpPr>
        <p:spPr>
          <a:xfrm>
            <a:off x="8077200" y="3659882"/>
            <a:ext cx="3302000" cy="840680"/>
          </a:xfrm>
          <a:prstGeom prst="roundRect">
            <a:avLst>
              <a:gd fmla="val 9064" name="adj"/>
            </a:avLst>
          </a:prstGeom>
          <a:solidFill>
            <a:srgbClr val="0F27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41" name="Google Shape;241;p10"/>
          <p:cNvSpPr/>
          <p:nvPr/>
        </p:nvSpPr>
        <p:spPr>
          <a:xfrm>
            <a:off x="8229600" y="3812282"/>
            <a:ext cx="3087116" cy="19129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2B"/>
              </a:buClr>
              <a:buSzPts val="945"/>
              <a:buFont typeface="Inter"/>
              <a:buNone/>
            </a:pPr>
            <a:r>
              <a:rPr b="1" lang="en-US" sz="945">
                <a:solidFill>
                  <a:srgbClr val="E3A82B"/>
                </a:solidFill>
                <a:latin typeface="Inter"/>
                <a:ea typeface="Inter"/>
                <a:cs typeface="Inter"/>
                <a:sym typeface="Inter"/>
              </a:rPr>
              <a:t>INVÁLIDO</a:t>
            </a:r>
            <a:endParaRPr sz="945">
              <a:solidFill>
                <a:schemeClr val="dk1"/>
              </a:solidFill>
              <a:latin typeface="Inter"/>
              <a:ea typeface="Inter"/>
              <a:cs typeface="Inter"/>
              <a:sym typeface="Inter"/>
            </a:endParaRPr>
          </a:p>
        </p:txBody>
      </p:sp>
      <p:sp>
        <p:nvSpPr>
          <p:cNvPr id="242" name="Google Shape;242;p10"/>
          <p:cNvSpPr/>
          <p:nvPr/>
        </p:nvSpPr>
        <p:spPr>
          <a:xfrm>
            <a:off x="8229600" y="4016276"/>
            <a:ext cx="3087116" cy="357287"/>
          </a:xfrm>
          <a:prstGeom prst="rect">
            <a:avLst/>
          </a:prstGeom>
          <a:noFill/>
          <a:ln>
            <a:noFill/>
          </a:ln>
        </p:spPr>
        <p:txBody>
          <a:bodyPr anchorCtr="0" anchor="t" bIns="0" lIns="0" spcFirstLastPara="1" rIns="0" wrap="square" tIns="0">
            <a:noAutofit/>
          </a:bodyPr>
          <a:lstStyle/>
          <a:p>
            <a:pPr indent="0" lvl="0" marL="0" marR="0" rtl="0" algn="l">
              <a:lnSpc>
                <a:spcPct val="139935"/>
              </a:lnSpc>
              <a:spcBef>
                <a:spcPts val="0"/>
              </a:spcBef>
              <a:spcAft>
                <a:spcPts val="0"/>
              </a:spcAft>
              <a:buClr>
                <a:srgbClr val="F4F5F9"/>
              </a:buClr>
              <a:buSzPts val="934"/>
              <a:buFont typeface="Inter"/>
              <a:buNone/>
            </a:pPr>
            <a:r>
              <a:rPr lang="en-US" sz="934">
                <a:solidFill>
                  <a:srgbClr val="F4F5F9"/>
                </a:solidFill>
                <a:latin typeface="Inter"/>
                <a:ea typeface="Inter"/>
                <a:cs typeface="Inter"/>
                <a:sym typeface="Inter"/>
              </a:rPr>
              <a:t>Va a cuarentena con su motivo. Nunca llega al tablero.</a:t>
            </a:r>
            <a:endParaRPr sz="934">
              <a:solidFill>
                <a:schemeClr val="dk1"/>
              </a:solidFill>
              <a:latin typeface="Inter"/>
              <a:ea typeface="Inter"/>
              <a:cs typeface="Inter"/>
              <a:sym typeface="Inter"/>
            </a:endParaRPr>
          </a:p>
        </p:txBody>
      </p:sp>
      <p:sp>
        <p:nvSpPr>
          <p:cNvPr id="243" name="Google Shape;243;p10"/>
          <p:cNvSpPr/>
          <p:nvPr/>
        </p:nvSpPr>
        <p:spPr>
          <a:xfrm>
            <a:off x="812800" y="4779963"/>
            <a:ext cx="10566400" cy="609600"/>
          </a:xfrm>
          <a:prstGeom prst="roundRect">
            <a:avLst>
              <a:gd fmla="val 12500" name="adj"/>
            </a:avLst>
          </a:prstGeom>
          <a:solidFill>
            <a:srgbClr val="0F27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44" name="Google Shape;244;p10"/>
          <p:cNvSpPr/>
          <p:nvPr/>
        </p:nvSpPr>
        <p:spPr>
          <a:xfrm>
            <a:off x="1066800" y="4957763"/>
            <a:ext cx="50800" cy="254000"/>
          </a:xfrm>
          <a:prstGeom prst="roundRect">
            <a:avLst>
              <a:gd fmla="val 5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45" name="Google Shape;245;p10"/>
          <p:cNvSpPr/>
          <p:nvPr/>
        </p:nvSpPr>
        <p:spPr>
          <a:xfrm>
            <a:off x="1295400" y="4960342"/>
            <a:ext cx="10124694"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400"/>
              <a:buFont typeface="Inter"/>
              <a:buNone/>
            </a:pPr>
            <a:r>
              <a:rPr lang="en-US" sz="1400">
                <a:solidFill>
                  <a:srgbClr val="F4F5F9"/>
                </a:solidFill>
                <a:latin typeface="Inter"/>
                <a:ea typeface="Inter"/>
                <a:cs typeface="Inter"/>
                <a:sym typeface="Inter"/>
              </a:rPr>
              <a:t>Los rangos se acuerdan con sus agrónomos y se ajustan sin reprogramar.</a:t>
            </a:r>
            <a:endParaRPr sz="1400">
              <a:solidFill>
                <a:schemeClr val="dk1"/>
              </a:solidFill>
              <a:latin typeface="Inter"/>
              <a:ea typeface="Inter"/>
              <a:cs typeface="Inter"/>
              <a:sym typeface="Inter"/>
            </a:endParaRPr>
          </a:p>
        </p:txBody>
      </p:sp>
      <p:sp>
        <p:nvSpPr>
          <p:cNvPr id="246" name="Google Shape;246;p10"/>
          <p:cNvSpPr/>
          <p:nvPr/>
        </p:nvSpPr>
        <p:spPr>
          <a:xfrm>
            <a:off x="9093200" y="6238280"/>
            <a:ext cx="558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07</a:t>
            </a:r>
            <a:endParaRPr sz="1200">
              <a:solidFill>
                <a:schemeClr val="dk1"/>
              </a:solidFill>
              <a:latin typeface="Inter"/>
              <a:ea typeface="Inter"/>
              <a:cs typeface="Inter"/>
              <a:sym typeface="Inter"/>
            </a:endParaRPr>
          </a:p>
        </p:txBody>
      </p:sp>
      <p:pic>
        <p:nvPicPr>
          <p:cNvPr descr="Logotipo de Datum Sur" id="247" name="Google Shape;247;p10"/>
          <p:cNvPicPr preferRelativeResize="0"/>
          <p:nvPr/>
        </p:nvPicPr>
        <p:blipFill rotWithShape="1">
          <a:blip r:embed="rId3">
            <a:alphaModFix/>
          </a:blip>
          <a:srcRect b="-584" l="0" r="0" t="-584"/>
          <a:stretch/>
        </p:blipFill>
        <p:spPr>
          <a:xfrm>
            <a:off x="10617200" y="6223000"/>
            <a:ext cx="762000" cy="279400"/>
          </a:xfrm>
          <a:prstGeom prst="rect">
            <a:avLst/>
          </a:prstGeom>
          <a:noFill/>
          <a:ln>
            <a:noFill/>
          </a:ln>
        </p:spPr>
      </p:pic>
      <p:pic>
        <p:nvPicPr>
          <p:cNvPr descr="logo-uade » CEDOL" id="248" name="Google Shape;248;p10"/>
          <p:cNvPicPr preferRelativeResize="0"/>
          <p:nvPr/>
        </p:nvPicPr>
        <p:blipFill rotWithShape="1">
          <a:blip r:embed="rId4">
            <a:alphaModFix/>
          </a:blip>
          <a:srcRect b="0" l="0" r="0" t="0"/>
          <a:stretch/>
        </p:blipFill>
        <p:spPr>
          <a:xfrm>
            <a:off x="9862481" y="6160518"/>
            <a:ext cx="703920" cy="40371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E"/>
        </a:solidFill>
      </p:bgPr>
    </p:bg>
    <p:spTree>
      <p:nvGrpSpPr>
        <p:cNvPr id="253" name="Shape 253"/>
        <p:cNvGrpSpPr/>
        <p:nvPr/>
      </p:nvGrpSpPr>
      <p:grpSpPr>
        <a:xfrm>
          <a:off x="0" y="0"/>
          <a:ext cx="0" cy="0"/>
          <a:chOff x="0" y="0"/>
          <a:chExt cx="0" cy="0"/>
        </a:xfrm>
      </p:grpSpPr>
      <p:sp>
        <p:nvSpPr>
          <p:cNvPr id="254" name="Google Shape;254;p11"/>
          <p:cNvSpPr/>
          <p:nvPr/>
        </p:nvSpPr>
        <p:spPr>
          <a:xfrm>
            <a:off x="812800" y="798810"/>
            <a:ext cx="304800" cy="38100"/>
          </a:xfrm>
          <a:prstGeom prst="roundRect">
            <a:avLst>
              <a:gd fmla="val 5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5" name="Google Shape;255;p11"/>
          <p:cNvSpPr/>
          <p:nvPr/>
        </p:nvSpPr>
        <p:spPr>
          <a:xfrm>
            <a:off x="1219200" y="711200"/>
            <a:ext cx="289179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CI/CD</a:t>
            </a:r>
            <a:endParaRPr sz="1200">
              <a:solidFill>
                <a:schemeClr val="dk1"/>
              </a:solidFill>
              <a:latin typeface="Inter"/>
              <a:ea typeface="Inter"/>
              <a:cs typeface="Inter"/>
              <a:sym typeface="Inter"/>
            </a:endParaRPr>
          </a:p>
        </p:txBody>
      </p:sp>
      <p:sp>
        <p:nvSpPr>
          <p:cNvPr id="256" name="Google Shape;256;p11"/>
          <p:cNvSpPr txBox="1"/>
          <p:nvPr>
            <p:ph type="title"/>
          </p:nvPr>
        </p:nvSpPr>
        <p:spPr>
          <a:xfrm>
            <a:off x="812800" y="10515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2743"/>
              </a:buClr>
              <a:buSzPts val="3000"/>
              <a:buFont typeface="Inter"/>
              <a:buNone/>
            </a:pPr>
            <a:r>
              <a:rPr b="1" i="0" lang="en-US" sz="3000">
                <a:solidFill>
                  <a:srgbClr val="0F2743"/>
                </a:solidFill>
                <a:latin typeface="Inter"/>
                <a:ea typeface="Inter"/>
                <a:cs typeface="Inter"/>
                <a:sym typeface="Inter"/>
              </a:rPr>
              <a:t>Cada cambio se prueba antes de producción</a:t>
            </a:r>
            <a:endParaRPr sz="3000"/>
          </a:p>
        </p:txBody>
      </p:sp>
      <p:sp>
        <p:nvSpPr>
          <p:cNvPr id="257" name="Google Shape;257;p11"/>
          <p:cNvSpPr/>
          <p:nvPr/>
        </p:nvSpPr>
        <p:spPr>
          <a:xfrm>
            <a:off x="815975" y="1778595"/>
            <a:ext cx="1894384" cy="1276152"/>
          </a:xfrm>
          <a:prstGeom prst="roundRect">
            <a:avLst>
              <a:gd fmla="val 5722"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8" name="Google Shape;258;p11"/>
          <p:cNvSpPr/>
          <p:nvPr/>
        </p:nvSpPr>
        <p:spPr>
          <a:xfrm>
            <a:off x="971550" y="1934170"/>
            <a:ext cx="163403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DEV</a:t>
            </a:r>
            <a:endParaRPr sz="1200">
              <a:solidFill>
                <a:schemeClr val="dk1"/>
              </a:solidFill>
              <a:latin typeface="Inter"/>
              <a:ea typeface="Inter"/>
              <a:cs typeface="Inter"/>
              <a:sym typeface="Inter"/>
            </a:endParaRPr>
          </a:p>
        </p:txBody>
      </p:sp>
      <p:sp>
        <p:nvSpPr>
          <p:cNvPr id="259" name="Google Shape;259;p11"/>
          <p:cNvSpPr/>
          <p:nvPr/>
        </p:nvSpPr>
        <p:spPr>
          <a:xfrm>
            <a:off x="971550" y="2185591"/>
            <a:ext cx="1634034"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Desarrollo</a:t>
            </a:r>
            <a:endParaRPr sz="1400">
              <a:solidFill>
                <a:schemeClr val="dk1"/>
              </a:solidFill>
              <a:latin typeface="Inter"/>
              <a:ea typeface="Inter"/>
              <a:cs typeface="Inter"/>
              <a:sym typeface="Inter"/>
            </a:endParaRPr>
          </a:p>
        </p:txBody>
      </p:sp>
      <p:sp>
        <p:nvSpPr>
          <p:cNvPr id="260" name="Google Shape;260;p11"/>
          <p:cNvSpPr/>
          <p:nvPr/>
        </p:nvSpPr>
        <p:spPr>
          <a:xfrm>
            <a:off x="971550" y="2472531"/>
            <a:ext cx="1634034"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Se prueba cada cambio</a:t>
            </a:r>
            <a:endParaRPr sz="1200">
              <a:solidFill>
                <a:schemeClr val="dk1"/>
              </a:solidFill>
              <a:latin typeface="Inter"/>
              <a:ea typeface="Inter"/>
              <a:cs typeface="Inter"/>
              <a:sym typeface="Inter"/>
            </a:endParaRPr>
          </a:p>
        </p:txBody>
      </p:sp>
      <p:pic>
        <p:nvPicPr>
          <p:cNvPr descr="arrow-right" id="261" name="Google Shape;261;p11"/>
          <p:cNvPicPr preferRelativeResize="0"/>
          <p:nvPr/>
        </p:nvPicPr>
        <p:blipFill rotWithShape="1">
          <a:blip r:embed="rId3">
            <a:alphaModFix/>
          </a:blip>
          <a:srcRect b="0" l="0" r="0" t="0"/>
          <a:stretch/>
        </p:blipFill>
        <p:spPr>
          <a:xfrm>
            <a:off x="2789734" y="2346821"/>
            <a:ext cx="254000" cy="139700"/>
          </a:xfrm>
          <a:prstGeom prst="rect">
            <a:avLst/>
          </a:prstGeom>
          <a:noFill/>
          <a:ln>
            <a:noFill/>
          </a:ln>
        </p:spPr>
      </p:pic>
      <p:sp>
        <p:nvSpPr>
          <p:cNvPr id="262" name="Google Shape;262;p11"/>
          <p:cNvSpPr/>
          <p:nvPr/>
        </p:nvSpPr>
        <p:spPr>
          <a:xfrm>
            <a:off x="3123109" y="1778595"/>
            <a:ext cx="1894483" cy="1276152"/>
          </a:xfrm>
          <a:prstGeom prst="roundRect">
            <a:avLst>
              <a:gd fmla="val 5722"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63" name="Google Shape;263;p11"/>
          <p:cNvSpPr/>
          <p:nvPr/>
        </p:nvSpPr>
        <p:spPr>
          <a:xfrm>
            <a:off x="3278684" y="1934170"/>
            <a:ext cx="163413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STAGING</a:t>
            </a:r>
            <a:endParaRPr sz="1200">
              <a:solidFill>
                <a:schemeClr val="dk1"/>
              </a:solidFill>
              <a:latin typeface="Inter"/>
              <a:ea typeface="Inter"/>
              <a:cs typeface="Inter"/>
              <a:sym typeface="Inter"/>
            </a:endParaRPr>
          </a:p>
        </p:txBody>
      </p:sp>
      <p:sp>
        <p:nvSpPr>
          <p:cNvPr id="264" name="Google Shape;264;p11"/>
          <p:cNvSpPr/>
          <p:nvPr/>
        </p:nvSpPr>
        <p:spPr>
          <a:xfrm>
            <a:off x="3278684" y="2185591"/>
            <a:ext cx="1634133"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Preproducción</a:t>
            </a:r>
            <a:endParaRPr sz="1400">
              <a:solidFill>
                <a:schemeClr val="dk1"/>
              </a:solidFill>
              <a:latin typeface="Inter"/>
              <a:ea typeface="Inter"/>
              <a:cs typeface="Inter"/>
              <a:sym typeface="Inter"/>
            </a:endParaRPr>
          </a:p>
        </p:txBody>
      </p:sp>
      <p:sp>
        <p:nvSpPr>
          <p:cNvPr id="265" name="Google Shape;265;p11"/>
          <p:cNvSpPr/>
          <p:nvPr/>
        </p:nvSpPr>
        <p:spPr>
          <a:xfrm>
            <a:off x="3278684" y="2472531"/>
            <a:ext cx="1634133"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Proceso completo, como en real</a:t>
            </a:r>
            <a:endParaRPr sz="1200">
              <a:solidFill>
                <a:schemeClr val="dk1"/>
              </a:solidFill>
              <a:latin typeface="Inter"/>
              <a:ea typeface="Inter"/>
              <a:cs typeface="Inter"/>
              <a:sym typeface="Inter"/>
            </a:endParaRPr>
          </a:p>
        </p:txBody>
      </p:sp>
      <p:pic>
        <p:nvPicPr>
          <p:cNvPr descr="arrow-right" id="266" name="Google Shape;266;p11"/>
          <p:cNvPicPr preferRelativeResize="0"/>
          <p:nvPr/>
        </p:nvPicPr>
        <p:blipFill rotWithShape="1">
          <a:blip r:embed="rId3">
            <a:alphaModFix/>
          </a:blip>
          <a:srcRect b="0" l="0" r="0" t="0"/>
          <a:stretch/>
        </p:blipFill>
        <p:spPr>
          <a:xfrm>
            <a:off x="5096966" y="2346821"/>
            <a:ext cx="254000" cy="139700"/>
          </a:xfrm>
          <a:prstGeom prst="rect">
            <a:avLst/>
          </a:prstGeom>
          <a:noFill/>
          <a:ln>
            <a:noFill/>
          </a:ln>
        </p:spPr>
      </p:pic>
      <p:sp>
        <p:nvSpPr>
          <p:cNvPr id="267" name="Google Shape;267;p11"/>
          <p:cNvSpPr/>
          <p:nvPr/>
        </p:nvSpPr>
        <p:spPr>
          <a:xfrm>
            <a:off x="5427166" y="1775420"/>
            <a:ext cx="1888034" cy="1282502"/>
          </a:xfrm>
          <a:prstGeom prst="roundRect">
            <a:avLst>
              <a:gd fmla="val 5942" name="adj"/>
            </a:avLst>
          </a:prstGeom>
          <a:solidFill>
            <a:srgbClr val="0F27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68" name="Google Shape;268;p11"/>
          <p:cNvSpPr/>
          <p:nvPr/>
        </p:nvSpPr>
        <p:spPr>
          <a:xfrm>
            <a:off x="5579566" y="1927820"/>
            <a:ext cx="163403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2B"/>
              </a:buClr>
              <a:buSzPts val="1200"/>
              <a:buFont typeface="Inter"/>
              <a:buNone/>
            </a:pPr>
            <a:r>
              <a:rPr b="1" lang="en-US" sz="1200">
                <a:solidFill>
                  <a:srgbClr val="E3A82B"/>
                </a:solidFill>
                <a:latin typeface="Inter"/>
                <a:ea typeface="Inter"/>
                <a:cs typeface="Inter"/>
                <a:sym typeface="Inter"/>
              </a:rPr>
              <a:t>PROD</a:t>
            </a:r>
            <a:endParaRPr sz="1200">
              <a:solidFill>
                <a:schemeClr val="dk1"/>
              </a:solidFill>
              <a:latin typeface="Inter"/>
              <a:ea typeface="Inter"/>
              <a:cs typeface="Inter"/>
              <a:sym typeface="Inter"/>
            </a:endParaRPr>
          </a:p>
        </p:txBody>
      </p:sp>
      <p:sp>
        <p:nvSpPr>
          <p:cNvPr id="269" name="Google Shape;269;p11"/>
          <p:cNvSpPr/>
          <p:nvPr/>
        </p:nvSpPr>
        <p:spPr>
          <a:xfrm>
            <a:off x="5579566" y="2179241"/>
            <a:ext cx="1634034"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400"/>
              <a:buFont typeface="Inter"/>
              <a:buNone/>
            </a:pPr>
            <a:r>
              <a:rPr b="1" lang="en-US" sz="1400">
                <a:solidFill>
                  <a:srgbClr val="F4F5F9"/>
                </a:solidFill>
                <a:latin typeface="Inter"/>
                <a:ea typeface="Inter"/>
                <a:cs typeface="Inter"/>
                <a:sym typeface="Inter"/>
              </a:rPr>
              <a:t>Producción</a:t>
            </a:r>
            <a:endParaRPr sz="1400">
              <a:solidFill>
                <a:schemeClr val="dk1"/>
              </a:solidFill>
              <a:latin typeface="Inter"/>
              <a:ea typeface="Inter"/>
              <a:cs typeface="Inter"/>
              <a:sym typeface="Inter"/>
            </a:endParaRPr>
          </a:p>
        </p:txBody>
      </p:sp>
      <p:sp>
        <p:nvSpPr>
          <p:cNvPr id="270" name="Google Shape;270;p11"/>
          <p:cNvSpPr/>
          <p:nvPr/>
        </p:nvSpPr>
        <p:spPr>
          <a:xfrm>
            <a:off x="5579566" y="2466181"/>
            <a:ext cx="163403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Lo que usa el tablero</a:t>
            </a:r>
            <a:endParaRPr sz="1200">
              <a:solidFill>
                <a:schemeClr val="dk1"/>
              </a:solidFill>
              <a:latin typeface="Inter"/>
              <a:ea typeface="Inter"/>
              <a:cs typeface="Inter"/>
              <a:sym typeface="Inter"/>
            </a:endParaRPr>
          </a:p>
        </p:txBody>
      </p:sp>
      <p:sp>
        <p:nvSpPr>
          <p:cNvPr id="271" name="Google Shape;271;p11"/>
          <p:cNvSpPr/>
          <p:nvPr/>
        </p:nvSpPr>
        <p:spPr>
          <a:xfrm>
            <a:off x="815975" y="3238897"/>
            <a:ext cx="6496050" cy="483195"/>
          </a:xfrm>
          <a:prstGeom prst="roundRect">
            <a:avLst>
              <a:gd fmla="val 15113"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pic>
        <p:nvPicPr>
          <p:cNvPr descr="Code" id="272" name="Google Shape;272;p11"/>
          <p:cNvPicPr preferRelativeResize="0"/>
          <p:nvPr/>
        </p:nvPicPr>
        <p:blipFill rotWithShape="1">
          <a:blip r:embed="rId4">
            <a:alphaModFix/>
          </a:blip>
          <a:srcRect b="0" l="0" r="0" t="0"/>
          <a:stretch/>
        </p:blipFill>
        <p:spPr>
          <a:xfrm>
            <a:off x="971550" y="3378895"/>
            <a:ext cx="203200" cy="203200"/>
          </a:xfrm>
          <a:prstGeom prst="rect">
            <a:avLst/>
          </a:prstGeom>
          <a:noFill/>
          <a:ln>
            <a:noFill/>
          </a:ln>
        </p:spPr>
      </p:pic>
      <p:sp>
        <p:nvSpPr>
          <p:cNvPr id="273" name="Google Shape;273;p11"/>
          <p:cNvSpPr/>
          <p:nvPr/>
        </p:nvSpPr>
        <p:spPr>
          <a:xfrm>
            <a:off x="1276350" y="3369072"/>
            <a:ext cx="6056503" cy="24824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F2743"/>
              </a:buClr>
              <a:buSzPts val="1300"/>
              <a:buFont typeface="Inter"/>
              <a:buNone/>
            </a:pPr>
            <a:r>
              <a:rPr b="1" lang="en-US" sz="1300">
                <a:solidFill>
                  <a:srgbClr val="0F2743"/>
                </a:solidFill>
                <a:latin typeface="Inter"/>
                <a:ea typeface="Inter"/>
                <a:cs typeface="Inter"/>
                <a:sym typeface="Inter"/>
              </a:rPr>
              <a:t>Revisión automática</a:t>
            </a:r>
            <a:r>
              <a:rPr lang="en-US" sz="1300">
                <a:solidFill>
                  <a:srgbClr val="0F2743"/>
                </a:solidFill>
                <a:latin typeface="Inter"/>
                <a:ea typeface="Inter"/>
                <a:cs typeface="Inter"/>
                <a:sym typeface="Inter"/>
              </a:rPr>
              <a:t> del código y del archivo de reglas</a:t>
            </a:r>
            <a:endParaRPr sz="1300">
              <a:solidFill>
                <a:schemeClr val="dk1"/>
              </a:solidFill>
              <a:latin typeface="Inter"/>
              <a:ea typeface="Inter"/>
              <a:cs typeface="Inter"/>
              <a:sym typeface="Inter"/>
            </a:endParaRPr>
          </a:p>
        </p:txBody>
      </p:sp>
      <p:sp>
        <p:nvSpPr>
          <p:cNvPr id="274" name="Google Shape;274;p11"/>
          <p:cNvSpPr/>
          <p:nvPr/>
        </p:nvSpPr>
        <p:spPr>
          <a:xfrm>
            <a:off x="815975" y="3804642"/>
            <a:ext cx="6496050" cy="483195"/>
          </a:xfrm>
          <a:prstGeom prst="roundRect">
            <a:avLst>
              <a:gd fmla="val 15113"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pic>
        <p:nvPicPr>
          <p:cNvPr descr="CheckCircle" id="275" name="Google Shape;275;p11"/>
          <p:cNvPicPr preferRelativeResize="0"/>
          <p:nvPr/>
        </p:nvPicPr>
        <p:blipFill rotWithShape="1">
          <a:blip r:embed="rId5">
            <a:alphaModFix/>
          </a:blip>
          <a:srcRect b="0" l="0" r="0" t="0"/>
          <a:stretch/>
        </p:blipFill>
        <p:spPr>
          <a:xfrm>
            <a:off x="971550" y="3944640"/>
            <a:ext cx="203200" cy="203200"/>
          </a:xfrm>
          <a:prstGeom prst="rect">
            <a:avLst/>
          </a:prstGeom>
          <a:noFill/>
          <a:ln>
            <a:noFill/>
          </a:ln>
        </p:spPr>
      </p:pic>
      <p:sp>
        <p:nvSpPr>
          <p:cNvPr id="276" name="Google Shape;276;p11"/>
          <p:cNvSpPr/>
          <p:nvPr/>
        </p:nvSpPr>
        <p:spPr>
          <a:xfrm>
            <a:off x="1276350" y="3934817"/>
            <a:ext cx="6056503" cy="24824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F2743"/>
              </a:buClr>
              <a:buSzPts val="1300"/>
              <a:buFont typeface="Inter"/>
              <a:buNone/>
            </a:pPr>
            <a:r>
              <a:rPr b="1" lang="en-US" sz="1300">
                <a:solidFill>
                  <a:srgbClr val="0F2743"/>
                </a:solidFill>
                <a:latin typeface="Inter"/>
                <a:ea typeface="Inter"/>
                <a:cs typeface="Inter"/>
                <a:sym typeface="Inter"/>
              </a:rPr>
              <a:t>Pruebas automáticas</a:t>
            </a:r>
            <a:r>
              <a:rPr lang="en-US" sz="1300">
                <a:solidFill>
                  <a:srgbClr val="0F2743"/>
                </a:solidFill>
                <a:latin typeface="Inter"/>
                <a:ea typeface="Inter"/>
                <a:cs typeface="Inter"/>
                <a:sym typeface="Inter"/>
              </a:rPr>
              <a:t> con cobertura mínima del 80 % en la validación</a:t>
            </a:r>
            <a:endParaRPr sz="1300">
              <a:solidFill>
                <a:schemeClr val="dk1"/>
              </a:solidFill>
              <a:latin typeface="Inter"/>
              <a:ea typeface="Inter"/>
              <a:cs typeface="Inter"/>
              <a:sym typeface="Inter"/>
            </a:endParaRPr>
          </a:p>
        </p:txBody>
      </p:sp>
      <p:sp>
        <p:nvSpPr>
          <p:cNvPr id="277" name="Google Shape;277;p11"/>
          <p:cNvSpPr/>
          <p:nvPr/>
        </p:nvSpPr>
        <p:spPr>
          <a:xfrm>
            <a:off x="815975" y="4370388"/>
            <a:ext cx="6496050" cy="483195"/>
          </a:xfrm>
          <a:prstGeom prst="roundRect">
            <a:avLst>
              <a:gd fmla="val 15113" name="adj"/>
            </a:avLst>
          </a:prstGeom>
          <a:solidFill>
            <a:srgbClr val="FBEFD5"/>
          </a:solidFill>
          <a:ln cap="flat" cmpd="sng" w="9525">
            <a:solidFill>
              <a:srgbClr val="E9CF9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pic>
        <p:nvPicPr>
          <p:cNvPr descr="Lock" id="278" name="Google Shape;278;p11"/>
          <p:cNvPicPr preferRelativeResize="0"/>
          <p:nvPr/>
        </p:nvPicPr>
        <p:blipFill rotWithShape="1">
          <a:blip r:embed="rId6">
            <a:alphaModFix/>
          </a:blip>
          <a:srcRect b="0" l="0" r="0" t="0"/>
          <a:stretch/>
        </p:blipFill>
        <p:spPr>
          <a:xfrm>
            <a:off x="971550" y="4510385"/>
            <a:ext cx="203200" cy="203200"/>
          </a:xfrm>
          <a:prstGeom prst="rect">
            <a:avLst/>
          </a:prstGeom>
          <a:noFill/>
          <a:ln>
            <a:noFill/>
          </a:ln>
        </p:spPr>
      </p:pic>
      <p:sp>
        <p:nvSpPr>
          <p:cNvPr id="279" name="Google Shape;279;p11"/>
          <p:cNvSpPr/>
          <p:nvPr/>
        </p:nvSpPr>
        <p:spPr>
          <a:xfrm>
            <a:off x="1276350" y="4500563"/>
            <a:ext cx="6056503" cy="24824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0F2743"/>
              </a:buClr>
              <a:buSzPts val="1300"/>
              <a:buFont typeface="Inter"/>
              <a:buNone/>
            </a:pPr>
            <a:r>
              <a:rPr b="1" lang="en-US" sz="1300">
                <a:solidFill>
                  <a:srgbClr val="0F2743"/>
                </a:solidFill>
                <a:latin typeface="Inter"/>
                <a:ea typeface="Inter"/>
                <a:cs typeface="Inter"/>
                <a:sym typeface="Inter"/>
              </a:rPr>
              <a:t>Prueba de control:</a:t>
            </a:r>
            <a:r>
              <a:rPr lang="en-US" sz="1300">
                <a:solidFill>
                  <a:srgbClr val="0F2743"/>
                </a:solidFill>
                <a:latin typeface="Inter"/>
                <a:ea typeface="Inter"/>
                <a:cs typeface="Inter"/>
                <a:sym typeface="Inter"/>
              </a:rPr>
              <a:t> la capa Oro nunca contiene datos inválidos</a:t>
            </a:r>
            <a:endParaRPr sz="1300">
              <a:solidFill>
                <a:schemeClr val="dk1"/>
              </a:solidFill>
              <a:latin typeface="Inter"/>
              <a:ea typeface="Inter"/>
              <a:cs typeface="Inter"/>
              <a:sym typeface="Inter"/>
            </a:endParaRPr>
          </a:p>
        </p:txBody>
      </p:sp>
      <p:sp>
        <p:nvSpPr>
          <p:cNvPr id="280" name="Google Shape;280;p11"/>
          <p:cNvSpPr/>
          <p:nvPr/>
        </p:nvSpPr>
        <p:spPr>
          <a:xfrm>
            <a:off x="7569200" y="1775420"/>
            <a:ext cx="3810000" cy="3601244"/>
          </a:xfrm>
          <a:prstGeom prst="roundRect">
            <a:avLst>
              <a:gd fmla="val 2116" name="adj"/>
            </a:avLst>
          </a:prstGeom>
          <a:solidFill>
            <a:srgbClr val="0F27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81" name="Google Shape;281;p11"/>
          <p:cNvSpPr/>
          <p:nvPr/>
        </p:nvSpPr>
        <p:spPr>
          <a:xfrm>
            <a:off x="7823200" y="2029420"/>
            <a:ext cx="3401060" cy="573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5F9"/>
              </a:buClr>
              <a:buSzPts val="1800"/>
              <a:buFont typeface="Inter"/>
              <a:buNone/>
            </a:pPr>
            <a:r>
              <a:rPr b="1" lang="en-US" sz="1800">
                <a:solidFill>
                  <a:srgbClr val="F4F5F9"/>
                </a:solidFill>
                <a:latin typeface="Inter"/>
                <a:ea typeface="Inter"/>
                <a:cs typeface="Inter"/>
                <a:sym typeface="Inter"/>
              </a:rPr>
              <a:t>Criterios de aceptación del MVP</a:t>
            </a:r>
            <a:endParaRPr sz="1800">
              <a:solidFill>
                <a:schemeClr val="dk1"/>
              </a:solidFill>
              <a:latin typeface="Inter"/>
              <a:ea typeface="Inter"/>
              <a:cs typeface="Inter"/>
              <a:sym typeface="Inter"/>
            </a:endParaRPr>
          </a:p>
        </p:txBody>
      </p:sp>
      <p:pic>
        <p:nvPicPr>
          <p:cNvPr descr="Check" id="282" name="Google Shape;282;p11"/>
          <p:cNvPicPr preferRelativeResize="0"/>
          <p:nvPr/>
        </p:nvPicPr>
        <p:blipFill rotWithShape="1">
          <a:blip r:embed="rId7">
            <a:alphaModFix/>
          </a:blip>
          <a:srcRect b="0" l="0" r="0" t="0"/>
          <a:stretch/>
        </p:blipFill>
        <p:spPr>
          <a:xfrm>
            <a:off x="7823200" y="2714724"/>
            <a:ext cx="203200" cy="203200"/>
          </a:xfrm>
          <a:prstGeom prst="rect">
            <a:avLst/>
          </a:prstGeom>
          <a:noFill/>
          <a:ln>
            <a:noFill/>
          </a:ln>
        </p:spPr>
      </p:pic>
      <p:sp>
        <p:nvSpPr>
          <p:cNvPr id="283" name="Google Shape;283;p11"/>
          <p:cNvSpPr/>
          <p:nvPr/>
        </p:nvSpPr>
        <p:spPr>
          <a:xfrm>
            <a:off x="8115300" y="2704902"/>
            <a:ext cx="3100197" cy="24824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F4F5F9"/>
              </a:buClr>
              <a:buSzPts val="1300"/>
              <a:buFont typeface="Inter"/>
              <a:buNone/>
            </a:pPr>
            <a:r>
              <a:rPr lang="en-US" sz="1300">
                <a:solidFill>
                  <a:srgbClr val="F4F5F9"/>
                </a:solidFill>
                <a:latin typeface="Inter"/>
                <a:ea typeface="Inter"/>
                <a:cs typeface="Inter"/>
                <a:sym typeface="Inter"/>
              </a:rPr>
              <a:t>2 fuentes y 8 campos integrados</a:t>
            </a:r>
            <a:endParaRPr sz="1300">
              <a:solidFill>
                <a:schemeClr val="dk1"/>
              </a:solidFill>
              <a:latin typeface="Inter"/>
              <a:ea typeface="Inter"/>
              <a:cs typeface="Inter"/>
              <a:sym typeface="Inter"/>
            </a:endParaRPr>
          </a:p>
        </p:txBody>
      </p:sp>
      <p:pic>
        <p:nvPicPr>
          <p:cNvPr descr="Check" id="284" name="Google Shape;284;p11"/>
          <p:cNvPicPr preferRelativeResize="0"/>
          <p:nvPr/>
        </p:nvPicPr>
        <p:blipFill rotWithShape="1">
          <a:blip r:embed="rId7">
            <a:alphaModFix/>
          </a:blip>
          <a:srcRect b="0" l="0" r="0" t="0"/>
          <a:stretch/>
        </p:blipFill>
        <p:spPr>
          <a:xfrm>
            <a:off x="7823200" y="3064570"/>
            <a:ext cx="203200" cy="203200"/>
          </a:xfrm>
          <a:prstGeom prst="rect">
            <a:avLst/>
          </a:prstGeom>
          <a:noFill/>
          <a:ln>
            <a:noFill/>
          </a:ln>
        </p:spPr>
      </p:pic>
      <p:sp>
        <p:nvSpPr>
          <p:cNvPr id="285" name="Google Shape;285;p11"/>
          <p:cNvSpPr/>
          <p:nvPr/>
        </p:nvSpPr>
        <p:spPr>
          <a:xfrm>
            <a:off x="8115300" y="3054747"/>
            <a:ext cx="3100197" cy="24824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F4F5F9"/>
              </a:buClr>
              <a:buSzPts val="1300"/>
              <a:buFont typeface="Inter"/>
              <a:buNone/>
            </a:pPr>
            <a:r>
              <a:rPr lang="en-US" sz="1300">
                <a:solidFill>
                  <a:srgbClr val="F4F5F9"/>
                </a:solidFill>
                <a:latin typeface="Inter"/>
                <a:ea typeface="Inter"/>
                <a:cs typeface="Inter"/>
                <a:sym typeface="Inter"/>
              </a:rPr>
              <a:t>100 % de los registros clasificados</a:t>
            </a:r>
            <a:endParaRPr sz="1300">
              <a:solidFill>
                <a:schemeClr val="dk1"/>
              </a:solidFill>
              <a:latin typeface="Inter"/>
              <a:ea typeface="Inter"/>
              <a:cs typeface="Inter"/>
              <a:sym typeface="Inter"/>
            </a:endParaRPr>
          </a:p>
        </p:txBody>
      </p:sp>
      <p:pic>
        <p:nvPicPr>
          <p:cNvPr descr="Check" id="286" name="Google Shape;286;p11"/>
          <p:cNvPicPr preferRelativeResize="0"/>
          <p:nvPr/>
        </p:nvPicPr>
        <p:blipFill rotWithShape="1">
          <a:blip r:embed="rId7">
            <a:alphaModFix/>
          </a:blip>
          <a:srcRect b="0" l="0" r="0" t="0"/>
          <a:stretch/>
        </p:blipFill>
        <p:spPr>
          <a:xfrm>
            <a:off x="7823200" y="3414415"/>
            <a:ext cx="203200" cy="203200"/>
          </a:xfrm>
          <a:prstGeom prst="rect">
            <a:avLst/>
          </a:prstGeom>
          <a:noFill/>
          <a:ln>
            <a:noFill/>
          </a:ln>
        </p:spPr>
      </p:pic>
      <p:sp>
        <p:nvSpPr>
          <p:cNvPr id="287" name="Google Shape;287;p11"/>
          <p:cNvSpPr/>
          <p:nvPr/>
        </p:nvSpPr>
        <p:spPr>
          <a:xfrm>
            <a:off x="8115300" y="3404592"/>
            <a:ext cx="3100197" cy="24824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F4F5F9"/>
              </a:buClr>
              <a:buSzPts val="1300"/>
              <a:buFont typeface="Inter"/>
              <a:buNone/>
            </a:pPr>
            <a:r>
              <a:rPr lang="en-US" sz="1300">
                <a:solidFill>
                  <a:srgbClr val="F4F5F9"/>
                </a:solidFill>
                <a:latin typeface="Inter"/>
                <a:ea typeface="Inter"/>
                <a:cs typeface="Inter"/>
                <a:sym typeface="Inter"/>
              </a:rPr>
              <a:t>0 registros inválidos en el tablero</a:t>
            </a:r>
            <a:endParaRPr sz="1300">
              <a:solidFill>
                <a:schemeClr val="dk1"/>
              </a:solidFill>
              <a:latin typeface="Inter"/>
              <a:ea typeface="Inter"/>
              <a:cs typeface="Inter"/>
              <a:sym typeface="Inter"/>
            </a:endParaRPr>
          </a:p>
        </p:txBody>
      </p:sp>
      <p:pic>
        <p:nvPicPr>
          <p:cNvPr descr="Check" id="288" name="Google Shape;288;p11"/>
          <p:cNvPicPr preferRelativeResize="0"/>
          <p:nvPr/>
        </p:nvPicPr>
        <p:blipFill rotWithShape="1">
          <a:blip r:embed="rId7">
            <a:alphaModFix/>
          </a:blip>
          <a:srcRect b="0" l="0" r="0" t="0"/>
          <a:stretch/>
        </p:blipFill>
        <p:spPr>
          <a:xfrm>
            <a:off x="7823200" y="3875683"/>
            <a:ext cx="203200" cy="203200"/>
          </a:xfrm>
          <a:prstGeom prst="rect">
            <a:avLst/>
          </a:prstGeom>
          <a:noFill/>
          <a:ln>
            <a:noFill/>
          </a:ln>
        </p:spPr>
      </p:pic>
      <p:sp>
        <p:nvSpPr>
          <p:cNvPr id="289" name="Google Shape;289;p11"/>
          <p:cNvSpPr/>
          <p:nvPr/>
        </p:nvSpPr>
        <p:spPr>
          <a:xfrm>
            <a:off x="8115300" y="3754438"/>
            <a:ext cx="3100197" cy="471091"/>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F4F5F9"/>
              </a:buClr>
              <a:buSzPts val="1300"/>
              <a:buFont typeface="Inter"/>
              <a:buNone/>
            </a:pPr>
            <a:r>
              <a:rPr lang="en-US" sz="1300">
                <a:solidFill>
                  <a:srgbClr val="F4F5F9"/>
                </a:solidFill>
                <a:latin typeface="Inter"/>
                <a:ea typeface="Inter"/>
                <a:cs typeface="Inter"/>
                <a:sym typeface="Inter"/>
              </a:rPr>
              <a:t>100 % de las reglas de rechazo con pruebas</a:t>
            </a:r>
            <a:endParaRPr sz="1300">
              <a:solidFill>
                <a:schemeClr val="dk1"/>
              </a:solidFill>
              <a:latin typeface="Inter"/>
              <a:ea typeface="Inter"/>
              <a:cs typeface="Inter"/>
              <a:sym typeface="Inter"/>
            </a:endParaRPr>
          </a:p>
        </p:txBody>
      </p:sp>
      <p:pic>
        <p:nvPicPr>
          <p:cNvPr descr="Check" id="290" name="Google Shape;290;p11"/>
          <p:cNvPicPr preferRelativeResize="0"/>
          <p:nvPr/>
        </p:nvPicPr>
        <p:blipFill rotWithShape="1">
          <a:blip r:embed="rId7">
            <a:alphaModFix/>
          </a:blip>
          <a:srcRect b="0" l="0" r="0" t="0"/>
          <a:stretch/>
        </p:blipFill>
        <p:spPr>
          <a:xfrm>
            <a:off x="7823200" y="4336951"/>
            <a:ext cx="203200" cy="203200"/>
          </a:xfrm>
          <a:prstGeom prst="rect">
            <a:avLst/>
          </a:prstGeom>
          <a:noFill/>
          <a:ln>
            <a:noFill/>
          </a:ln>
        </p:spPr>
      </p:pic>
      <p:sp>
        <p:nvSpPr>
          <p:cNvPr id="291" name="Google Shape;291;p11"/>
          <p:cNvSpPr/>
          <p:nvPr/>
        </p:nvSpPr>
        <p:spPr>
          <a:xfrm>
            <a:off x="8115300" y="4327128"/>
            <a:ext cx="3100197" cy="248245"/>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F4F5F9"/>
              </a:buClr>
              <a:buSzPts val="1300"/>
              <a:buFont typeface="Inter"/>
              <a:buNone/>
            </a:pPr>
            <a:r>
              <a:rPr lang="en-US" sz="1300">
                <a:solidFill>
                  <a:srgbClr val="F4F5F9"/>
                </a:solidFill>
                <a:latin typeface="Inter"/>
                <a:ea typeface="Inter"/>
                <a:cs typeface="Inter"/>
                <a:sym typeface="Inter"/>
              </a:rPr>
              <a:t>Índice de Calidad por campo y día</a:t>
            </a:r>
            <a:endParaRPr sz="1300">
              <a:solidFill>
                <a:schemeClr val="dk1"/>
              </a:solidFill>
              <a:latin typeface="Inter"/>
              <a:ea typeface="Inter"/>
              <a:cs typeface="Inter"/>
              <a:sym typeface="Inter"/>
            </a:endParaRPr>
          </a:p>
        </p:txBody>
      </p:sp>
      <p:pic>
        <p:nvPicPr>
          <p:cNvPr descr="Check" id="292" name="Google Shape;292;p11"/>
          <p:cNvPicPr preferRelativeResize="0"/>
          <p:nvPr/>
        </p:nvPicPr>
        <p:blipFill rotWithShape="1">
          <a:blip r:embed="rId7">
            <a:alphaModFix/>
          </a:blip>
          <a:srcRect b="0" l="0" r="0" t="0"/>
          <a:stretch/>
        </p:blipFill>
        <p:spPr>
          <a:xfrm>
            <a:off x="7823200" y="4798219"/>
            <a:ext cx="203200" cy="203200"/>
          </a:xfrm>
          <a:prstGeom prst="rect">
            <a:avLst/>
          </a:prstGeom>
          <a:noFill/>
          <a:ln>
            <a:noFill/>
          </a:ln>
        </p:spPr>
      </p:pic>
      <p:sp>
        <p:nvSpPr>
          <p:cNvPr id="293" name="Google Shape;293;p11"/>
          <p:cNvSpPr/>
          <p:nvPr/>
        </p:nvSpPr>
        <p:spPr>
          <a:xfrm>
            <a:off x="8115300" y="4676973"/>
            <a:ext cx="3100197" cy="471091"/>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F4F5F9"/>
              </a:buClr>
              <a:buSzPts val="1300"/>
              <a:buFont typeface="Inter"/>
              <a:buNone/>
            </a:pPr>
            <a:r>
              <a:rPr lang="en-US" sz="1300">
                <a:solidFill>
                  <a:srgbClr val="F4F5F9"/>
                </a:solidFill>
                <a:latin typeface="Inter"/>
                <a:ea typeface="Inter"/>
                <a:cs typeface="Inter"/>
                <a:sym typeface="Inter"/>
              </a:rPr>
              <a:t>Tablero conectado solo a datos validados</a:t>
            </a:r>
            <a:endParaRPr sz="1300">
              <a:solidFill>
                <a:schemeClr val="dk1"/>
              </a:solidFill>
              <a:latin typeface="Inter"/>
              <a:ea typeface="Inter"/>
              <a:cs typeface="Inter"/>
              <a:sym typeface="Inter"/>
            </a:endParaRPr>
          </a:p>
        </p:txBody>
      </p:sp>
      <p:sp>
        <p:nvSpPr>
          <p:cNvPr id="294" name="Google Shape;294;p11"/>
          <p:cNvSpPr/>
          <p:nvPr/>
        </p:nvSpPr>
        <p:spPr>
          <a:xfrm>
            <a:off x="9093200" y="6238280"/>
            <a:ext cx="558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08</a:t>
            </a:r>
            <a:endParaRPr sz="1200">
              <a:solidFill>
                <a:schemeClr val="dk1"/>
              </a:solidFill>
              <a:latin typeface="Inter"/>
              <a:ea typeface="Inter"/>
              <a:cs typeface="Inter"/>
              <a:sym typeface="Inter"/>
            </a:endParaRPr>
          </a:p>
        </p:txBody>
      </p:sp>
      <p:pic>
        <p:nvPicPr>
          <p:cNvPr descr="Logotipo de Datum Sur" id="295" name="Google Shape;295;p11"/>
          <p:cNvPicPr preferRelativeResize="0"/>
          <p:nvPr/>
        </p:nvPicPr>
        <p:blipFill rotWithShape="1">
          <a:blip r:embed="rId8">
            <a:alphaModFix/>
          </a:blip>
          <a:srcRect b="-584" l="0" r="0" t="-584"/>
          <a:stretch/>
        </p:blipFill>
        <p:spPr>
          <a:xfrm>
            <a:off x="10617200" y="6223000"/>
            <a:ext cx="762000" cy="279400"/>
          </a:xfrm>
          <a:prstGeom prst="rect">
            <a:avLst/>
          </a:prstGeom>
          <a:noFill/>
          <a:ln>
            <a:noFill/>
          </a:ln>
        </p:spPr>
      </p:pic>
      <p:pic>
        <p:nvPicPr>
          <p:cNvPr descr="logo-uade » CEDOL" id="296" name="Google Shape;296;p11"/>
          <p:cNvPicPr preferRelativeResize="0"/>
          <p:nvPr/>
        </p:nvPicPr>
        <p:blipFill rotWithShape="1">
          <a:blip r:embed="rId9">
            <a:alphaModFix/>
          </a:blip>
          <a:srcRect b="0" l="0" r="0" t="0"/>
          <a:stretch/>
        </p:blipFill>
        <p:spPr>
          <a:xfrm>
            <a:off x="9862481" y="6160518"/>
            <a:ext cx="703920" cy="40371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2"/>
          <p:cNvSpPr/>
          <p:nvPr/>
        </p:nvSpPr>
        <p:spPr>
          <a:xfrm>
            <a:off x="812800" y="798810"/>
            <a:ext cx="304800" cy="38100"/>
          </a:xfrm>
          <a:prstGeom prst="roundRect">
            <a:avLst>
              <a:gd fmla="val 5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02" name="Google Shape;302;p12"/>
          <p:cNvSpPr/>
          <p:nvPr/>
        </p:nvSpPr>
        <p:spPr>
          <a:xfrm>
            <a:off x="1219200" y="711200"/>
            <a:ext cx="22527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Demo</a:t>
            </a:r>
            <a:endParaRPr sz="1200">
              <a:solidFill>
                <a:schemeClr val="dk1"/>
              </a:solidFill>
              <a:latin typeface="Inter"/>
              <a:ea typeface="Inter"/>
              <a:cs typeface="Inter"/>
              <a:sym typeface="Inter"/>
            </a:endParaRPr>
          </a:p>
        </p:txBody>
      </p:sp>
      <p:sp>
        <p:nvSpPr>
          <p:cNvPr id="303" name="Google Shape;303;p12"/>
          <p:cNvSpPr/>
          <p:nvPr/>
        </p:nvSpPr>
        <p:spPr>
          <a:xfrm>
            <a:off x="9358145" y="6462464"/>
            <a:ext cx="558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09</a:t>
            </a:r>
            <a:endParaRPr sz="1200">
              <a:solidFill>
                <a:schemeClr val="dk1"/>
              </a:solidFill>
              <a:latin typeface="Inter"/>
              <a:ea typeface="Inter"/>
              <a:cs typeface="Inter"/>
              <a:sym typeface="Inter"/>
            </a:endParaRPr>
          </a:p>
        </p:txBody>
      </p:sp>
      <p:pic>
        <p:nvPicPr>
          <p:cNvPr descr="Logotipo de Datum Sur" id="304" name="Google Shape;304;p12"/>
          <p:cNvPicPr preferRelativeResize="0"/>
          <p:nvPr/>
        </p:nvPicPr>
        <p:blipFill rotWithShape="1">
          <a:blip r:embed="rId3">
            <a:alphaModFix/>
          </a:blip>
          <a:srcRect b="-584" l="0" r="0" t="-584"/>
          <a:stretch/>
        </p:blipFill>
        <p:spPr>
          <a:xfrm>
            <a:off x="10882145" y="6447184"/>
            <a:ext cx="762001" cy="279400"/>
          </a:xfrm>
          <a:prstGeom prst="rect">
            <a:avLst/>
          </a:prstGeom>
          <a:noFill/>
          <a:ln>
            <a:noFill/>
          </a:ln>
        </p:spPr>
      </p:pic>
      <p:pic>
        <p:nvPicPr>
          <p:cNvPr descr="logo-uade » CEDOL" id="305" name="Google Shape;305;p12"/>
          <p:cNvPicPr preferRelativeResize="0"/>
          <p:nvPr/>
        </p:nvPicPr>
        <p:blipFill rotWithShape="1">
          <a:blip r:embed="rId4">
            <a:alphaModFix/>
          </a:blip>
          <a:srcRect b="0" l="0" r="0" t="0"/>
          <a:stretch/>
        </p:blipFill>
        <p:spPr>
          <a:xfrm>
            <a:off x="10127426" y="6384702"/>
            <a:ext cx="703920" cy="403719"/>
          </a:xfrm>
          <a:prstGeom prst="rect">
            <a:avLst/>
          </a:prstGeom>
          <a:noFill/>
          <a:ln>
            <a:noFill/>
          </a:ln>
        </p:spPr>
      </p:pic>
      <p:pic>
        <p:nvPicPr>
          <p:cNvPr id="306" name="Google Shape;306;p12" title="Demo.mp4">
            <a:hlinkClick r:id="rId5"/>
          </p:cNvPr>
          <p:cNvPicPr preferRelativeResize="0"/>
          <p:nvPr/>
        </p:nvPicPr>
        <p:blipFill>
          <a:blip r:embed="rId6">
            <a:alphaModFix/>
          </a:blip>
          <a:stretch>
            <a:fillRect/>
          </a:stretch>
        </p:blipFill>
        <p:spPr>
          <a:xfrm>
            <a:off x="1164500" y="981588"/>
            <a:ext cx="10186070" cy="54339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6"/>
                                        </p:tgtEl>
                                        <p:attrNameLst>
                                          <p:attrName>style.visibility</p:attrName>
                                        </p:attrNameLst>
                                      </p:cBhvr>
                                      <p:to>
                                        <p:strVal val="visible"/>
                                      </p:to>
                                    </p:set>
                                    <p:animEffect filter="fade" transition="in">
                                      <p:cBhvr>
                                        <p:cTn dur="1000"/>
                                        <p:tgtEl>
                                          <p:spTgt spid="3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E"/>
        </a:solidFill>
      </p:bgPr>
    </p:bg>
    <p:spTree>
      <p:nvGrpSpPr>
        <p:cNvPr id="311" name="Shape 311"/>
        <p:cNvGrpSpPr/>
        <p:nvPr/>
      </p:nvGrpSpPr>
      <p:grpSpPr>
        <a:xfrm>
          <a:off x="0" y="0"/>
          <a:ext cx="0" cy="0"/>
          <a:chOff x="0" y="0"/>
          <a:chExt cx="0" cy="0"/>
        </a:xfrm>
      </p:grpSpPr>
      <p:sp>
        <p:nvSpPr>
          <p:cNvPr id="312" name="Google Shape;312;p13"/>
          <p:cNvSpPr/>
          <p:nvPr/>
        </p:nvSpPr>
        <p:spPr>
          <a:xfrm>
            <a:off x="812800" y="798810"/>
            <a:ext cx="304800" cy="38100"/>
          </a:xfrm>
          <a:prstGeom prst="roundRect">
            <a:avLst>
              <a:gd fmla="val 5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13" name="Google Shape;313;p13"/>
          <p:cNvSpPr/>
          <p:nvPr/>
        </p:nvSpPr>
        <p:spPr>
          <a:xfrm>
            <a:off x="1219200" y="711200"/>
            <a:ext cx="3125867"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RIESGOS Y DEPENDENCIAS</a:t>
            </a:r>
            <a:endParaRPr sz="1200">
              <a:solidFill>
                <a:schemeClr val="dk1"/>
              </a:solidFill>
              <a:latin typeface="Inter"/>
              <a:ea typeface="Inter"/>
              <a:cs typeface="Inter"/>
              <a:sym typeface="Inter"/>
            </a:endParaRPr>
          </a:p>
        </p:txBody>
      </p:sp>
      <p:sp>
        <p:nvSpPr>
          <p:cNvPr id="314" name="Google Shape;314;p13"/>
          <p:cNvSpPr txBox="1"/>
          <p:nvPr>
            <p:ph type="title"/>
          </p:nvPr>
        </p:nvSpPr>
        <p:spPr>
          <a:xfrm>
            <a:off x="812800" y="10515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2743"/>
              </a:buClr>
              <a:buSzPts val="3000"/>
              <a:buFont typeface="Inter"/>
              <a:buNone/>
            </a:pPr>
            <a:r>
              <a:rPr b="1" i="0" lang="en-US" sz="3000">
                <a:solidFill>
                  <a:srgbClr val="0F2743"/>
                </a:solidFill>
                <a:latin typeface="Inter"/>
                <a:ea typeface="Inter"/>
                <a:cs typeface="Inter"/>
                <a:sym typeface="Inter"/>
              </a:rPr>
              <a:t>Tres riesgos altos, con mitigación y plan B</a:t>
            </a:r>
            <a:endParaRPr sz="3000"/>
          </a:p>
        </p:txBody>
      </p:sp>
      <p:sp>
        <p:nvSpPr>
          <p:cNvPr id="315" name="Google Shape;315;p13"/>
          <p:cNvSpPr/>
          <p:nvPr/>
        </p:nvSpPr>
        <p:spPr>
          <a:xfrm>
            <a:off x="815975" y="1778595"/>
            <a:ext cx="6673850" cy="1215231"/>
          </a:xfrm>
          <a:prstGeom prst="roundRect">
            <a:avLst>
              <a:gd fmla="val 6009"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16" name="Google Shape;316;p13"/>
          <p:cNvSpPr/>
          <p:nvPr/>
        </p:nvSpPr>
        <p:spPr>
          <a:xfrm>
            <a:off x="996950" y="1934170"/>
            <a:ext cx="19621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R01 · ALTA (16)</a:t>
            </a:r>
            <a:endParaRPr sz="1200">
              <a:solidFill>
                <a:schemeClr val="dk1"/>
              </a:solidFill>
              <a:latin typeface="Inter"/>
              <a:ea typeface="Inter"/>
              <a:cs typeface="Inter"/>
              <a:sym typeface="Inter"/>
            </a:endParaRPr>
          </a:p>
        </p:txBody>
      </p:sp>
      <p:sp>
        <p:nvSpPr>
          <p:cNvPr id="317" name="Google Shape;317;p13"/>
          <p:cNvSpPr/>
          <p:nvPr/>
        </p:nvSpPr>
        <p:spPr>
          <a:xfrm>
            <a:off x="996950" y="2185591"/>
            <a:ext cx="1962150" cy="469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Tareas críticas en una sola persona</a:t>
            </a:r>
            <a:endParaRPr sz="1400">
              <a:solidFill>
                <a:schemeClr val="dk1"/>
              </a:solidFill>
              <a:latin typeface="Inter"/>
              <a:ea typeface="Inter"/>
              <a:cs typeface="Inter"/>
              <a:sym typeface="Inter"/>
            </a:endParaRPr>
          </a:p>
        </p:txBody>
      </p:sp>
      <p:sp>
        <p:nvSpPr>
          <p:cNvPr id="318" name="Google Shape;318;p13"/>
          <p:cNvSpPr/>
          <p:nvPr/>
        </p:nvSpPr>
        <p:spPr>
          <a:xfrm>
            <a:off x="3054350" y="1934170"/>
            <a:ext cx="4382135"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Prevención:</a:t>
            </a:r>
            <a:r>
              <a:rPr lang="en-US" sz="1200">
                <a:solidFill>
                  <a:srgbClr val="4A5568"/>
                </a:solidFill>
                <a:latin typeface="Inter"/>
                <a:ea typeface="Inter"/>
                <a:cs typeface="Inter"/>
                <a:sym typeface="Inter"/>
              </a:rPr>
              <a:t> apoyo cruzado y seguimiento semanal de la ruta crítica.</a:t>
            </a:r>
            <a:endParaRPr sz="1200">
              <a:solidFill>
                <a:schemeClr val="dk1"/>
              </a:solidFill>
              <a:latin typeface="Inter"/>
              <a:ea typeface="Inter"/>
              <a:cs typeface="Inter"/>
              <a:sym typeface="Inter"/>
            </a:endParaRPr>
          </a:p>
        </p:txBody>
      </p:sp>
      <p:sp>
        <p:nvSpPr>
          <p:cNvPr id="319" name="Google Shape;319;p13"/>
          <p:cNvSpPr/>
          <p:nvPr/>
        </p:nvSpPr>
        <p:spPr>
          <a:xfrm>
            <a:off x="3054350" y="2411611"/>
            <a:ext cx="4382135"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Si ocurre:</a:t>
            </a:r>
            <a:r>
              <a:rPr lang="en-US" sz="1200">
                <a:solidFill>
                  <a:srgbClr val="4A5568"/>
                </a:solidFill>
                <a:latin typeface="Inter"/>
                <a:ea typeface="Inter"/>
                <a:cs typeface="Inter"/>
                <a:sym typeface="Inter"/>
              </a:rPr>
              <a:t> otro integrante asume la capa Plata y Oro se reduce a lo esencial.</a:t>
            </a:r>
            <a:endParaRPr sz="1200">
              <a:solidFill>
                <a:schemeClr val="dk1"/>
              </a:solidFill>
              <a:latin typeface="Inter"/>
              <a:ea typeface="Inter"/>
              <a:cs typeface="Inter"/>
              <a:sym typeface="Inter"/>
            </a:endParaRPr>
          </a:p>
        </p:txBody>
      </p:sp>
      <p:sp>
        <p:nvSpPr>
          <p:cNvPr id="320" name="Google Shape;320;p13"/>
          <p:cNvSpPr/>
          <p:nvPr/>
        </p:nvSpPr>
        <p:spPr>
          <a:xfrm>
            <a:off x="815975" y="3101777"/>
            <a:ext cx="6673850" cy="1007070"/>
          </a:xfrm>
          <a:prstGeom prst="roundRect">
            <a:avLst>
              <a:gd fmla="val 7251"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21" name="Google Shape;321;p13"/>
          <p:cNvSpPr/>
          <p:nvPr/>
        </p:nvSpPr>
        <p:spPr>
          <a:xfrm>
            <a:off x="996950" y="3257352"/>
            <a:ext cx="19621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R02 · ALTA (16)</a:t>
            </a:r>
            <a:endParaRPr sz="1200">
              <a:solidFill>
                <a:schemeClr val="dk1"/>
              </a:solidFill>
              <a:latin typeface="Inter"/>
              <a:ea typeface="Inter"/>
              <a:cs typeface="Inter"/>
              <a:sym typeface="Inter"/>
            </a:endParaRPr>
          </a:p>
        </p:txBody>
      </p:sp>
      <p:sp>
        <p:nvSpPr>
          <p:cNvPr id="322" name="Google Shape;322;p13"/>
          <p:cNvSpPr/>
          <p:nvPr/>
        </p:nvSpPr>
        <p:spPr>
          <a:xfrm>
            <a:off x="996950" y="3508772"/>
            <a:ext cx="1962150" cy="469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Crecimiento del alcance</a:t>
            </a:r>
            <a:endParaRPr sz="1400">
              <a:solidFill>
                <a:schemeClr val="dk1"/>
              </a:solidFill>
              <a:latin typeface="Inter"/>
              <a:ea typeface="Inter"/>
              <a:cs typeface="Inter"/>
              <a:sym typeface="Inter"/>
            </a:endParaRPr>
          </a:p>
        </p:txBody>
      </p:sp>
      <p:sp>
        <p:nvSpPr>
          <p:cNvPr id="323" name="Google Shape;323;p13"/>
          <p:cNvSpPr/>
          <p:nvPr/>
        </p:nvSpPr>
        <p:spPr>
          <a:xfrm>
            <a:off x="3054350" y="3257352"/>
            <a:ext cx="4382135"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Prevención:</a:t>
            </a:r>
            <a:r>
              <a:rPr lang="en-US" sz="1200">
                <a:solidFill>
                  <a:srgbClr val="4A5568"/>
                </a:solidFill>
                <a:latin typeface="Inter"/>
                <a:ea typeface="Inter"/>
                <a:cs typeface="Inter"/>
                <a:sym typeface="Inter"/>
              </a:rPr>
              <a:t> alcance cerrado y control de cambios.</a:t>
            </a:r>
            <a:endParaRPr sz="1200">
              <a:solidFill>
                <a:schemeClr val="dk1"/>
              </a:solidFill>
              <a:latin typeface="Inter"/>
              <a:ea typeface="Inter"/>
              <a:cs typeface="Inter"/>
              <a:sym typeface="Inter"/>
            </a:endParaRPr>
          </a:p>
        </p:txBody>
      </p:sp>
      <p:sp>
        <p:nvSpPr>
          <p:cNvPr id="324" name="Google Shape;324;p13"/>
          <p:cNvSpPr/>
          <p:nvPr/>
        </p:nvSpPr>
        <p:spPr>
          <a:xfrm>
            <a:off x="3054350" y="3521472"/>
            <a:ext cx="4382135"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Si ocurre:</a:t>
            </a:r>
            <a:r>
              <a:rPr lang="en-US" sz="1200">
                <a:solidFill>
                  <a:srgbClr val="4A5568"/>
                </a:solidFill>
                <a:latin typeface="Inter"/>
                <a:ea typeface="Inter"/>
                <a:cs typeface="Inter"/>
                <a:sym typeface="Inter"/>
              </a:rPr>
              <a:t> un cambio entra solo si sale otro, con aprobación del Director General.</a:t>
            </a:r>
            <a:endParaRPr sz="1200">
              <a:solidFill>
                <a:schemeClr val="dk1"/>
              </a:solidFill>
              <a:latin typeface="Inter"/>
              <a:ea typeface="Inter"/>
              <a:cs typeface="Inter"/>
              <a:sym typeface="Inter"/>
            </a:endParaRPr>
          </a:p>
        </p:txBody>
      </p:sp>
      <p:sp>
        <p:nvSpPr>
          <p:cNvPr id="325" name="Google Shape;325;p13"/>
          <p:cNvSpPr/>
          <p:nvPr/>
        </p:nvSpPr>
        <p:spPr>
          <a:xfrm>
            <a:off x="815975" y="4216797"/>
            <a:ext cx="6673850" cy="1215231"/>
          </a:xfrm>
          <a:prstGeom prst="roundRect">
            <a:avLst>
              <a:gd fmla="val 6009"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26" name="Google Shape;326;p13"/>
          <p:cNvSpPr/>
          <p:nvPr/>
        </p:nvSpPr>
        <p:spPr>
          <a:xfrm>
            <a:off x="996950" y="4372372"/>
            <a:ext cx="1962150"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R03 · ALTA (15)</a:t>
            </a:r>
            <a:endParaRPr sz="1200">
              <a:solidFill>
                <a:schemeClr val="dk1"/>
              </a:solidFill>
              <a:latin typeface="Inter"/>
              <a:ea typeface="Inter"/>
              <a:cs typeface="Inter"/>
              <a:sym typeface="Inter"/>
            </a:endParaRPr>
          </a:p>
        </p:txBody>
      </p:sp>
      <p:sp>
        <p:nvSpPr>
          <p:cNvPr id="327" name="Google Shape;327;p13"/>
          <p:cNvSpPr/>
          <p:nvPr/>
        </p:nvSpPr>
        <p:spPr>
          <a:xfrm>
            <a:off x="996950" y="4623792"/>
            <a:ext cx="1962150" cy="469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F2743"/>
              </a:buClr>
              <a:buSzPts val="1400"/>
              <a:buFont typeface="Inter"/>
              <a:buNone/>
            </a:pPr>
            <a:r>
              <a:rPr b="1" lang="en-US" sz="1400">
                <a:solidFill>
                  <a:srgbClr val="0F2743"/>
                </a:solidFill>
                <a:latin typeface="Inter"/>
                <a:ea typeface="Inter"/>
                <a:cs typeface="Inter"/>
                <a:sym typeface="Inter"/>
              </a:rPr>
              <a:t>Falla silenciosa de calidad</a:t>
            </a:r>
            <a:endParaRPr sz="1400">
              <a:solidFill>
                <a:schemeClr val="dk1"/>
              </a:solidFill>
              <a:latin typeface="Inter"/>
              <a:ea typeface="Inter"/>
              <a:cs typeface="Inter"/>
              <a:sym typeface="Inter"/>
            </a:endParaRPr>
          </a:p>
        </p:txBody>
      </p:sp>
      <p:sp>
        <p:nvSpPr>
          <p:cNvPr id="328" name="Google Shape;328;p13"/>
          <p:cNvSpPr/>
          <p:nvPr/>
        </p:nvSpPr>
        <p:spPr>
          <a:xfrm>
            <a:off x="3054350" y="4372372"/>
            <a:ext cx="4382135"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Prevención:</a:t>
            </a:r>
            <a:r>
              <a:rPr lang="en-US" sz="1200">
                <a:solidFill>
                  <a:srgbClr val="4A5568"/>
                </a:solidFill>
                <a:latin typeface="Inter"/>
                <a:ea typeface="Inter"/>
                <a:cs typeface="Inter"/>
                <a:sym typeface="Inter"/>
              </a:rPr>
              <a:t> control obligatorio antes de Oro y prueba automática.</a:t>
            </a:r>
            <a:endParaRPr sz="1200">
              <a:solidFill>
                <a:schemeClr val="dk1"/>
              </a:solidFill>
              <a:latin typeface="Inter"/>
              <a:ea typeface="Inter"/>
              <a:cs typeface="Inter"/>
              <a:sym typeface="Inter"/>
            </a:endParaRPr>
          </a:p>
        </p:txBody>
      </p:sp>
      <p:sp>
        <p:nvSpPr>
          <p:cNvPr id="329" name="Google Shape;329;p13"/>
          <p:cNvSpPr/>
          <p:nvPr/>
        </p:nvSpPr>
        <p:spPr>
          <a:xfrm>
            <a:off x="3054350" y="4849813"/>
            <a:ext cx="4382135"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Si ocurre:</a:t>
            </a:r>
            <a:r>
              <a:rPr lang="en-US" sz="1200">
                <a:solidFill>
                  <a:srgbClr val="4A5568"/>
                </a:solidFill>
                <a:latin typeface="Inter"/>
                <a:ea typeface="Inter"/>
                <a:cs typeface="Inter"/>
                <a:sym typeface="Inter"/>
              </a:rPr>
              <a:t> se frena la publicación, se reconstruye Oro desde Bronce y se avisa a Riego.</a:t>
            </a:r>
            <a:endParaRPr sz="1200">
              <a:solidFill>
                <a:schemeClr val="dk1"/>
              </a:solidFill>
              <a:latin typeface="Inter"/>
              <a:ea typeface="Inter"/>
              <a:cs typeface="Inter"/>
              <a:sym typeface="Inter"/>
            </a:endParaRPr>
          </a:p>
        </p:txBody>
      </p:sp>
      <p:sp>
        <p:nvSpPr>
          <p:cNvPr id="330" name="Google Shape;330;p13"/>
          <p:cNvSpPr/>
          <p:nvPr/>
        </p:nvSpPr>
        <p:spPr>
          <a:xfrm>
            <a:off x="7696200" y="1775420"/>
            <a:ext cx="3683000" cy="3735685"/>
          </a:xfrm>
          <a:prstGeom prst="roundRect">
            <a:avLst>
              <a:gd fmla="val 2069" name="adj"/>
            </a:avLst>
          </a:prstGeom>
          <a:solidFill>
            <a:srgbClr val="0F27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31" name="Google Shape;331;p13"/>
          <p:cNvSpPr/>
          <p:nvPr/>
        </p:nvSpPr>
        <p:spPr>
          <a:xfrm>
            <a:off x="7924800" y="2004020"/>
            <a:ext cx="3322574" cy="573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5F9"/>
              </a:buClr>
              <a:buSzPts val="1800"/>
              <a:buFont typeface="Inter"/>
              <a:buNone/>
            </a:pPr>
            <a:r>
              <a:rPr b="1" lang="en-US" sz="1800">
                <a:solidFill>
                  <a:srgbClr val="F4F5F9"/>
                </a:solidFill>
                <a:latin typeface="Inter"/>
                <a:ea typeface="Inter"/>
                <a:cs typeface="Inter"/>
                <a:sym typeface="Inter"/>
              </a:rPr>
              <a:t>Lo que necesitamos de ustedes</a:t>
            </a:r>
            <a:endParaRPr sz="1800">
              <a:solidFill>
                <a:schemeClr val="dk1"/>
              </a:solidFill>
              <a:latin typeface="Inter"/>
              <a:ea typeface="Inter"/>
              <a:cs typeface="Inter"/>
              <a:sym typeface="Inter"/>
            </a:endParaRPr>
          </a:p>
        </p:txBody>
      </p:sp>
      <p:sp>
        <p:nvSpPr>
          <p:cNvPr id="332" name="Google Shape;332;p13"/>
          <p:cNvSpPr/>
          <p:nvPr/>
        </p:nvSpPr>
        <p:spPr>
          <a:xfrm>
            <a:off x="7924800" y="2641402"/>
            <a:ext cx="3322574"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2B"/>
              </a:buClr>
              <a:buSzPts val="1300"/>
              <a:buFont typeface="Inter"/>
              <a:buNone/>
            </a:pPr>
            <a:r>
              <a:rPr b="1" lang="en-US" sz="1300">
                <a:solidFill>
                  <a:srgbClr val="E3A82B"/>
                </a:solidFill>
                <a:latin typeface="Inter"/>
                <a:ea typeface="Inter"/>
                <a:cs typeface="Inter"/>
                <a:sym typeface="Inter"/>
              </a:rPr>
              <a:t>Director General</a:t>
            </a:r>
            <a:endParaRPr sz="1300">
              <a:solidFill>
                <a:schemeClr val="dk1"/>
              </a:solidFill>
              <a:latin typeface="Inter"/>
              <a:ea typeface="Inter"/>
              <a:cs typeface="Inter"/>
              <a:sym typeface="Inter"/>
            </a:endParaRPr>
          </a:p>
        </p:txBody>
      </p:sp>
      <p:sp>
        <p:nvSpPr>
          <p:cNvPr id="333" name="Google Shape;333;p13"/>
          <p:cNvSpPr/>
          <p:nvPr/>
        </p:nvSpPr>
        <p:spPr>
          <a:xfrm>
            <a:off x="7924800" y="2885182"/>
            <a:ext cx="332257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200"/>
              <a:buFont typeface="Inter"/>
              <a:buNone/>
            </a:pPr>
            <a:r>
              <a:rPr lang="en-US" sz="1200">
                <a:solidFill>
                  <a:srgbClr val="F4F5F9"/>
                </a:solidFill>
                <a:latin typeface="Inter"/>
                <a:ea typeface="Inter"/>
                <a:cs typeface="Inter"/>
                <a:sym typeface="Inter"/>
              </a:rPr>
              <a:t>Aprobar hitos y cambios de alcance</a:t>
            </a:r>
            <a:endParaRPr sz="1200">
              <a:solidFill>
                <a:schemeClr val="dk1"/>
              </a:solidFill>
              <a:latin typeface="Inter"/>
              <a:ea typeface="Inter"/>
              <a:cs typeface="Inter"/>
              <a:sym typeface="Inter"/>
            </a:endParaRPr>
          </a:p>
        </p:txBody>
      </p:sp>
      <p:sp>
        <p:nvSpPr>
          <p:cNvPr id="334" name="Google Shape;334;p13"/>
          <p:cNvSpPr/>
          <p:nvPr/>
        </p:nvSpPr>
        <p:spPr>
          <a:xfrm>
            <a:off x="7924800" y="3187402"/>
            <a:ext cx="3322574"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2B"/>
              </a:buClr>
              <a:buSzPts val="1300"/>
              <a:buFont typeface="Inter"/>
              <a:buNone/>
            </a:pPr>
            <a:r>
              <a:rPr b="1" lang="en-US" sz="1300">
                <a:solidFill>
                  <a:srgbClr val="E3A82B"/>
                </a:solidFill>
                <a:latin typeface="Inter"/>
                <a:ea typeface="Inter"/>
                <a:cs typeface="Inter"/>
                <a:sym typeface="Inter"/>
              </a:rPr>
              <a:t>Gerente de Producción</a:t>
            </a:r>
            <a:endParaRPr sz="1300">
              <a:solidFill>
                <a:schemeClr val="dk1"/>
              </a:solidFill>
              <a:latin typeface="Inter"/>
              <a:ea typeface="Inter"/>
              <a:cs typeface="Inter"/>
              <a:sym typeface="Inter"/>
            </a:endParaRPr>
          </a:p>
        </p:txBody>
      </p:sp>
      <p:sp>
        <p:nvSpPr>
          <p:cNvPr id="335" name="Google Shape;335;p13"/>
          <p:cNvSpPr/>
          <p:nvPr/>
        </p:nvSpPr>
        <p:spPr>
          <a:xfrm>
            <a:off x="7924800" y="3431183"/>
            <a:ext cx="332257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200"/>
              <a:buFont typeface="Inter"/>
              <a:buNone/>
            </a:pPr>
            <a:r>
              <a:rPr lang="en-US" sz="1200">
                <a:solidFill>
                  <a:srgbClr val="F4F5F9"/>
                </a:solidFill>
                <a:latin typeface="Inter"/>
                <a:ea typeface="Inter"/>
                <a:cs typeface="Inter"/>
                <a:sym typeface="Inter"/>
              </a:rPr>
              <a:t>Validar rangos de calidad y tablero</a:t>
            </a:r>
            <a:endParaRPr sz="1200">
              <a:solidFill>
                <a:schemeClr val="dk1"/>
              </a:solidFill>
              <a:latin typeface="Inter"/>
              <a:ea typeface="Inter"/>
              <a:cs typeface="Inter"/>
              <a:sym typeface="Inter"/>
            </a:endParaRPr>
          </a:p>
        </p:txBody>
      </p:sp>
      <p:sp>
        <p:nvSpPr>
          <p:cNvPr id="336" name="Google Shape;336;p13"/>
          <p:cNvSpPr/>
          <p:nvPr/>
        </p:nvSpPr>
        <p:spPr>
          <a:xfrm>
            <a:off x="7924800" y="3733403"/>
            <a:ext cx="3322574"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2B"/>
              </a:buClr>
              <a:buSzPts val="1300"/>
              <a:buFont typeface="Inter"/>
              <a:buNone/>
            </a:pPr>
            <a:r>
              <a:rPr b="1" lang="en-US" sz="1300">
                <a:solidFill>
                  <a:srgbClr val="E3A82B"/>
                </a:solidFill>
                <a:latin typeface="Inter"/>
                <a:ea typeface="Inter"/>
                <a:cs typeface="Inter"/>
                <a:sym typeface="Inter"/>
              </a:rPr>
              <a:t>Jefe de Riego</a:t>
            </a:r>
            <a:endParaRPr sz="1300">
              <a:solidFill>
                <a:schemeClr val="dk1"/>
              </a:solidFill>
              <a:latin typeface="Inter"/>
              <a:ea typeface="Inter"/>
              <a:cs typeface="Inter"/>
              <a:sym typeface="Inter"/>
            </a:endParaRPr>
          </a:p>
        </p:txBody>
      </p:sp>
      <p:sp>
        <p:nvSpPr>
          <p:cNvPr id="337" name="Google Shape;337;p13"/>
          <p:cNvSpPr/>
          <p:nvPr/>
        </p:nvSpPr>
        <p:spPr>
          <a:xfrm>
            <a:off x="7924800" y="3977184"/>
            <a:ext cx="332257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200"/>
              <a:buFont typeface="Inter"/>
              <a:buNone/>
            </a:pPr>
            <a:r>
              <a:rPr lang="en-US" sz="1200">
                <a:solidFill>
                  <a:srgbClr val="F4F5F9"/>
                </a:solidFill>
                <a:latin typeface="Inter"/>
                <a:ea typeface="Inter"/>
                <a:cs typeface="Inter"/>
                <a:sym typeface="Inter"/>
              </a:rPr>
              <a:t>Validar reglas de humedad y lluvia</a:t>
            </a:r>
            <a:endParaRPr sz="1200">
              <a:solidFill>
                <a:schemeClr val="dk1"/>
              </a:solidFill>
              <a:latin typeface="Inter"/>
              <a:ea typeface="Inter"/>
              <a:cs typeface="Inter"/>
              <a:sym typeface="Inter"/>
            </a:endParaRPr>
          </a:p>
        </p:txBody>
      </p:sp>
      <p:sp>
        <p:nvSpPr>
          <p:cNvPr id="338" name="Google Shape;338;p13"/>
          <p:cNvSpPr/>
          <p:nvPr/>
        </p:nvSpPr>
        <p:spPr>
          <a:xfrm>
            <a:off x="7924800" y="4279404"/>
            <a:ext cx="3322574"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2B"/>
              </a:buClr>
              <a:buSzPts val="1300"/>
              <a:buFont typeface="Inter"/>
              <a:buNone/>
            </a:pPr>
            <a:r>
              <a:rPr b="1" lang="en-US" sz="1300">
                <a:solidFill>
                  <a:srgbClr val="E3A82B"/>
                </a:solidFill>
                <a:latin typeface="Inter"/>
                <a:ea typeface="Inter"/>
                <a:cs typeface="Inter"/>
                <a:sym typeface="Inter"/>
              </a:rPr>
              <a:t>IT e Infraestructura</a:t>
            </a:r>
            <a:endParaRPr sz="1300">
              <a:solidFill>
                <a:schemeClr val="dk1"/>
              </a:solidFill>
              <a:latin typeface="Inter"/>
              <a:ea typeface="Inter"/>
              <a:cs typeface="Inter"/>
              <a:sym typeface="Inter"/>
            </a:endParaRPr>
          </a:p>
        </p:txBody>
      </p:sp>
      <p:sp>
        <p:nvSpPr>
          <p:cNvPr id="339" name="Google Shape;339;p13"/>
          <p:cNvSpPr/>
          <p:nvPr/>
        </p:nvSpPr>
        <p:spPr>
          <a:xfrm>
            <a:off x="7924800" y="4523184"/>
            <a:ext cx="332257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200"/>
              <a:buFont typeface="Inter"/>
              <a:buNone/>
            </a:pPr>
            <a:r>
              <a:rPr lang="en-US" sz="1200">
                <a:solidFill>
                  <a:srgbClr val="F4F5F9"/>
                </a:solidFill>
                <a:latin typeface="Inter"/>
                <a:ea typeface="Inter"/>
                <a:cs typeface="Inter"/>
                <a:sym typeface="Inter"/>
              </a:rPr>
              <a:t>Accesos y credenciales al inicio</a:t>
            </a:r>
            <a:endParaRPr sz="1200">
              <a:solidFill>
                <a:schemeClr val="dk1"/>
              </a:solidFill>
              <a:latin typeface="Inter"/>
              <a:ea typeface="Inter"/>
              <a:cs typeface="Inter"/>
              <a:sym typeface="Inter"/>
            </a:endParaRPr>
          </a:p>
        </p:txBody>
      </p:sp>
      <p:sp>
        <p:nvSpPr>
          <p:cNvPr id="340" name="Google Shape;340;p13"/>
          <p:cNvSpPr/>
          <p:nvPr/>
        </p:nvSpPr>
        <p:spPr>
          <a:xfrm>
            <a:off x="7924800" y="4825405"/>
            <a:ext cx="3322574"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2B"/>
              </a:buClr>
              <a:buSzPts val="1300"/>
              <a:buFont typeface="Inter"/>
              <a:buNone/>
            </a:pPr>
            <a:r>
              <a:rPr b="1" lang="en-US" sz="1300">
                <a:solidFill>
                  <a:srgbClr val="E3A82B"/>
                </a:solidFill>
                <a:latin typeface="Inter"/>
                <a:ea typeface="Inter"/>
                <a:cs typeface="Inter"/>
                <a:sym typeface="Inter"/>
              </a:rPr>
              <a:t>Datos y BI</a:t>
            </a:r>
            <a:endParaRPr sz="1300">
              <a:solidFill>
                <a:schemeClr val="dk1"/>
              </a:solidFill>
              <a:latin typeface="Inter"/>
              <a:ea typeface="Inter"/>
              <a:cs typeface="Inter"/>
              <a:sym typeface="Inter"/>
            </a:endParaRPr>
          </a:p>
        </p:txBody>
      </p:sp>
      <p:sp>
        <p:nvSpPr>
          <p:cNvPr id="341" name="Google Shape;341;p13"/>
          <p:cNvSpPr/>
          <p:nvPr/>
        </p:nvSpPr>
        <p:spPr>
          <a:xfrm>
            <a:off x="7924800" y="5069185"/>
            <a:ext cx="332257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200"/>
              <a:buFont typeface="Inter"/>
              <a:buNone/>
            </a:pPr>
            <a:r>
              <a:rPr lang="en-US" sz="1200">
                <a:solidFill>
                  <a:srgbClr val="F4F5F9"/>
                </a:solidFill>
                <a:latin typeface="Inter"/>
                <a:ea typeface="Inter"/>
                <a:cs typeface="Inter"/>
                <a:sym typeface="Inter"/>
              </a:rPr>
              <a:t>Uso y opinión sobre el tablero</a:t>
            </a:r>
            <a:endParaRPr sz="1200">
              <a:solidFill>
                <a:schemeClr val="dk1"/>
              </a:solidFill>
              <a:latin typeface="Inter"/>
              <a:ea typeface="Inter"/>
              <a:cs typeface="Inter"/>
              <a:sym typeface="Inter"/>
            </a:endParaRPr>
          </a:p>
        </p:txBody>
      </p:sp>
      <p:sp>
        <p:nvSpPr>
          <p:cNvPr id="342" name="Google Shape;342;p13"/>
          <p:cNvSpPr/>
          <p:nvPr/>
        </p:nvSpPr>
        <p:spPr>
          <a:xfrm>
            <a:off x="9093200" y="6238280"/>
            <a:ext cx="558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10</a:t>
            </a:r>
            <a:endParaRPr sz="1200">
              <a:solidFill>
                <a:schemeClr val="dk1"/>
              </a:solidFill>
              <a:latin typeface="Inter"/>
              <a:ea typeface="Inter"/>
              <a:cs typeface="Inter"/>
              <a:sym typeface="Inter"/>
            </a:endParaRPr>
          </a:p>
        </p:txBody>
      </p:sp>
      <p:pic>
        <p:nvPicPr>
          <p:cNvPr descr="Logotipo de Datum Sur" id="343" name="Google Shape;343;p13"/>
          <p:cNvPicPr preferRelativeResize="0"/>
          <p:nvPr/>
        </p:nvPicPr>
        <p:blipFill rotWithShape="1">
          <a:blip r:embed="rId3">
            <a:alphaModFix/>
          </a:blip>
          <a:srcRect b="-584" l="0" r="0" t="-584"/>
          <a:stretch/>
        </p:blipFill>
        <p:spPr>
          <a:xfrm>
            <a:off x="10617200" y="6223000"/>
            <a:ext cx="762000" cy="279400"/>
          </a:xfrm>
          <a:prstGeom prst="rect">
            <a:avLst/>
          </a:prstGeom>
          <a:noFill/>
          <a:ln>
            <a:noFill/>
          </a:ln>
        </p:spPr>
      </p:pic>
      <p:pic>
        <p:nvPicPr>
          <p:cNvPr descr="logo-uade » CEDOL" id="344" name="Google Shape;344;p13"/>
          <p:cNvPicPr preferRelativeResize="0"/>
          <p:nvPr/>
        </p:nvPicPr>
        <p:blipFill rotWithShape="1">
          <a:blip r:embed="rId4">
            <a:alphaModFix/>
          </a:blip>
          <a:srcRect b="0" l="0" r="0" t="0"/>
          <a:stretch/>
        </p:blipFill>
        <p:spPr>
          <a:xfrm>
            <a:off x="9862481" y="6160518"/>
            <a:ext cx="703920" cy="40371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E"/>
        </a:solidFill>
      </p:bgPr>
    </p:bg>
    <p:spTree>
      <p:nvGrpSpPr>
        <p:cNvPr id="349" name="Shape 349"/>
        <p:cNvGrpSpPr/>
        <p:nvPr/>
      </p:nvGrpSpPr>
      <p:grpSpPr>
        <a:xfrm>
          <a:off x="0" y="0"/>
          <a:ext cx="0" cy="0"/>
          <a:chOff x="0" y="0"/>
          <a:chExt cx="0" cy="0"/>
        </a:xfrm>
      </p:grpSpPr>
      <p:sp>
        <p:nvSpPr>
          <p:cNvPr id="350" name="Google Shape;350;p14"/>
          <p:cNvSpPr/>
          <p:nvPr/>
        </p:nvSpPr>
        <p:spPr>
          <a:xfrm>
            <a:off x="812800" y="798810"/>
            <a:ext cx="304800" cy="38100"/>
          </a:xfrm>
          <a:prstGeom prst="roundRect">
            <a:avLst>
              <a:gd fmla="val 5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51" name="Google Shape;351;p14"/>
          <p:cNvSpPr/>
          <p:nvPr/>
        </p:nvSpPr>
        <p:spPr>
          <a:xfrm>
            <a:off x="1219200" y="711200"/>
            <a:ext cx="247340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VALOR DEMOSTRADO</a:t>
            </a:r>
            <a:endParaRPr sz="1200">
              <a:solidFill>
                <a:schemeClr val="dk1"/>
              </a:solidFill>
              <a:latin typeface="Inter"/>
              <a:ea typeface="Inter"/>
              <a:cs typeface="Inter"/>
              <a:sym typeface="Inter"/>
            </a:endParaRPr>
          </a:p>
        </p:txBody>
      </p:sp>
      <p:sp>
        <p:nvSpPr>
          <p:cNvPr id="352" name="Google Shape;352;p14"/>
          <p:cNvSpPr txBox="1"/>
          <p:nvPr>
            <p:ph type="title"/>
          </p:nvPr>
        </p:nvSpPr>
        <p:spPr>
          <a:xfrm>
            <a:off x="812800" y="1051520"/>
            <a:ext cx="10883392"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0F2743"/>
              </a:buClr>
              <a:buSzPts val="3000"/>
              <a:buFont typeface="Inter"/>
              <a:buNone/>
            </a:pPr>
            <a:r>
              <a:rPr b="1" i="0" lang="en-US" sz="3000">
                <a:solidFill>
                  <a:srgbClr val="0F2743"/>
                </a:solidFill>
                <a:latin typeface="Inter"/>
                <a:ea typeface="Inter"/>
                <a:cs typeface="Inter"/>
                <a:sym typeface="Inter"/>
              </a:rPr>
              <a:t>La prueba de concepto ya filtra los errores</a:t>
            </a:r>
            <a:endParaRPr sz="3000"/>
          </a:p>
        </p:txBody>
      </p:sp>
      <p:sp>
        <p:nvSpPr>
          <p:cNvPr id="353" name="Google Shape;353;p14"/>
          <p:cNvSpPr/>
          <p:nvPr/>
        </p:nvSpPr>
        <p:spPr>
          <a:xfrm>
            <a:off x="812800" y="1775420"/>
            <a:ext cx="661898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CORRIDA DE PRUEBA · 8 CAMPOS · 1.343 REGISTROS</a:t>
            </a:r>
            <a:endParaRPr sz="1200">
              <a:solidFill>
                <a:schemeClr val="dk1"/>
              </a:solidFill>
              <a:latin typeface="Inter"/>
              <a:ea typeface="Inter"/>
              <a:cs typeface="Inter"/>
              <a:sym typeface="Inter"/>
            </a:endParaRPr>
          </a:p>
        </p:txBody>
      </p:sp>
      <p:sp>
        <p:nvSpPr>
          <p:cNvPr id="354" name="Google Shape;354;p14"/>
          <p:cNvSpPr/>
          <p:nvPr/>
        </p:nvSpPr>
        <p:spPr>
          <a:xfrm>
            <a:off x="815975" y="2093516"/>
            <a:ext cx="3143250" cy="1398191"/>
          </a:xfrm>
          <a:prstGeom prst="roundRect">
            <a:avLst>
              <a:gd fmla="val 5223"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55" name="Google Shape;355;p14"/>
          <p:cNvSpPr/>
          <p:nvPr/>
        </p:nvSpPr>
        <p:spPr>
          <a:xfrm>
            <a:off x="996950" y="2274491"/>
            <a:ext cx="2864739" cy="584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743"/>
              </a:buClr>
              <a:buSzPts val="4000"/>
              <a:buFont typeface="Inter"/>
              <a:buNone/>
            </a:pPr>
            <a:r>
              <a:rPr b="1" lang="en-US" sz="4000">
                <a:solidFill>
                  <a:srgbClr val="0F2743"/>
                </a:solidFill>
                <a:latin typeface="Inter"/>
                <a:ea typeface="Inter"/>
                <a:cs typeface="Inter"/>
                <a:sym typeface="Inter"/>
              </a:rPr>
              <a:t>92,78 %</a:t>
            </a:r>
            <a:endParaRPr sz="4000">
              <a:solidFill>
                <a:schemeClr val="dk1"/>
              </a:solidFill>
              <a:latin typeface="Inter"/>
              <a:ea typeface="Inter"/>
              <a:cs typeface="Inter"/>
              <a:sym typeface="Inter"/>
            </a:endParaRPr>
          </a:p>
        </p:txBody>
      </p:sp>
      <p:sp>
        <p:nvSpPr>
          <p:cNvPr id="356" name="Google Shape;356;p14"/>
          <p:cNvSpPr/>
          <p:nvPr/>
        </p:nvSpPr>
        <p:spPr>
          <a:xfrm>
            <a:off x="996950" y="2884091"/>
            <a:ext cx="2864739"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de los datos, utilizables (88,83 % sin ninguna advertencia)</a:t>
            </a:r>
            <a:endParaRPr sz="1200">
              <a:solidFill>
                <a:schemeClr val="dk1"/>
              </a:solidFill>
              <a:latin typeface="Inter"/>
              <a:ea typeface="Inter"/>
              <a:cs typeface="Inter"/>
              <a:sym typeface="Inter"/>
            </a:endParaRPr>
          </a:p>
        </p:txBody>
      </p:sp>
      <p:sp>
        <p:nvSpPr>
          <p:cNvPr id="357" name="Google Shape;357;p14"/>
          <p:cNvSpPr/>
          <p:nvPr/>
        </p:nvSpPr>
        <p:spPr>
          <a:xfrm>
            <a:off x="4092575" y="2093516"/>
            <a:ext cx="3143250" cy="1398191"/>
          </a:xfrm>
          <a:prstGeom prst="roundRect">
            <a:avLst>
              <a:gd fmla="val 5223"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58" name="Google Shape;358;p14"/>
          <p:cNvSpPr/>
          <p:nvPr/>
        </p:nvSpPr>
        <p:spPr>
          <a:xfrm>
            <a:off x="4273550" y="2274491"/>
            <a:ext cx="2864739" cy="584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743"/>
              </a:buClr>
              <a:buSzPts val="4000"/>
              <a:buFont typeface="Inter"/>
              <a:buNone/>
            </a:pPr>
            <a:r>
              <a:rPr b="1" lang="en-US" sz="4000">
                <a:solidFill>
                  <a:srgbClr val="0F2743"/>
                </a:solidFill>
                <a:latin typeface="Inter"/>
                <a:ea typeface="Inter"/>
                <a:cs typeface="Inter"/>
                <a:sym typeface="Inter"/>
              </a:rPr>
              <a:t>97</a:t>
            </a:r>
            <a:endParaRPr sz="4000">
              <a:solidFill>
                <a:schemeClr val="dk1"/>
              </a:solidFill>
              <a:latin typeface="Inter"/>
              <a:ea typeface="Inter"/>
              <a:cs typeface="Inter"/>
              <a:sym typeface="Inter"/>
            </a:endParaRPr>
          </a:p>
        </p:txBody>
      </p:sp>
      <p:sp>
        <p:nvSpPr>
          <p:cNvPr id="359" name="Google Shape;359;p14"/>
          <p:cNvSpPr/>
          <p:nvPr/>
        </p:nvSpPr>
        <p:spPr>
          <a:xfrm>
            <a:off x="4273550" y="2884091"/>
            <a:ext cx="2864739"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registros inválidos en cuarentena; ninguno llegó al tablero</a:t>
            </a:r>
            <a:endParaRPr sz="1200">
              <a:solidFill>
                <a:schemeClr val="dk1"/>
              </a:solidFill>
              <a:latin typeface="Inter"/>
              <a:ea typeface="Inter"/>
              <a:cs typeface="Inter"/>
              <a:sym typeface="Inter"/>
            </a:endParaRPr>
          </a:p>
        </p:txBody>
      </p:sp>
      <p:sp>
        <p:nvSpPr>
          <p:cNvPr id="360" name="Google Shape;360;p14"/>
          <p:cNvSpPr/>
          <p:nvPr/>
        </p:nvSpPr>
        <p:spPr>
          <a:xfrm>
            <a:off x="815975" y="3625056"/>
            <a:ext cx="3143250" cy="1398191"/>
          </a:xfrm>
          <a:prstGeom prst="roundRect">
            <a:avLst>
              <a:gd fmla="val 5223"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61" name="Google Shape;361;p14"/>
          <p:cNvSpPr/>
          <p:nvPr/>
        </p:nvSpPr>
        <p:spPr>
          <a:xfrm>
            <a:off x="996950" y="3806031"/>
            <a:ext cx="2864739" cy="584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743"/>
              </a:buClr>
              <a:buSzPts val="4000"/>
              <a:buFont typeface="Inter"/>
              <a:buNone/>
            </a:pPr>
            <a:r>
              <a:rPr b="1" lang="en-US" sz="4000">
                <a:solidFill>
                  <a:srgbClr val="0F2743"/>
                </a:solidFill>
                <a:latin typeface="Inter"/>
                <a:ea typeface="Inter"/>
                <a:cs typeface="Inter"/>
                <a:sym typeface="Inter"/>
              </a:rPr>
              <a:t>326</a:t>
            </a:r>
            <a:endParaRPr sz="4000">
              <a:solidFill>
                <a:schemeClr val="dk1"/>
              </a:solidFill>
              <a:latin typeface="Inter"/>
              <a:ea typeface="Inter"/>
              <a:cs typeface="Inter"/>
              <a:sym typeface="Inter"/>
            </a:endParaRPr>
          </a:p>
        </p:txBody>
      </p:sp>
      <p:sp>
        <p:nvSpPr>
          <p:cNvPr id="362" name="Google Shape;362;p14"/>
          <p:cNvSpPr/>
          <p:nvPr/>
        </p:nvSpPr>
        <p:spPr>
          <a:xfrm>
            <a:off x="996950" y="4415631"/>
            <a:ext cx="2864739"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hallazgos registrados con su regla y severidad</a:t>
            </a:r>
            <a:endParaRPr sz="1200">
              <a:solidFill>
                <a:schemeClr val="dk1"/>
              </a:solidFill>
              <a:latin typeface="Inter"/>
              <a:ea typeface="Inter"/>
              <a:cs typeface="Inter"/>
              <a:sym typeface="Inter"/>
            </a:endParaRPr>
          </a:p>
        </p:txBody>
      </p:sp>
      <p:sp>
        <p:nvSpPr>
          <p:cNvPr id="363" name="Google Shape;363;p14"/>
          <p:cNvSpPr/>
          <p:nvPr/>
        </p:nvSpPr>
        <p:spPr>
          <a:xfrm>
            <a:off x="4092575" y="3625056"/>
            <a:ext cx="3143250" cy="1398191"/>
          </a:xfrm>
          <a:prstGeom prst="roundRect">
            <a:avLst>
              <a:gd fmla="val 5223"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64" name="Google Shape;364;p14"/>
          <p:cNvSpPr/>
          <p:nvPr/>
        </p:nvSpPr>
        <p:spPr>
          <a:xfrm>
            <a:off x="4273550" y="3806031"/>
            <a:ext cx="2864739" cy="584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743"/>
              </a:buClr>
              <a:buSzPts val="4000"/>
              <a:buFont typeface="Inter"/>
              <a:buNone/>
            </a:pPr>
            <a:r>
              <a:rPr b="1" lang="en-US" sz="4000">
                <a:solidFill>
                  <a:srgbClr val="0F2743"/>
                </a:solidFill>
                <a:latin typeface="Inter"/>
                <a:ea typeface="Inter"/>
                <a:cs typeface="Inter"/>
                <a:sym typeface="Inter"/>
              </a:rPr>
              <a:t>9,9 s</a:t>
            </a:r>
            <a:endParaRPr sz="4000">
              <a:solidFill>
                <a:schemeClr val="dk1"/>
              </a:solidFill>
              <a:latin typeface="Inter"/>
              <a:ea typeface="Inter"/>
              <a:cs typeface="Inter"/>
              <a:sym typeface="Inter"/>
            </a:endParaRPr>
          </a:p>
        </p:txBody>
      </p:sp>
      <p:sp>
        <p:nvSpPr>
          <p:cNvPr id="365" name="Google Shape;365;p14"/>
          <p:cNvSpPr/>
          <p:nvPr/>
        </p:nvSpPr>
        <p:spPr>
          <a:xfrm>
            <a:off x="4273550" y="4415631"/>
            <a:ext cx="2864739" cy="4520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por corrida completa, de la ingesta al tablero</a:t>
            </a:r>
            <a:endParaRPr sz="1200">
              <a:solidFill>
                <a:schemeClr val="dk1"/>
              </a:solidFill>
              <a:latin typeface="Inter"/>
              <a:ea typeface="Inter"/>
              <a:cs typeface="Inter"/>
              <a:sym typeface="Inter"/>
            </a:endParaRPr>
          </a:p>
        </p:txBody>
      </p:sp>
      <p:sp>
        <p:nvSpPr>
          <p:cNvPr id="366" name="Google Shape;366;p14"/>
          <p:cNvSpPr/>
          <p:nvPr/>
        </p:nvSpPr>
        <p:spPr>
          <a:xfrm>
            <a:off x="7442200" y="1775420"/>
            <a:ext cx="3937000" cy="3951585"/>
          </a:xfrm>
          <a:prstGeom prst="roundRect">
            <a:avLst>
              <a:gd fmla="val 1935" name="adj"/>
            </a:avLst>
          </a:prstGeom>
          <a:solidFill>
            <a:srgbClr val="0F27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67" name="Google Shape;367;p14"/>
          <p:cNvSpPr/>
          <p:nvPr/>
        </p:nvSpPr>
        <p:spPr>
          <a:xfrm>
            <a:off x="7670800" y="2004020"/>
            <a:ext cx="3584194" cy="57388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5F9"/>
              </a:buClr>
              <a:buSzPts val="1800"/>
              <a:buFont typeface="Inter"/>
              <a:buNone/>
            </a:pPr>
            <a:r>
              <a:rPr b="1" lang="en-US" sz="1800">
                <a:solidFill>
                  <a:srgbClr val="F4F5F9"/>
                </a:solidFill>
                <a:latin typeface="Inter"/>
                <a:ea typeface="Inter"/>
                <a:cs typeface="Inter"/>
                <a:sym typeface="Inter"/>
              </a:rPr>
              <a:t>Lo que mediremos en su operación</a:t>
            </a:r>
            <a:endParaRPr sz="1800">
              <a:solidFill>
                <a:schemeClr val="dk1"/>
              </a:solidFill>
              <a:latin typeface="Inter"/>
              <a:ea typeface="Inter"/>
              <a:cs typeface="Inter"/>
              <a:sym typeface="Inter"/>
            </a:endParaRPr>
          </a:p>
        </p:txBody>
      </p:sp>
      <p:cxnSp>
        <p:nvCxnSpPr>
          <p:cNvPr id="368" name="Google Shape;368;p14"/>
          <p:cNvCxnSpPr/>
          <p:nvPr/>
        </p:nvCxnSpPr>
        <p:spPr>
          <a:xfrm>
            <a:off x="7670800" y="3152477"/>
            <a:ext cx="3479800" cy="0"/>
          </a:xfrm>
          <a:prstGeom prst="straightConnector1">
            <a:avLst/>
          </a:prstGeom>
          <a:noFill/>
          <a:ln cap="flat" cmpd="sng" w="9525">
            <a:solidFill>
              <a:srgbClr val="34496B"/>
            </a:solidFill>
            <a:prstDash val="solid"/>
            <a:round/>
            <a:headEnd len="sm" w="sm" type="none"/>
            <a:tailEnd len="sm" w="sm" type="none"/>
          </a:ln>
        </p:spPr>
      </p:cxnSp>
      <p:sp>
        <p:nvSpPr>
          <p:cNvPr id="369" name="Google Shape;369;p14"/>
          <p:cNvSpPr/>
          <p:nvPr/>
        </p:nvSpPr>
        <p:spPr>
          <a:xfrm>
            <a:off x="7670800" y="2628702"/>
            <a:ext cx="3584194"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300"/>
              <a:buFont typeface="Inter"/>
              <a:buNone/>
            </a:pPr>
            <a:r>
              <a:rPr b="1" lang="en-US" sz="1300">
                <a:solidFill>
                  <a:srgbClr val="F4F5F9"/>
                </a:solidFill>
                <a:latin typeface="Inter"/>
                <a:ea typeface="Inter"/>
                <a:cs typeface="Inter"/>
                <a:sym typeface="Inter"/>
              </a:rPr>
              <a:t>Índice de Calidad por campo y día</a:t>
            </a:r>
            <a:endParaRPr sz="1300">
              <a:solidFill>
                <a:schemeClr val="dk1"/>
              </a:solidFill>
              <a:latin typeface="Inter"/>
              <a:ea typeface="Inter"/>
              <a:cs typeface="Inter"/>
              <a:sym typeface="Inter"/>
            </a:endParaRPr>
          </a:p>
        </p:txBody>
      </p:sp>
      <p:sp>
        <p:nvSpPr>
          <p:cNvPr id="370" name="Google Shape;370;p14"/>
          <p:cNvSpPr/>
          <p:nvPr/>
        </p:nvSpPr>
        <p:spPr>
          <a:xfrm>
            <a:off x="7670800" y="2872482"/>
            <a:ext cx="358419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2B"/>
              </a:buClr>
              <a:buSzPts val="1200"/>
              <a:buFont typeface="Inter"/>
              <a:buNone/>
            </a:pPr>
            <a:r>
              <a:rPr lang="en-US" sz="1200">
                <a:solidFill>
                  <a:srgbClr val="E3A82B"/>
                </a:solidFill>
                <a:latin typeface="Inter"/>
                <a:ea typeface="Inter"/>
                <a:cs typeface="Inter"/>
                <a:sym typeface="Inter"/>
              </a:rPr>
              <a:t>Incluido en el MVP</a:t>
            </a:r>
            <a:endParaRPr sz="1200">
              <a:solidFill>
                <a:schemeClr val="dk1"/>
              </a:solidFill>
              <a:latin typeface="Inter"/>
              <a:ea typeface="Inter"/>
              <a:cs typeface="Inter"/>
              <a:sym typeface="Inter"/>
            </a:endParaRPr>
          </a:p>
        </p:txBody>
      </p:sp>
      <p:cxnSp>
        <p:nvCxnSpPr>
          <p:cNvPr id="371" name="Google Shape;371;p14"/>
          <p:cNvCxnSpPr/>
          <p:nvPr/>
        </p:nvCxnSpPr>
        <p:spPr>
          <a:xfrm>
            <a:off x="7670800" y="3755628"/>
            <a:ext cx="3479800" cy="0"/>
          </a:xfrm>
          <a:prstGeom prst="straightConnector1">
            <a:avLst/>
          </a:prstGeom>
          <a:noFill/>
          <a:ln cap="flat" cmpd="sng" w="9525">
            <a:solidFill>
              <a:srgbClr val="34496B"/>
            </a:solidFill>
            <a:prstDash val="solid"/>
            <a:round/>
            <a:headEnd len="sm" w="sm" type="none"/>
            <a:tailEnd len="sm" w="sm" type="none"/>
          </a:ln>
        </p:spPr>
      </p:cxnSp>
      <p:sp>
        <p:nvSpPr>
          <p:cNvPr id="372" name="Google Shape;372;p14"/>
          <p:cNvSpPr/>
          <p:nvPr/>
        </p:nvSpPr>
        <p:spPr>
          <a:xfrm>
            <a:off x="7670800" y="3231852"/>
            <a:ext cx="3584194"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300"/>
              <a:buFont typeface="Inter"/>
              <a:buNone/>
            </a:pPr>
            <a:r>
              <a:rPr b="1" lang="en-US" sz="1300">
                <a:solidFill>
                  <a:srgbClr val="F4F5F9"/>
                </a:solidFill>
                <a:latin typeface="Inter"/>
                <a:ea typeface="Inter"/>
                <a:cs typeface="Inter"/>
                <a:sym typeface="Inter"/>
              </a:rPr>
              <a:t>% de datos utilizables</a:t>
            </a:r>
            <a:endParaRPr sz="1300">
              <a:solidFill>
                <a:schemeClr val="dk1"/>
              </a:solidFill>
              <a:latin typeface="Inter"/>
              <a:ea typeface="Inter"/>
              <a:cs typeface="Inter"/>
              <a:sym typeface="Inter"/>
            </a:endParaRPr>
          </a:p>
        </p:txBody>
      </p:sp>
      <p:sp>
        <p:nvSpPr>
          <p:cNvPr id="373" name="Google Shape;373;p14"/>
          <p:cNvSpPr/>
          <p:nvPr/>
        </p:nvSpPr>
        <p:spPr>
          <a:xfrm>
            <a:off x="7670800" y="3475633"/>
            <a:ext cx="358419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2B"/>
              </a:buClr>
              <a:buSzPts val="1200"/>
              <a:buFont typeface="Inter"/>
              <a:buNone/>
            </a:pPr>
            <a:r>
              <a:rPr lang="en-US" sz="1200">
                <a:solidFill>
                  <a:srgbClr val="E3A82B"/>
                </a:solidFill>
                <a:latin typeface="Inter"/>
                <a:ea typeface="Inter"/>
                <a:cs typeface="Inter"/>
                <a:sym typeface="Inter"/>
              </a:rPr>
              <a:t>Incluido en el MVP</a:t>
            </a:r>
            <a:endParaRPr sz="1200">
              <a:solidFill>
                <a:schemeClr val="dk1"/>
              </a:solidFill>
              <a:latin typeface="Inter"/>
              <a:ea typeface="Inter"/>
              <a:cs typeface="Inter"/>
              <a:sym typeface="Inter"/>
            </a:endParaRPr>
          </a:p>
        </p:txBody>
      </p:sp>
      <p:cxnSp>
        <p:nvCxnSpPr>
          <p:cNvPr id="374" name="Google Shape;374;p14"/>
          <p:cNvCxnSpPr/>
          <p:nvPr/>
        </p:nvCxnSpPr>
        <p:spPr>
          <a:xfrm>
            <a:off x="7670800" y="4358779"/>
            <a:ext cx="3479800" cy="0"/>
          </a:xfrm>
          <a:prstGeom prst="straightConnector1">
            <a:avLst/>
          </a:prstGeom>
          <a:noFill/>
          <a:ln cap="flat" cmpd="sng" w="9525">
            <a:solidFill>
              <a:srgbClr val="34496B"/>
            </a:solidFill>
            <a:prstDash val="solid"/>
            <a:round/>
            <a:headEnd len="sm" w="sm" type="none"/>
            <a:tailEnd len="sm" w="sm" type="none"/>
          </a:ln>
        </p:spPr>
      </p:cxnSp>
      <p:sp>
        <p:nvSpPr>
          <p:cNvPr id="375" name="Google Shape;375;p14"/>
          <p:cNvSpPr/>
          <p:nvPr/>
        </p:nvSpPr>
        <p:spPr>
          <a:xfrm>
            <a:off x="7670800" y="3835003"/>
            <a:ext cx="3584194"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300"/>
              <a:buFont typeface="Inter"/>
              <a:buNone/>
            </a:pPr>
            <a:r>
              <a:rPr b="1" lang="en-US" sz="1300">
                <a:solidFill>
                  <a:srgbClr val="F4F5F9"/>
                </a:solidFill>
                <a:latin typeface="Inter"/>
                <a:ea typeface="Inter"/>
                <a:cs typeface="Inter"/>
                <a:sym typeface="Inter"/>
              </a:rPr>
              <a:t>Rechazos por regla y por campo</a:t>
            </a:r>
            <a:endParaRPr sz="1300">
              <a:solidFill>
                <a:schemeClr val="dk1"/>
              </a:solidFill>
              <a:latin typeface="Inter"/>
              <a:ea typeface="Inter"/>
              <a:cs typeface="Inter"/>
              <a:sym typeface="Inter"/>
            </a:endParaRPr>
          </a:p>
        </p:txBody>
      </p:sp>
      <p:sp>
        <p:nvSpPr>
          <p:cNvPr id="376" name="Google Shape;376;p14"/>
          <p:cNvSpPr/>
          <p:nvPr/>
        </p:nvSpPr>
        <p:spPr>
          <a:xfrm>
            <a:off x="7670800" y="4078784"/>
            <a:ext cx="358419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2B"/>
              </a:buClr>
              <a:buSzPts val="1200"/>
              <a:buFont typeface="Inter"/>
              <a:buNone/>
            </a:pPr>
            <a:r>
              <a:rPr lang="en-US" sz="1200">
                <a:solidFill>
                  <a:srgbClr val="E3A82B"/>
                </a:solidFill>
                <a:latin typeface="Inter"/>
                <a:ea typeface="Inter"/>
                <a:cs typeface="Inter"/>
                <a:sym typeface="Inter"/>
              </a:rPr>
              <a:t>Incluido en el MVP</a:t>
            </a:r>
            <a:endParaRPr sz="1200">
              <a:solidFill>
                <a:schemeClr val="dk1"/>
              </a:solidFill>
              <a:latin typeface="Inter"/>
              <a:ea typeface="Inter"/>
              <a:cs typeface="Inter"/>
              <a:sym typeface="Inter"/>
            </a:endParaRPr>
          </a:p>
        </p:txBody>
      </p:sp>
      <p:cxnSp>
        <p:nvCxnSpPr>
          <p:cNvPr id="377" name="Google Shape;377;p14"/>
          <p:cNvCxnSpPr/>
          <p:nvPr/>
        </p:nvCxnSpPr>
        <p:spPr>
          <a:xfrm>
            <a:off x="7670800" y="4961930"/>
            <a:ext cx="3479800" cy="0"/>
          </a:xfrm>
          <a:prstGeom prst="straightConnector1">
            <a:avLst/>
          </a:prstGeom>
          <a:noFill/>
          <a:ln cap="flat" cmpd="sng" w="9525">
            <a:solidFill>
              <a:srgbClr val="34496B"/>
            </a:solidFill>
            <a:prstDash val="solid"/>
            <a:round/>
            <a:headEnd len="sm" w="sm" type="none"/>
            <a:tailEnd len="sm" w="sm" type="none"/>
          </a:ln>
        </p:spPr>
      </p:cxnSp>
      <p:sp>
        <p:nvSpPr>
          <p:cNvPr id="378" name="Google Shape;378;p14"/>
          <p:cNvSpPr/>
          <p:nvPr/>
        </p:nvSpPr>
        <p:spPr>
          <a:xfrm>
            <a:off x="7670800" y="4438154"/>
            <a:ext cx="3584194"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300"/>
              <a:buFont typeface="Inter"/>
              <a:buNone/>
            </a:pPr>
            <a:r>
              <a:rPr b="1" lang="en-US" sz="1300">
                <a:solidFill>
                  <a:srgbClr val="F4F5F9"/>
                </a:solidFill>
                <a:latin typeface="Inter"/>
                <a:ea typeface="Inter"/>
                <a:cs typeface="Inter"/>
                <a:sym typeface="Inter"/>
              </a:rPr>
              <a:t>Horas de corrección manual</a:t>
            </a:r>
            <a:endParaRPr sz="1300">
              <a:solidFill>
                <a:schemeClr val="dk1"/>
              </a:solidFill>
              <a:latin typeface="Inter"/>
              <a:ea typeface="Inter"/>
              <a:cs typeface="Inter"/>
              <a:sym typeface="Inter"/>
            </a:endParaRPr>
          </a:p>
        </p:txBody>
      </p:sp>
      <p:sp>
        <p:nvSpPr>
          <p:cNvPr id="379" name="Google Shape;379;p14"/>
          <p:cNvSpPr/>
          <p:nvPr/>
        </p:nvSpPr>
        <p:spPr>
          <a:xfrm>
            <a:off x="7670800" y="4681934"/>
            <a:ext cx="358419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Línea base a relevar</a:t>
            </a:r>
            <a:endParaRPr sz="1200">
              <a:solidFill>
                <a:schemeClr val="dk1"/>
              </a:solidFill>
              <a:latin typeface="Inter"/>
              <a:ea typeface="Inter"/>
              <a:cs typeface="Inter"/>
              <a:sym typeface="Inter"/>
            </a:endParaRPr>
          </a:p>
        </p:txBody>
      </p:sp>
      <p:sp>
        <p:nvSpPr>
          <p:cNvPr id="380" name="Google Shape;380;p14"/>
          <p:cNvSpPr/>
          <p:nvPr/>
        </p:nvSpPr>
        <p:spPr>
          <a:xfrm>
            <a:off x="7670800" y="5041305"/>
            <a:ext cx="3584194"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300"/>
              <a:buFont typeface="Inter"/>
              <a:buNone/>
            </a:pPr>
            <a:r>
              <a:rPr b="1" lang="en-US" sz="1300">
                <a:solidFill>
                  <a:srgbClr val="F4F5F9"/>
                </a:solidFill>
                <a:latin typeface="Inter"/>
                <a:ea typeface="Inter"/>
                <a:cs typeface="Inter"/>
                <a:sym typeface="Inter"/>
              </a:rPr>
              <a:t>Riegos revisados por datos erróneos</a:t>
            </a:r>
            <a:endParaRPr sz="1300">
              <a:solidFill>
                <a:schemeClr val="dk1"/>
              </a:solidFill>
              <a:latin typeface="Inter"/>
              <a:ea typeface="Inter"/>
              <a:cs typeface="Inter"/>
              <a:sym typeface="Inter"/>
            </a:endParaRPr>
          </a:p>
        </p:txBody>
      </p:sp>
      <p:sp>
        <p:nvSpPr>
          <p:cNvPr id="381" name="Google Shape;381;p14"/>
          <p:cNvSpPr/>
          <p:nvPr/>
        </p:nvSpPr>
        <p:spPr>
          <a:xfrm>
            <a:off x="7670800" y="5285085"/>
            <a:ext cx="358419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Línea base a releva</a:t>
            </a:r>
            <a:endParaRPr sz="1200">
              <a:solidFill>
                <a:schemeClr val="dk1"/>
              </a:solidFill>
              <a:latin typeface="Inter"/>
              <a:ea typeface="Inter"/>
              <a:cs typeface="Inter"/>
              <a:sym typeface="Inter"/>
            </a:endParaRPr>
          </a:p>
        </p:txBody>
      </p:sp>
      <p:sp>
        <p:nvSpPr>
          <p:cNvPr id="382" name="Google Shape;382;p14"/>
          <p:cNvSpPr/>
          <p:nvPr/>
        </p:nvSpPr>
        <p:spPr>
          <a:xfrm>
            <a:off x="9093200" y="6238280"/>
            <a:ext cx="558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11</a:t>
            </a:r>
            <a:endParaRPr sz="1200">
              <a:solidFill>
                <a:schemeClr val="dk1"/>
              </a:solidFill>
              <a:latin typeface="Inter"/>
              <a:ea typeface="Inter"/>
              <a:cs typeface="Inter"/>
              <a:sym typeface="Inter"/>
            </a:endParaRPr>
          </a:p>
        </p:txBody>
      </p:sp>
      <p:pic>
        <p:nvPicPr>
          <p:cNvPr descr="Logotipo de Datum Sur" id="383" name="Google Shape;383;p14"/>
          <p:cNvPicPr preferRelativeResize="0"/>
          <p:nvPr/>
        </p:nvPicPr>
        <p:blipFill rotWithShape="1">
          <a:blip r:embed="rId3">
            <a:alphaModFix/>
          </a:blip>
          <a:srcRect b="-584" l="0" r="0" t="-584"/>
          <a:stretch/>
        </p:blipFill>
        <p:spPr>
          <a:xfrm>
            <a:off x="10617200" y="6223000"/>
            <a:ext cx="762000" cy="279400"/>
          </a:xfrm>
          <a:prstGeom prst="rect">
            <a:avLst/>
          </a:prstGeom>
          <a:noFill/>
          <a:ln>
            <a:noFill/>
          </a:ln>
        </p:spPr>
      </p:pic>
      <p:pic>
        <p:nvPicPr>
          <p:cNvPr descr="logo-uade » CEDOL" id="384" name="Google Shape;384;p14"/>
          <p:cNvPicPr preferRelativeResize="0"/>
          <p:nvPr/>
        </p:nvPicPr>
        <p:blipFill rotWithShape="1">
          <a:blip r:embed="rId4">
            <a:alphaModFix/>
          </a:blip>
          <a:srcRect b="0" l="0" r="0" t="0"/>
          <a:stretch/>
        </p:blipFill>
        <p:spPr>
          <a:xfrm>
            <a:off x="9862481" y="6160518"/>
            <a:ext cx="703920" cy="40371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E"/>
        </a:solidFill>
      </p:bgPr>
    </p:bg>
    <p:spTree>
      <p:nvGrpSpPr>
        <p:cNvPr id="389" name="Shape 389"/>
        <p:cNvGrpSpPr/>
        <p:nvPr/>
      </p:nvGrpSpPr>
      <p:grpSpPr>
        <a:xfrm>
          <a:off x="0" y="0"/>
          <a:ext cx="0" cy="0"/>
          <a:chOff x="0" y="0"/>
          <a:chExt cx="0" cy="0"/>
        </a:xfrm>
      </p:grpSpPr>
      <p:sp>
        <p:nvSpPr>
          <p:cNvPr id="390" name="Google Shape;390;p15"/>
          <p:cNvSpPr/>
          <p:nvPr/>
        </p:nvSpPr>
        <p:spPr>
          <a:xfrm>
            <a:off x="812800" y="798810"/>
            <a:ext cx="304800" cy="38100"/>
          </a:xfrm>
          <a:prstGeom prst="roundRect">
            <a:avLst>
              <a:gd fmla="val 50000" name="adj"/>
            </a:avLst>
          </a:prstGeom>
          <a:solidFill>
            <a:srgbClr val="E3A8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5"/>
          <p:cNvSpPr/>
          <p:nvPr/>
        </p:nvSpPr>
        <p:spPr>
          <a:xfrm>
            <a:off x="1219200" y="711200"/>
            <a:ext cx="3205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i="0" lang="en-US" sz="1200" u="none" cap="none" strike="noStrike">
                <a:solidFill>
                  <a:srgbClr val="4A5568"/>
                </a:solidFill>
                <a:latin typeface="Inter"/>
                <a:ea typeface="Inter"/>
                <a:cs typeface="Inter"/>
                <a:sym typeface="Inter"/>
              </a:rPr>
              <a:t>CÓMO LO DESARROLLAMOS</a:t>
            </a:r>
            <a:endParaRPr b="0" i="0" sz="1200" u="none" cap="none" strike="noStrike">
              <a:solidFill>
                <a:schemeClr val="dk1"/>
              </a:solidFill>
              <a:latin typeface="Inter"/>
              <a:ea typeface="Inter"/>
              <a:cs typeface="Inter"/>
              <a:sym typeface="Inter"/>
            </a:endParaRPr>
          </a:p>
        </p:txBody>
      </p:sp>
      <p:sp>
        <p:nvSpPr>
          <p:cNvPr id="392" name="Google Shape;392;p15"/>
          <p:cNvSpPr txBox="1"/>
          <p:nvPr>
            <p:ph type="title"/>
          </p:nvPr>
        </p:nvSpPr>
        <p:spPr>
          <a:xfrm>
            <a:off x="812800" y="1051520"/>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0F2743"/>
              </a:buClr>
              <a:buSzPct val="100000"/>
              <a:buFont typeface="Inter"/>
              <a:buNone/>
            </a:pPr>
            <a:r>
              <a:rPr b="1" i="0" lang="en-US" sz="3000">
                <a:solidFill>
                  <a:srgbClr val="0F2743"/>
                </a:solidFill>
                <a:latin typeface="Inter"/>
                <a:ea typeface="Inter"/>
                <a:cs typeface="Inter"/>
                <a:sym typeface="Inter"/>
              </a:rPr>
              <a:t>Seis semanas, con su validación en cada hito</a:t>
            </a:r>
            <a:endParaRPr sz="3000"/>
          </a:p>
        </p:txBody>
      </p:sp>
      <p:sp>
        <p:nvSpPr>
          <p:cNvPr id="393" name="Google Shape;393;p15"/>
          <p:cNvSpPr/>
          <p:nvPr/>
        </p:nvSpPr>
        <p:spPr>
          <a:xfrm>
            <a:off x="3632200" y="1699220"/>
            <a:ext cx="1295400" cy="2388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568"/>
              </a:buClr>
              <a:buSzPts val="1200"/>
              <a:buFont typeface="Inter"/>
              <a:buNone/>
            </a:pPr>
            <a:r>
              <a:rPr b="1" i="0" lang="en-US" sz="1200" u="none" cap="none" strike="noStrike">
                <a:solidFill>
                  <a:srgbClr val="4A5568"/>
                </a:solidFill>
                <a:latin typeface="Inter"/>
                <a:ea typeface="Inter"/>
                <a:cs typeface="Inter"/>
                <a:sym typeface="Inter"/>
              </a:rPr>
              <a:t>S1</a:t>
            </a:r>
            <a:endParaRPr b="0" i="0" sz="1200" u="none" cap="none" strike="noStrike">
              <a:solidFill>
                <a:schemeClr val="dk1"/>
              </a:solidFill>
              <a:latin typeface="Inter"/>
              <a:ea typeface="Inter"/>
              <a:cs typeface="Inter"/>
              <a:sym typeface="Inter"/>
            </a:endParaRPr>
          </a:p>
        </p:txBody>
      </p:sp>
      <p:sp>
        <p:nvSpPr>
          <p:cNvPr id="394" name="Google Shape;394;p15"/>
          <p:cNvSpPr/>
          <p:nvPr/>
        </p:nvSpPr>
        <p:spPr>
          <a:xfrm>
            <a:off x="4927600" y="1699220"/>
            <a:ext cx="1295400" cy="2388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568"/>
              </a:buClr>
              <a:buSzPts val="1200"/>
              <a:buFont typeface="Inter"/>
              <a:buNone/>
            </a:pPr>
            <a:r>
              <a:rPr b="1" i="0" lang="en-US" sz="1200" u="none" cap="none" strike="noStrike">
                <a:solidFill>
                  <a:srgbClr val="4A5568"/>
                </a:solidFill>
                <a:latin typeface="Inter"/>
                <a:ea typeface="Inter"/>
                <a:cs typeface="Inter"/>
                <a:sym typeface="Inter"/>
              </a:rPr>
              <a:t>S2</a:t>
            </a:r>
            <a:endParaRPr b="0" i="0" sz="1200" u="none" cap="none" strike="noStrike">
              <a:solidFill>
                <a:schemeClr val="dk1"/>
              </a:solidFill>
              <a:latin typeface="Inter"/>
              <a:ea typeface="Inter"/>
              <a:cs typeface="Inter"/>
              <a:sym typeface="Inter"/>
            </a:endParaRPr>
          </a:p>
        </p:txBody>
      </p:sp>
      <p:sp>
        <p:nvSpPr>
          <p:cNvPr id="395" name="Google Shape;395;p15"/>
          <p:cNvSpPr/>
          <p:nvPr/>
        </p:nvSpPr>
        <p:spPr>
          <a:xfrm>
            <a:off x="6223000" y="1699220"/>
            <a:ext cx="1295400" cy="2388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568"/>
              </a:buClr>
              <a:buSzPts val="1200"/>
              <a:buFont typeface="Inter"/>
              <a:buNone/>
            </a:pPr>
            <a:r>
              <a:rPr b="1" i="0" lang="en-US" sz="1200" u="none" cap="none" strike="noStrike">
                <a:solidFill>
                  <a:srgbClr val="4A5568"/>
                </a:solidFill>
                <a:latin typeface="Inter"/>
                <a:ea typeface="Inter"/>
                <a:cs typeface="Inter"/>
                <a:sym typeface="Inter"/>
              </a:rPr>
              <a:t>S3</a:t>
            </a:r>
            <a:endParaRPr b="0" i="0" sz="1200" u="none" cap="none" strike="noStrike">
              <a:solidFill>
                <a:schemeClr val="dk1"/>
              </a:solidFill>
              <a:latin typeface="Inter"/>
              <a:ea typeface="Inter"/>
              <a:cs typeface="Inter"/>
              <a:sym typeface="Inter"/>
            </a:endParaRPr>
          </a:p>
        </p:txBody>
      </p:sp>
      <p:sp>
        <p:nvSpPr>
          <p:cNvPr id="396" name="Google Shape;396;p15"/>
          <p:cNvSpPr/>
          <p:nvPr/>
        </p:nvSpPr>
        <p:spPr>
          <a:xfrm>
            <a:off x="7518400" y="1699220"/>
            <a:ext cx="1295400" cy="2388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568"/>
              </a:buClr>
              <a:buSzPts val="1200"/>
              <a:buFont typeface="Inter"/>
              <a:buNone/>
            </a:pPr>
            <a:r>
              <a:rPr b="1" i="0" lang="en-US" sz="1200" u="none" cap="none" strike="noStrike">
                <a:solidFill>
                  <a:srgbClr val="4A5568"/>
                </a:solidFill>
                <a:latin typeface="Inter"/>
                <a:ea typeface="Inter"/>
                <a:cs typeface="Inter"/>
                <a:sym typeface="Inter"/>
              </a:rPr>
              <a:t>S4</a:t>
            </a:r>
            <a:endParaRPr b="0" i="0" sz="1200" u="none" cap="none" strike="noStrike">
              <a:solidFill>
                <a:schemeClr val="dk1"/>
              </a:solidFill>
              <a:latin typeface="Inter"/>
              <a:ea typeface="Inter"/>
              <a:cs typeface="Inter"/>
              <a:sym typeface="Inter"/>
            </a:endParaRPr>
          </a:p>
        </p:txBody>
      </p:sp>
      <p:sp>
        <p:nvSpPr>
          <p:cNvPr id="397" name="Google Shape;397;p15"/>
          <p:cNvSpPr/>
          <p:nvPr/>
        </p:nvSpPr>
        <p:spPr>
          <a:xfrm>
            <a:off x="8813800" y="1699220"/>
            <a:ext cx="1295400" cy="2388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568"/>
              </a:buClr>
              <a:buSzPts val="1200"/>
              <a:buFont typeface="Inter"/>
              <a:buNone/>
            </a:pPr>
            <a:r>
              <a:rPr b="1" i="0" lang="en-US" sz="1200" u="none" cap="none" strike="noStrike">
                <a:solidFill>
                  <a:srgbClr val="4A5568"/>
                </a:solidFill>
                <a:latin typeface="Inter"/>
                <a:ea typeface="Inter"/>
                <a:cs typeface="Inter"/>
                <a:sym typeface="Inter"/>
              </a:rPr>
              <a:t>S5</a:t>
            </a:r>
            <a:endParaRPr b="0" i="0" sz="1200" u="none" cap="none" strike="noStrike">
              <a:solidFill>
                <a:schemeClr val="dk1"/>
              </a:solidFill>
              <a:latin typeface="Inter"/>
              <a:ea typeface="Inter"/>
              <a:cs typeface="Inter"/>
              <a:sym typeface="Inter"/>
            </a:endParaRPr>
          </a:p>
        </p:txBody>
      </p:sp>
      <p:sp>
        <p:nvSpPr>
          <p:cNvPr id="398" name="Google Shape;398;p15"/>
          <p:cNvSpPr/>
          <p:nvPr/>
        </p:nvSpPr>
        <p:spPr>
          <a:xfrm>
            <a:off x="10109200" y="1699220"/>
            <a:ext cx="1295400" cy="2388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568"/>
              </a:buClr>
              <a:buSzPts val="1200"/>
              <a:buFont typeface="Inter"/>
              <a:buNone/>
            </a:pPr>
            <a:r>
              <a:rPr b="1" i="0" lang="en-US" sz="1200" u="none" cap="none" strike="noStrike">
                <a:solidFill>
                  <a:srgbClr val="4A5568"/>
                </a:solidFill>
                <a:latin typeface="Inter"/>
                <a:ea typeface="Inter"/>
                <a:cs typeface="Inter"/>
                <a:sym typeface="Inter"/>
              </a:rPr>
              <a:t>S6</a:t>
            </a:r>
            <a:endParaRPr b="0" i="0" sz="1200" u="none" cap="none" strike="noStrike">
              <a:solidFill>
                <a:schemeClr val="dk1"/>
              </a:solidFill>
              <a:latin typeface="Inter"/>
              <a:ea typeface="Inter"/>
              <a:cs typeface="Inter"/>
              <a:sym typeface="Inter"/>
            </a:endParaRPr>
          </a:p>
        </p:txBody>
      </p:sp>
      <p:sp>
        <p:nvSpPr>
          <p:cNvPr id="399" name="Google Shape;399;p15"/>
          <p:cNvSpPr/>
          <p:nvPr/>
        </p:nvSpPr>
        <p:spPr>
          <a:xfrm>
            <a:off x="812800" y="1963341"/>
            <a:ext cx="28779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300"/>
              <a:buFont typeface="Inter"/>
              <a:buNone/>
            </a:pPr>
            <a:r>
              <a:rPr b="0" i="0" lang="en-US" sz="1300" u="none" cap="none" strike="noStrike">
                <a:solidFill>
                  <a:srgbClr val="0F2743"/>
                </a:solidFill>
                <a:latin typeface="Inter"/>
                <a:ea typeface="Inter"/>
                <a:cs typeface="Inter"/>
                <a:sym typeface="Inter"/>
              </a:rPr>
              <a:t>Relevamiento y reglas</a:t>
            </a:r>
            <a:endParaRPr b="0" i="0" sz="1300" u="none" cap="none" strike="noStrike">
              <a:solidFill>
                <a:schemeClr val="dk1"/>
              </a:solidFill>
              <a:latin typeface="Inter"/>
              <a:ea typeface="Inter"/>
              <a:cs typeface="Inter"/>
              <a:sym typeface="Inter"/>
            </a:endParaRPr>
          </a:p>
        </p:txBody>
      </p:sp>
      <p:sp>
        <p:nvSpPr>
          <p:cNvPr id="400" name="Google Shape;400;p15"/>
          <p:cNvSpPr/>
          <p:nvPr/>
        </p:nvSpPr>
        <p:spPr>
          <a:xfrm>
            <a:off x="3657600" y="1989931"/>
            <a:ext cx="3835500" cy="177900"/>
          </a:xfrm>
          <a:prstGeom prst="roundRect">
            <a:avLst>
              <a:gd fmla="val 50000" name="adj"/>
            </a:avLst>
          </a:prstGeom>
          <a:solidFill>
            <a:srgbClr val="A9B6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5"/>
          <p:cNvSpPr/>
          <p:nvPr/>
        </p:nvSpPr>
        <p:spPr>
          <a:xfrm>
            <a:off x="812800" y="2245221"/>
            <a:ext cx="28779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300"/>
              <a:buFont typeface="Inter"/>
              <a:buNone/>
            </a:pPr>
            <a:r>
              <a:rPr b="1" i="0" lang="en-US" sz="1300" u="none" cap="none" strike="noStrike">
                <a:solidFill>
                  <a:srgbClr val="0F2743"/>
                </a:solidFill>
                <a:latin typeface="Inter"/>
                <a:ea typeface="Inter"/>
                <a:cs typeface="Inter"/>
                <a:sym typeface="Inter"/>
              </a:rPr>
              <a:t>Diseño de arquitectura</a:t>
            </a:r>
            <a:endParaRPr b="0" i="0" sz="1300" u="none" cap="none" strike="noStrike">
              <a:solidFill>
                <a:schemeClr val="dk1"/>
              </a:solidFill>
              <a:latin typeface="Inter"/>
              <a:ea typeface="Inter"/>
              <a:cs typeface="Inter"/>
              <a:sym typeface="Inter"/>
            </a:endParaRPr>
          </a:p>
        </p:txBody>
      </p:sp>
      <p:sp>
        <p:nvSpPr>
          <p:cNvPr id="402" name="Google Shape;402;p15"/>
          <p:cNvSpPr/>
          <p:nvPr/>
        </p:nvSpPr>
        <p:spPr>
          <a:xfrm>
            <a:off x="4953000" y="2271812"/>
            <a:ext cx="2540100" cy="177900"/>
          </a:xfrm>
          <a:prstGeom prst="roundRect">
            <a:avLst>
              <a:gd fmla="val 50000" name="adj"/>
            </a:avLst>
          </a:prstGeom>
          <a:solidFill>
            <a:srgbClr val="0F27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5"/>
          <p:cNvSpPr/>
          <p:nvPr/>
        </p:nvSpPr>
        <p:spPr>
          <a:xfrm>
            <a:off x="812800" y="2527102"/>
            <a:ext cx="28779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300"/>
              <a:buFont typeface="Inter"/>
              <a:buNone/>
            </a:pPr>
            <a:r>
              <a:rPr b="1" i="0" lang="en-US" sz="1300" u="none" cap="none" strike="noStrike">
                <a:solidFill>
                  <a:srgbClr val="0F2743"/>
                </a:solidFill>
                <a:latin typeface="Inter"/>
                <a:ea typeface="Inter"/>
                <a:cs typeface="Inter"/>
                <a:sym typeface="Inter"/>
              </a:rPr>
              <a:t>Ingesta de datos</a:t>
            </a:r>
            <a:endParaRPr b="0" i="0" sz="1300" u="none" cap="none" strike="noStrike">
              <a:solidFill>
                <a:schemeClr val="dk1"/>
              </a:solidFill>
              <a:latin typeface="Inter"/>
              <a:ea typeface="Inter"/>
              <a:cs typeface="Inter"/>
              <a:sym typeface="Inter"/>
            </a:endParaRPr>
          </a:p>
        </p:txBody>
      </p:sp>
      <p:sp>
        <p:nvSpPr>
          <p:cNvPr id="404" name="Google Shape;404;p15"/>
          <p:cNvSpPr/>
          <p:nvPr/>
        </p:nvSpPr>
        <p:spPr>
          <a:xfrm>
            <a:off x="6248400" y="2553692"/>
            <a:ext cx="2540100" cy="177900"/>
          </a:xfrm>
          <a:prstGeom prst="roundRect">
            <a:avLst>
              <a:gd fmla="val 50000" name="adj"/>
            </a:avLst>
          </a:prstGeom>
          <a:solidFill>
            <a:srgbClr val="0F27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5"/>
          <p:cNvSpPr/>
          <p:nvPr/>
        </p:nvSpPr>
        <p:spPr>
          <a:xfrm>
            <a:off x="812800" y="2808982"/>
            <a:ext cx="28779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300"/>
              <a:buFont typeface="Inter"/>
              <a:buNone/>
            </a:pPr>
            <a:r>
              <a:rPr b="1" i="0" lang="en-US" sz="1300" u="none" cap="none" strike="noStrike">
                <a:solidFill>
                  <a:srgbClr val="0F2743"/>
                </a:solidFill>
                <a:latin typeface="Inter"/>
                <a:ea typeface="Inter"/>
                <a:cs typeface="Inter"/>
                <a:sym typeface="Inter"/>
              </a:rPr>
              <a:t>Capas Bronce, Plata y Oro</a:t>
            </a:r>
            <a:endParaRPr b="0" i="0" sz="1300" u="none" cap="none" strike="noStrike">
              <a:solidFill>
                <a:schemeClr val="dk1"/>
              </a:solidFill>
              <a:latin typeface="Inter"/>
              <a:ea typeface="Inter"/>
              <a:cs typeface="Inter"/>
              <a:sym typeface="Inter"/>
            </a:endParaRPr>
          </a:p>
        </p:txBody>
      </p:sp>
      <p:sp>
        <p:nvSpPr>
          <p:cNvPr id="406" name="Google Shape;406;p15"/>
          <p:cNvSpPr/>
          <p:nvPr/>
        </p:nvSpPr>
        <p:spPr>
          <a:xfrm>
            <a:off x="6248400" y="2835573"/>
            <a:ext cx="3835500" cy="177900"/>
          </a:xfrm>
          <a:prstGeom prst="roundRect">
            <a:avLst>
              <a:gd fmla="val 50000" name="adj"/>
            </a:avLst>
          </a:prstGeom>
          <a:solidFill>
            <a:srgbClr val="0F27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5"/>
          <p:cNvSpPr/>
          <p:nvPr/>
        </p:nvSpPr>
        <p:spPr>
          <a:xfrm>
            <a:off x="812800" y="3090863"/>
            <a:ext cx="28779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300"/>
              <a:buFont typeface="Inter"/>
              <a:buNone/>
            </a:pPr>
            <a:r>
              <a:rPr b="0" i="0" lang="en-US" sz="1300" u="none" cap="none" strike="noStrike">
                <a:solidFill>
                  <a:srgbClr val="0F2743"/>
                </a:solidFill>
                <a:latin typeface="Inter"/>
                <a:ea typeface="Inter"/>
                <a:cs typeface="Inter"/>
                <a:sym typeface="Inter"/>
              </a:rPr>
              <a:t>Pruebas de calidad</a:t>
            </a:r>
            <a:endParaRPr b="0" i="0" sz="1300" u="none" cap="none" strike="noStrike">
              <a:solidFill>
                <a:schemeClr val="dk1"/>
              </a:solidFill>
              <a:latin typeface="Inter"/>
              <a:ea typeface="Inter"/>
              <a:cs typeface="Inter"/>
              <a:sym typeface="Inter"/>
            </a:endParaRPr>
          </a:p>
        </p:txBody>
      </p:sp>
      <p:sp>
        <p:nvSpPr>
          <p:cNvPr id="408" name="Google Shape;408;p15"/>
          <p:cNvSpPr/>
          <p:nvPr/>
        </p:nvSpPr>
        <p:spPr>
          <a:xfrm>
            <a:off x="7543800" y="3117453"/>
            <a:ext cx="2540100" cy="177900"/>
          </a:xfrm>
          <a:prstGeom prst="roundRect">
            <a:avLst>
              <a:gd fmla="val 50000" name="adj"/>
            </a:avLst>
          </a:prstGeom>
          <a:solidFill>
            <a:srgbClr val="A9B6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5"/>
          <p:cNvSpPr/>
          <p:nvPr/>
        </p:nvSpPr>
        <p:spPr>
          <a:xfrm>
            <a:off x="812800" y="3372743"/>
            <a:ext cx="28779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300"/>
              <a:buFont typeface="Inter"/>
              <a:buNone/>
            </a:pPr>
            <a:r>
              <a:rPr b="0" i="0" lang="en-US" sz="1300" u="none" cap="none" strike="noStrike">
                <a:solidFill>
                  <a:srgbClr val="0F2743"/>
                </a:solidFill>
                <a:latin typeface="Inter"/>
                <a:ea typeface="Inter"/>
                <a:cs typeface="Inter"/>
                <a:sym typeface="Inter"/>
              </a:rPr>
              <a:t>Integración y despliegue</a:t>
            </a:r>
            <a:endParaRPr b="0" i="0" sz="1300" u="none" cap="none" strike="noStrike">
              <a:solidFill>
                <a:schemeClr val="dk1"/>
              </a:solidFill>
              <a:latin typeface="Inter"/>
              <a:ea typeface="Inter"/>
              <a:cs typeface="Inter"/>
              <a:sym typeface="Inter"/>
            </a:endParaRPr>
          </a:p>
        </p:txBody>
      </p:sp>
      <p:sp>
        <p:nvSpPr>
          <p:cNvPr id="410" name="Google Shape;410;p15"/>
          <p:cNvSpPr/>
          <p:nvPr/>
        </p:nvSpPr>
        <p:spPr>
          <a:xfrm>
            <a:off x="4953000" y="3399334"/>
            <a:ext cx="5130900" cy="177900"/>
          </a:xfrm>
          <a:prstGeom prst="roundRect">
            <a:avLst>
              <a:gd fmla="val 50000" name="adj"/>
            </a:avLst>
          </a:prstGeom>
          <a:solidFill>
            <a:srgbClr val="A9B6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5"/>
          <p:cNvSpPr/>
          <p:nvPr/>
        </p:nvSpPr>
        <p:spPr>
          <a:xfrm>
            <a:off x="812800" y="3654623"/>
            <a:ext cx="28779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300"/>
              <a:buFont typeface="Inter"/>
              <a:buNone/>
            </a:pPr>
            <a:r>
              <a:rPr b="1" i="0" lang="en-US" sz="1300" u="none" cap="none" strike="noStrike">
                <a:solidFill>
                  <a:srgbClr val="0F2743"/>
                </a:solidFill>
                <a:latin typeface="Inter"/>
                <a:ea typeface="Inter"/>
                <a:cs typeface="Inter"/>
                <a:sym typeface="Inter"/>
              </a:rPr>
              <a:t>Tablero</a:t>
            </a:r>
            <a:endParaRPr b="0" i="0" sz="1300" u="none" cap="none" strike="noStrike">
              <a:solidFill>
                <a:schemeClr val="dk1"/>
              </a:solidFill>
              <a:latin typeface="Inter"/>
              <a:ea typeface="Inter"/>
              <a:cs typeface="Inter"/>
              <a:sym typeface="Inter"/>
            </a:endParaRPr>
          </a:p>
        </p:txBody>
      </p:sp>
      <p:sp>
        <p:nvSpPr>
          <p:cNvPr id="412" name="Google Shape;412;p15"/>
          <p:cNvSpPr/>
          <p:nvPr/>
        </p:nvSpPr>
        <p:spPr>
          <a:xfrm>
            <a:off x="8839200" y="3681214"/>
            <a:ext cx="2540100" cy="177900"/>
          </a:xfrm>
          <a:prstGeom prst="roundRect">
            <a:avLst>
              <a:gd fmla="val 50000" name="adj"/>
            </a:avLst>
          </a:prstGeom>
          <a:solidFill>
            <a:srgbClr val="0F27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5"/>
          <p:cNvSpPr/>
          <p:nvPr/>
        </p:nvSpPr>
        <p:spPr>
          <a:xfrm>
            <a:off x="812800" y="3936504"/>
            <a:ext cx="28779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07A0E"/>
              </a:buClr>
              <a:buSzPts val="1300"/>
              <a:buFont typeface="Inter"/>
              <a:buNone/>
            </a:pPr>
            <a:r>
              <a:rPr b="1" i="0" lang="en-US" sz="1300" u="none" cap="none" strike="noStrike">
                <a:solidFill>
                  <a:srgbClr val="B07A0E"/>
                </a:solidFill>
                <a:latin typeface="Inter"/>
                <a:ea typeface="Inter"/>
                <a:cs typeface="Inter"/>
                <a:sym typeface="Inter"/>
              </a:rPr>
              <a:t>Hitos del proyecto</a:t>
            </a:r>
            <a:endParaRPr b="0" i="0" sz="1300" u="none" cap="none" strike="noStrike">
              <a:solidFill>
                <a:schemeClr val="dk1"/>
              </a:solidFill>
              <a:latin typeface="Inter"/>
              <a:ea typeface="Inter"/>
              <a:cs typeface="Inter"/>
              <a:sym typeface="Inter"/>
            </a:endParaRPr>
          </a:p>
        </p:txBody>
      </p:sp>
      <p:sp>
        <p:nvSpPr>
          <p:cNvPr id="414" name="Google Shape;414;p15"/>
          <p:cNvSpPr/>
          <p:nvPr/>
        </p:nvSpPr>
        <p:spPr>
          <a:xfrm>
            <a:off x="7072114" y="3945334"/>
            <a:ext cx="230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200"/>
              <a:buFont typeface="Inter"/>
              <a:buNone/>
            </a:pPr>
            <a:r>
              <a:rPr b="1" i="0" lang="en-US" sz="1200" u="none" cap="none" strike="noStrike">
                <a:solidFill>
                  <a:srgbClr val="0F2743"/>
                </a:solidFill>
                <a:latin typeface="Inter"/>
                <a:ea typeface="Inter"/>
                <a:cs typeface="Inter"/>
                <a:sym typeface="Inter"/>
              </a:rPr>
              <a:t>H1</a:t>
            </a:r>
            <a:endParaRPr b="0" i="0" sz="1200" u="none" cap="none" strike="noStrike">
              <a:solidFill>
                <a:schemeClr val="dk1"/>
              </a:solidFill>
              <a:latin typeface="Inter"/>
              <a:ea typeface="Inter"/>
              <a:cs typeface="Inter"/>
              <a:sym typeface="Inter"/>
            </a:endParaRPr>
          </a:p>
        </p:txBody>
      </p:sp>
      <p:pic>
        <p:nvPicPr>
          <p:cNvPr descr="diamond" id="415" name="Google Shape;415;p15"/>
          <p:cNvPicPr preferRelativeResize="0"/>
          <p:nvPr/>
        </p:nvPicPr>
        <p:blipFill rotWithShape="1">
          <a:blip r:embed="rId3">
            <a:alphaModFix/>
          </a:blip>
          <a:srcRect b="0" l="0" r="0" t="0"/>
          <a:stretch/>
        </p:blipFill>
        <p:spPr>
          <a:xfrm>
            <a:off x="7302500" y="3956745"/>
            <a:ext cx="190500" cy="190500"/>
          </a:xfrm>
          <a:prstGeom prst="rect">
            <a:avLst/>
          </a:prstGeom>
          <a:noFill/>
          <a:ln>
            <a:noFill/>
          </a:ln>
        </p:spPr>
      </p:pic>
      <p:sp>
        <p:nvSpPr>
          <p:cNvPr id="416" name="Google Shape;416;p15"/>
          <p:cNvSpPr/>
          <p:nvPr/>
        </p:nvSpPr>
        <p:spPr>
          <a:xfrm>
            <a:off x="8337252" y="3945334"/>
            <a:ext cx="2607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200"/>
              <a:buFont typeface="Inter"/>
              <a:buNone/>
            </a:pPr>
            <a:r>
              <a:rPr b="1" i="0" lang="en-US" sz="1200" u="none" cap="none" strike="noStrike">
                <a:solidFill>
                  <a:srgbClr val="0F2743"/>
                </a:solidFill>
                <a:latin typeface="Inter"/>
                <a:ea typeface="Inter"/>
                <a:cs typeface="Inter"/>
                <a:sym typeface="Inter"/>
              </a:rPr>
              <a:t>H2</a:t>
            </a:r>
            <a:endParaRPr b="0" i="0" sz="1200" u="none" cap="none" strike="noStrike">
              <a:solidFill>
                <a:schemeClr val="dk1"/>
              </a:solidFill>
              <a:latin typeface="Inter"/>
              <a:ea typeface="Inter"/>
              <a:cs typeface="Inter"/>
              <a:sym typeface="Inter"/>
            </a:endParaRPr>
          </a:p>
        </p:txBody>
      </p:sp>
      <p:pic>
        <p:nvPicPr>
          <p:cNvPr descr="diamond" id="417" name="Google Shape;417;p15"/>
          <p:cNvPicPr preferRelativeResize="0"/>
          <p:nvPr/>
        </p:nvPicPr>
        <p:blipFill rotWithShape="1">
          <a:blip r:embed="rId3">
            <a:alphaModFix/>
          </a:blip>
          <a:srcRect b="0" l="0" r="0" t="0"/>
          <a:stretch/>
        </p:blipFill>
        <p:spPr>
          <a:xfrm>
            <a:off x="8597900" y="3956745"/>
            <a:ext cx="190500" cy="190500"/>
          </a:xfrm>
          <a:prstGeom prst="rect">
            <a:avLst/>
          </a:prstGeom>
          <a:noFill/>
          <a:ln>
            <a:noFill/>
          </a:ln>
        </p:spPr>
      </p:pic>
      <p:sp>
        <p:nvSpPr>
          <p:cNvPr id="418" name="Google Shape;418;p15"/>
          <p:cNvSpPr/>
          <p:nvPr/>
        </p:nvSpPr>
        <p:spPr>
          <a:xfrm>
            <a:off x="9630271" y="3945334"/>
            <a:ext cx="2631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200"/>
              <a:buFont typeface="Inter"/>
              <a:buNone/>
            </a:pPr>
            <a:r>
              <a:rPr b="1" i="0" lang="en-US" sz="1200" u="none" cap="none" strike="noStrike">
                <a:solidFill>
                  <a:srgbClr val="0F2743"/>
                </a:solidFill>
                <a:latin typeface="Inter"/>
                <a:ea typeface="Inter"/>
                <a:cs typeface="Inter"/>
                <a:sym typeface="Inter"/>
              </a:rPr>
              <a:t>H3</a:t>
            </a:r>
            <a:endParaRPr b="0" i="0" sz="1200" u="none" cap="none" strike="noStrike">
              <a:solidFill>
                <a:schemeClr val="dk1"/>
              </a:solidFill>
              <a:latin typeface="Inter"/>
              <a:ea typeface="Inter"/>
              <a:cs typeface="Inter"/>
              <a:sym typeface="Inter"/>
            </a:endParaRPr>
          </a:p>
        </p:txBody>
      </p:sp>
      <p:pic>
        <p:nvPicPr>
          <p:cNvPr descr="diamond" id="419" name="Google Shape;419;p15"/>
          <p:cNvPicPr preferRelativeResize="0"/>
          <p:nvPr/>
        </p:nvPicPr>
        <p:blipFill rotWithShape="1">
          <a:blip r:embed="rId3">
            <a:alphaModFix/>
          </a:blip>
          <a:srcRect b="0" l="0" r="0" t="0"/>
          <a:stretch/>
        </p:blipFill>
        <p:spPr>
          <a:xfrm>
            <a:off x="9893300" y="3956745"/>
            <a:ext cx="190500" cy="190500"/>
          </a:xfrm>
          <a:prstGeom prst="rect">
            <a:avLst/>
          </a:prstGeom>
          <a:noFill/>
          <a:ln>
            <a:noFill/>
          </a:ln>
        </p:spPr>
      </p:pic>
      <p:sp>
        <p:nvSpPr>
          <p:cNvPr id="420" name="Google Shape;420;p15"/>
          <p:cNvSpPr/>
          <p:nvPr/>
        </p:nvSpPr>
        <p:spPr>
          <a:xfrm>
            <a:off x="10920909" y="3945334"/>
            <a:ext cx="2679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200"/>
              <a:buFont typeface="Inter"/>
              <a:buNone/>
            </a:pPr>
            <a:r>
              <a:rPr b="1" i="0" lang="en-US" sz="1200" u="none" cap="none" strike="noStrike">
                <a:solidFill>
                  <a:srgbClr val="0F2743"/>
                </a:solidFill>
                <a:latin typeface="Inter"/>
                <a:ea typeface="Inter"/>
                <a:cs typeface="Inter"/>
                <a:sym typeface="Inter"/>
              </a:rPr>
              <a:t>H4</a:t>
            </a:r>
            <a:endParaRPr b="0" i="0" sz="1200" u="none" cap="none" strike="noStrike">
              <a:solidFill>
                <a:schemeClr val="dk1"/>
              </a:solidFill>
              <a:latin typeface="Inter"/>
              <a:ea typeface="Inter"/>
              <a:cs typeface="Inter"/>
              <a:sym typeface="Inter"/>
            </a:endParaRPr>
          </a:p>
        </p:txBody>
      </p:sp>
      <p:pic>
        <p:nvPicPr>
          <p:cNvPr descr="diamond" id="421" name="Google Shape;421;p15"/>
          <p:cNvPicPr preferRelativeResize="0"/>
          <p:nvPr/>
        </p:nvPicPr>
        <p:blipFill rotWithShape="1">
          <a:blip r:embed="rId3">
            <a:alphaModFix/>
          </a:blip>
          <a:srcRect b="0" l="0" r="0" t="0"/>
          <a:stretch/>
        </p:blipFill>
        <p:spPr>
          <a:xfrm>
            <a:off x="11188700" y="3956745"/>
            <a:ext cx="190500" cy="190500"/>
          </a:xfrm>
          <a:prstGeom prst="rect">
            <a:avLst/>
          </a:prstGeom>
          <a:noFill/>
          <a:ln>
            <a:noFill/>
          </a:ln>
        </p:spPr>
      </p:pic>
      <p:sp>
        <p:nvSpPr>
          <p:cNvPr id="422" name="Google Shape;422;p15"/>
          <p:cNvSpPr/>
          <p:nvPr/>
        </p:nvSpPr>
        <p:spPr>
          <a:xfrm>
            <a:off x="812800" y="4299645"/>
            <a:ext cx="254100" cy="126900"/>
          </a:xfrm>
          <a:prstGeom prst="roundRect">
            <a:avLst>
              <a:gd fmla="val 50000" name="adj"/>
            </a:avLst>
          </a:prstGeom>
          <a:solidFill>
            <a:srgbClr val="0F27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5"/>
          <p:cNvSpPr/>
          <p:nvPr/>
        </p:nvSpPr>
        <p:spPr>
          <a:xfrm>
            <a:off x="1168400" y="4256484"/>
            <a:ext cx="9732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0" i="0" lang="en-US" sz="1200" u="none" cap="none" strike="noStrike">
                <a:solidFill>
                  <a:srgbClr val="4A5568"/>
                </a:solidFill>
                <a:latin typeface="Inter"/>
                <a:ea typeface="Inter"/>
                <a:cs typeface="Inter"/>
                <a:sym typeface="Inter"/>
              </a:rPr>
              <a:t>Ruta crítica</a:t>
            </a:r>
            <a:endParaRPr b="0" i="0" sz="1200" u="none" cap="none" strike="noStrike">
              <a:solidFill>
                <a:schemeClr val="dk1"/>
              </a:solidFill>
              <a:latin typeface="Inter"/>
              <a:ea typeface="Inter"/>
              <a:cs typeface="Inter"/>
              <a:sym typeface="Inter"/>
            </a:endParaRPr>
          </a:p>
        </p:txBody>
      </p:sp>
      <p:sp>
        <p:nvSpPr>
          <p:cNvPr id="424" name="Google Shape;424;p15"/>
          <p:cNvSpPr/>
          <p:nvPr/>
        </p:nvSpPr>
        <p:spPr>
          <a:xfrm>
            <a:off x="2335014" y="4299645"/>
            <a:ext cx="254100" cy="126900"/>
          </a:xfrm>
          <a:prstGeom prst="roundRect">
            <a:avLst>
              <a:gd fmla="val 50000" name="adj"/>
            </a:avLst>
          </a:prstGeom>
          <a:solidFill>
            <a:srgbClr val="A9B6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5"/>
          <p:cNvSpPr/>
          <p:nvPr/>
        </p:nvSpPr>
        <p:spPr>
          <a:xfrm>
            <a:off x="2690614" y="4256484"/>
            <a:ext cx="10560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0" i="0" lang="en-US" sz="1200" u="none" cap="none" strike="noStrike">
                <a:solidFill>
                  <a:srgbClr val="4A5568"/>
                </a:solidFill>
                <a:latin typeface="Inter"/>
                <a:ea typeface="Inter"/>
                <a:cs typeface="Inter"/>
                <a:sym typeface="Inter"/>
              </a:rPr>
              <a:t>Otras tareas</a:t>
            </a:r>
            <a:endParaRPr b="0" i="0" sz="1200" u="none" cap="none" strike="noStrike">
              <a:solidFill>
                <a:schemeClr val="dk1"/>
              </a:solidFill>
              <a:latin typeface="Inter"/>
              <a:ea typeface="Inter"/>
              <a:cs typeface="Inter"/>
              <a:sym typeface="Inter"/>
            </a:endParaRPr>
          </a:p>
        </p:txBody>
      </p:sp>
      <p:pic>
        <p:nvPicPr>
          <p:cNvPr descr="diamond" id="426" name="Google Shape;426;p15"/>
          <p:cNvPicPr preferRelativeResize="0"/>
          <p:nvPr/>
        </p:nvPicPr>
        <p:blipFill rotWithShape="1">
          <a:blip r:embed="rId4">
            <a:alphaModFix/>
          </a:blip>
          <a:srcRect b="0" l="0" r="0" t="0"/>
          <a:stretch/>
        </p:blipFill>
        <p:spPr>
          <a:xfrm>
            <a:off x="3926284" y="4293295"/>
            <a:ext cx="139700" cy="139700"/>
          </a:xfrm>
          <a:prstGeom prst="rect">
            <a:avLst/>
          </a:prstGeom>
          <a:noFill/>
          <a:ln>
            <a:noFill/>
          </a:ln>
        </p:spPr>
      </p:pic>
      <p:sp>
        <p:nvSpPr>
          <p:cNvPr id="427" name="Google Shape;427;p15"/>
          <p:cNvSpPr/>
          <p:nvPr/>
        </p:nvSpPr>
        <p:spPr>
          <a:xfrm>
            <a:off x="4167584" y="4256484"/>
            <a:ext cx="1991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0" i="0" lang="en-US" sz="1200" u="none" cap="none" strike="noStrike">
                <a:solidFill>
                  <a:srgbClr val="4A5568"/>
                </a:solidFill>
                <a:latin typeface="Inter"/>
                <a:ea typeface="Inter"/>
                <a:cs typeface="Inter"/>
                <a:sym typeface="Inter"/>
              </a:rPr>
              <a:t>Hito: lo valida el cliente</a:t>
            </a:r>
            <a:endParaRPr b="0" i="0" sz="1200" u="none" cap="none" strike="noStrike">
              <a:solidFill>
                <a:schemeClr val="dk1"/>
              </a:solidFill>
              <a:latin typeface="Inter"/>
              <a:ea typeface="Inter"/>
              <a:cs typeface="Inter"/>
              <a:sym typeface="Inter"/>
            </a:endParaRPr>
          </a:p>
        </p:txBody>
      </p:sp>
      <p:cxnSp>
        <p:nvCxnSpPr>
          <p:cNvPr id="428" name="Google Shape;428;p15"/>
          <p:cNvCxnSpPr/>
          <p:nvPr/>
        </p:nvCxnSpPr>
        <p:spPr>
          <a:xfrm>
            <a:off x="812800" y="4711105"/>
            <a:ext cx="2451000" cy="0"/>
          </a:xfrm>
          <a:prstGeom prst="straightConnector1">
            <a:avLst/>
          </a:prstGeom>
          <a:noFill/>
          <a:ln cap="flat" cmpd="sng" w="25400">
            <a:solidFill>
              <a:srgbClr val="E3A82B"/>
            </a:solidFill>
            <a:prstDash val="solid"/>
            <a:round/>
            <a:headEnd len="sm" w="sm" type="none"/>
            <a:tailEnd len="sm" w="sm" type="none"/>
          </a:ln>
        </p:spPr>
      </p:cxnSp>
      <p:sp>
        <p:nvSpPr>
          <p:cNvPr id="429" name="Google Shape;429;p15"/>
          <p:cNvSpPr/>
          <p:nvPr/>
        </p:nvSpPr>
        <p:spPr>
          <a:xfrm>
            <a:off x="812800" y="4825405"/>
            <a:ext cx="2524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07A0E"/>
              </a:buClr>
              <a:buSzPts val="1200"/>
              <a:buFont typeface="Inter"/>
              <a:buNone/>
            </a:pPr>
            <a:r>
              <a:rPr b="1" i="0" lang="en-US" sz="1200" u="none" cap="none" strike="noStrike">
                <a:solidFill>
                  <a:srgbClr val="B07A0E"/>
                </a:solidFill>
                <a:latin typeface="Inter"/>
                <a:ea typeface="Inter"/>
                <a:cs typeface="Inter"/>
                <a:sym typeface="Inter"/>
              </a:rPr>
              <a:t>H1 · 19/10</a:t>
            </a:r>
            <a:endParaRPr b="0" i="0" sz="1200" u="none" cap="none" strike="noStrike">
              <a:solidFill>
                <a:schemeClr val="dk1"/>
              </a:solidFill>
              <a:latin typeface="Inter"/>
              <a:ea typeface="Inter"/>
              <a:cs typeface="Inter"/>
              <a:sym typeface="Inter"/>
            </a:endParaRPr>
          </a:p>
        </p:txBody>
      </p:sp>
      <p:sp>
        <p:nvSpPr>
          <p:cNvPr id="430" name="Google Shape;430;p15"/>
          <p:cNvSpPr/>
          <p:nvPr/>
        </p:nvSpPr>
        <p:spPr>
          <a:xfrm>
            <a:off x="812800" y="5076825"/>
            <a:ext cx="25245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F2743"/>
              </a:buClr>
              <a:buSzPts val="1300"/>
              <a:buFont typeface="Inter"/>
              <a:buNone/>
            </a:pPr>
            <a:r>
              <a:rPr b="1" i="0" lang="en-US" sz="1300" u="none" cap="none" strike="noStrike">
                <a:solidFill>
                  <a:srgbClr val="0F2743"/>
                </a:solidFill>
                <a:latin typeface="Inter"/>
                <a:ea typeface="Inter"/>
                <a:cs typeface="Inter"/>
                <a:sym typeface="Inter"/>
              </a:rPr>
              <a:t>Reglas y rangos validados</a:t>
            </a:r>
            <a:endParaRPr b="0" i="0" sz="1300" u="none" cap="none" strike="noStrike">
              <a:solidFill>
                <a:schemeClr val="dk1"/>
              </a:solidFill>
              <a:latin typeface="Inter"/>
              <a:ea typeface="Inter"/>
              <a:cs typeface="Inter"/>
              <a:sym typeface="Inter"/>
            </a:endParaRPr>
          </a:p>
        </p:txBody>
      </p:sp>
      <p:sp>
        <p:nvSpPr>
          <p:cNvPr id="431" name="Google Shape;431;p15"/>
          <p:cNvSpPr/>
          <p:nvPr/>
        </p:nvSpPr>
        <p:spPr>
          <a:xfrm>
            <a:off x="812800" y="5321300"/>
            <a:ext cx="2524500" cy="231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200"/>
              <a:buFont typeface="Inter"/>
              <a:buNone/>
            </a:pPr>
            <a:r>
              <a:rPr b="0" i="0" lang="en-US" sz="1200" u="none" cap="none" strike="noStrike">
                <a:solidFill>
                  <a:srgbClr val="4A5568"/>
                </a:solidFill>
                <a:latin typeface="Inter"/>
                <a:ea typeface="Inter"/>
                <a:cs typeface="Inter"/>
                <a:sym typeface="Inter"/>
              </a:rPr>
              <a:t>Valida: Gerente de Producción</a:t>
            </a:r>
            <a:endParaRPr b="0" i="0" sz="1200" u="none" cap="none" strike="noStrike">
              <a:solidFill>
                <a:schemeClr val="dk1"/>
              </a:solidFill>
              <a:latin typeface="Inter"/>
              <a:ea typeface="Inter"/>
              <a:cs typeface="Inter"/>
              <a:sym typeface="Inter"/>
            </a:endParaRPr>
          </a:p>
        </p:txBody>
      </p:sp>
      <p:cxnSp>
        <p:nvCxnSpPr>
          <p:cNvPr id="432" name="Google Shape;432;p15"/>
          <p:cNvCxnSpPr/>
          <p:nvPr/>
        </p:nvCxnSpPr>
        <p:spPr>
          <a:xfrm>
            <a:off x="3517900" y="4711105"/>
            <a:ext cx="2451000" cy="0"/>
          </a:xfrm>
          <a:prstGeom prst="straightConnector1">
            <a:avLst/>
          </a:prstGeom>
          <a:noFill/>
          <a:ln cap="flat" cmpd="sng" w="25400">
            <a:solidFill>
              <a:srgbClr val="E3A82B"/>
            </a:solidFill>
            <a:prstDash val="solid"/>
            <a:round/>
            <a:headEnd len="sm" w="sm" type="none"/>
            <a:tailEnd len="sm" w="sm" type="none"/>
          </a:ln>
        </p:spPr>
      </p:cxnSp>
      <p:sp>
        <p:nvSpPr>
          <p:cNvPr id="433" name="Google Shape;433;p15"/>
          <p:cNvSpPr/>
          <p:nvPr/>
        </p:nvSpPr>
        <p:spPr>
          <a:xfrm>
            <a:off x="3517900" y="4825405"/>
            <a:ext cx="2524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07A0E"/>
              </a:buClr>
              <a:buSzPts val="1200"/>
              <a:buFont typeface="Inter"/>
              <a:buNone/>
            </a:pPr>
            <a:r>
              <a:rPr b="1" i="0" lang="en-US" sz="1200" u="none" cap="none" strike="noStrike">
                <a:solidFill>
                  <a:srgbClr val="B07A0E"/>
                </a:solidFill>
                <a:latin typeface="Inter"/>
                <a:ea typeface="Inter"/>
                <a:cs typeface="Inter"/>
                <a:sym typeface="Inter"/>
              </a:rPr>
              <a:t>H2 · 26/10</a:t>
            </a:r>
            <a:endParaRPr b="0" i="0" sz="1200" u="none" cap="none" strike="noStrike">
              <a:solidFill>
                <a:schemeClr val="dk1"/>
              </a:solidFill>
              <a:latin typeface="Inter"/>
              <a:ea typeface="Inter"/>
              <a:cs typeface="Inter"/>
              <a:sym typeface="Inter"/>
            </a:endParaRPr>
          </a:p>
        </p:txBody>
      </p:sp>
      <p:sp>
        <p:nvSpPr>
          <p:cNvPr id="434" name="Google Shape;434;p15"/>
          <p:cNvSpPr/>
          <p:nvPr/>
        </p:nvSpPr>
        <p:spPr>
          <a:xfrm>
            <a:off x="3517900" y="5076825"/>
            <a:ext cx="2524500" cy="4383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F2743"/>
              </a:buClr>
              <a:buSzPts val="1300"/>
              <a:buFont typeface="Inter"/>
              <a:buNone/>
            </a:pPr>
            <a:r>
              <a:rPr b="1" i="0" lang="en-US" sz="1300" u="none" cap="none" strike="noStrike">
                <a:solidFill>
                  <a:srgbClr val="0F2743"/>
                </a:solidFill>
                <a:latin typeface="Inter"/>
                <a:ea typeface="Inter"/>
                <a:cs typeface="Inter"/>
                <a:sym typeface="Inter"/>
              </a:rPr>
              <a:t>Ingesta operativa en los 8 campos</a:t>
            </a:r>
            <a:endParaRPr b="0" i="0" sz="1300" u="none" cap="none" strike="noStrike">
              <a:solidFill>
                <a:schemeClr val="dk1"/>
              </a:solidFill>
              <a:latin typeface="Inter"/>
              <a:ea typeface="Inter"/>
              <a:cs typeface="Inter"/>
              <a:sym typeface="Inter"/>
            </a:endParaRPr>
          </a:p>
        </p:txBody>
      </p:sp>
      <p:sp>
        <p:nvSpPr>
          <p:cNvPr id="435" name="Google Shape;435;p15"/>
          <p:cNvSpPr/>
          <p:nvPr/>
        </p:nvSpPr>
        <p:spPr>
          <a:xfrm>
            <a:off x="3517900" y="5527675"/>
            <a:ext cx="2524500" cy="231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200"/>
              <a:buFont typeface="Inter"/>
              <a:buNone/>
            </a:pPr>
            <a:r>
              <a:rPr b="0" i="0" lang="en-US" sz="1200" u="none" cap="none" strike="noStrike">
                <a:solidFill>
                  <a:srgbClr val="4A5568"/>
                </a:solidFill>
                <a:latin typeface="Inter"/>
                <a:ea typeface="Inter"/>
                <a:cs typeface="Inter"/>
                <a:sym typeface="Inter"/>
              </a:rPr>
              <a:t>Valida: Responsable de IT</a:t>
            </a:r>
            <a:endParaRPr b="0" i="0" sz="1200" u="none" cap="none" strike="noStrike">
              <a:solidFill>
                <a:schemeClr val="dk1"/>
              </a:solidFill>
              <a:latin typeface="Inter"/>
              <a:ea typeface="Inter"/>
              <a:cs typeface="Inter"/>
              <a:sym typeface="Inter"/>
            </a:endParaRPr>
          </a:p>
        </p:txBody>
      </p:sp>
      <p:cxnSp>
        <p:nvCxnSpPr>
          <p:cNvPr id="436" name="Google Shape;436;p15"/>
          <p:cNvCxnSpPr/>
          <p:nvPr/>
        </p:nvCxnSpPr>
        <p:spPr>
          <a:xfrm>
            <a:off x="6223000" y="4711105"/>
            <a:ext cx="2451000" cy="0"/>
          </a:xfrm>
          <a:prstGeom prst="straightConnector1">
            <a:avLst/>
          </a:prstGeom>
          <a:noFill/>
          <a:ln cap="flat" cmpd="sng" w="25400">
            <a:solidFill>
              <a:srgbClr val="E3A82B"/>
            </a:solidFill>
            <a:prstDash val="solid"/>
            <a:round/>
            <a:headEnd len="sm" w="sm" type="none"/>
            <a:tailEnd len="sm" w="sm" type="none"/>
          </a:ln>
        </p:spPr>
      </p:cxnSp>
      <p:sp>
        <p:nvSpPr>
          <p:cNvPr id="437" name="Google Shape;437;p15"/>
          <p:cNvSpPr/>
          <p:nvPr/>
        </p:nvSpPr>
        <p:spPr>
          <a:xfrm>
            <a:off x="6223000" y="4825405"/>
            <a:ext cx="2524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07A0E"/>
              </a:buClr>
              <a:buSzPts val="1200"/>
              <a:buFont typeface="Inter"/>
              <a:buNone/>
            </a:pPr>
            <a:r>
              <a:rPr b="1" i="0" lang="en-US" sz="1200" u="none" cap="none" strike="noStrike">
                <a:solidFill>
                  <a:srgbClr val="B07A0E"/>
                </a:solidFill>
                <a:latin typeface="Inter"/>
                <a:ea typeface="Inter"/>
                <a:cs typeface="Inter"/>
                <a:sym typeface="Inter"/>
              </a:rPr>
              <a:t>H3 · 2/11</a:t>
            </a:r>
            <a:endParaRPr b="0" i="0" sz="1200" u="none" cap="none" strike="noStrike">
              <a:solidFill>
                <a:schemeClr val="dk1"/>
              </a:solidFill>
              <a:latin typeface="Inter"/>
              <a:ea typeface="Inter"/>
              <a:cs typeface="Inter"/>
              <a:sym typeface="Inter"/>
            </a:endParaRPr>
          </a:p>
        </p:txBody>
      </p:sp>
      <p:sp>
        <p:nvSpPr>
          <p:cNvPr id="438" name="Google Shape;438;p15"/>
          <p:cNvSpPr/>
          <p:nvPr/>
        </p:nvSpPr>
        <p:spPr>
          <a:xfrm>
            <a:off x="6223000" y="5076825"/>
            <a:ext cx="25245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F2743"/>
              </a:buClr>
              <a:buSzPts val="1300"/>
              <a:buFont typeface="Inter"/>
              <a:buNone/>
            </a:pPr>
            <a:r>
              <a:rPr b="1" i="0" lang="en-US" sz="1300" u="none" cap="none" strike="noStrike">
                <a:solidFill>
                  <a:srgbClr val="0F2743"/>
                </a:solidFill>
                <a:latin typeface="Inter"/>
                <a:ea typeface="Inter"/>
                <a:cs typeface="Inter"/>
                <a:sym typeface="Inter"/>
              </a:rPr>
              <a:t>Oro con 0 registros inválidos</a:t>
            </a:r>
            <a:endParaRPr b="0" i="0" sz="1300" u="none" cap="none" strike="noStrike">
              <a:solidFill>
                <a:schemeClr val="dk1"/>
              </a:solidFill>
              <a:latin typeface="Inter"/>
              <a:ea typeface="Inter"/>
              <a:cs typeface="Inter"/>
              <a:sym typeface="Inter"/>
            </a:endParaRPr>
          </a:p>
        </p:txBody>
      </p:sp>
      <p:sp>
        <p:nvSpPr>
          <p:cNvPr id="439" name="Google Shape;439;p15"/>
          <p:cNvSpPr/>
          <p:nvPr/>
        </p:nvSpPr>
        <p:spPr>
          <a:xfrm>
            <a:off x="6223000" y="5321300"/>
            <a:ext cx="2524500" cy="231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200"/>
              <a:buFont typeface="Inter"/>
              <a:buNone/>
            </a:pPr>
            <a:r>
              <a:rPr b="0" i="0" lang="en-US" sz="1200" u="none" cap="none" strike="noStrike">
                <a:solidFill>
                  <a:srgbClr val="4A5568"/>
                </a:solidFill>
                <a:latin typeface="Inter"/>
                <a:ea typeface="Inter"/>
                <a:cs typeface="Inter"/>
                <a:sym typeface="Inter"/>
              </a:rPr>
              <a:t>Valida: Director General</a:t>
            </a:r>
            <a:endParaRPr b="0" i="0" sz="1200" u="none" cap="none" strike="noStrike">
              <a:solidFill>
                <a:schemeClr val="dk1"/>
              </a:solidFill>
              <a:latin typeface="Inter"/>
              <a:ea typeface="Inter"/>
              <a:cs typeface="Inter"/>
              <a:sym typeface="Inter"/>
            </a:endParaRPr>
          </a:p>
        </p:txBody>
      </p:sp>
      <p:cxnSp>
        <p:nvCxnSpPr>
          <p:cNvPr id="440" name="Google Shape;440;p15"/>
          <p:cNvCxnSpPr/>
          <p:nvPr/>
        </p:nvCxnSpPr>
        <p:spPr>
          <a:xfrm>
            <a:off x="8928100" y="4711105"/>
            <a:ext cx="2451000" cy="0"/>
          </a:xfrm>
          <a:prstGeom prst="straightConnector1">
            <a:avLst/>
          </a:prstGeom>
          <a:noFill/>
          <a:ln cap="flat" cmpd="sng" w="25400">
            <a:solidFill>
              <a:srgbClr val="E3A82B"/>
            </a:solidFill>
            <a:prstDash val="solid"/>
            <a:round/>
            <a:headEnd len="sm" w="sm" type="none"/>
            <a:tailEnd len="sm" w="sm" type="none"/>
          </a:ln>
        </p:spPr>
      </p:cxnSp>
      <p:sp>
        <p:nvSpPr>
          <p:cNvPr id="441" name="Google Shape;441;p15"/>
          <p:cNvSpPr/>
          <p:nvPr/>
        </p:nvSpPr>
        <p:spPr>
          <a:xfrm>
            <a:off x="8928100" y="4825405"/>
            <a:ext cx="25245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07A0E"/>
              </a:buClr>
              <a:buSzPts val="1200"/>
              <a:buFont typeface="Inter"/>
              <a:buNone/>
            </a:pPr>
            <a:r>
              <a:rPr b="1" i="0" lang="en-US" sz="1200" u="none" cap="none" strike="noStrike">
                <a:solidFill>
                  <a:srgbClr val="B07A0E"/>
                </a:solidFill>
                <a:latin typeface="Inter"/>
                <a:ea typeface="Inter"/>
                <a:cs typeface="Inter"/>
                <a:sym typeface="Inter"/>
              </a:rPr>
              <a:t>H4 · 10/11</a:t>
            </a:r>
            <a:endParaRPr b="0" i="0" sz="1200" u="none" cap="none" strike="noStrike">
              <a:solidFill>
                <a:schemeClr val="dk1"/>
              </a:solidFill>
              <a:latin typeface="Inter"/>
              <a:ea typeface="Inter"/>
              <a:cs typeface="Inter"/>
              <a:sym typeface="Inter"/>
            </a:endParaRPr>
          </a:p>
        </p:txBody>
      </p:sp>
      <p:sp>
        <p:nvSpPr>
          <p:cNvPr id="442" name="Google Shape;442;p15"/>
          <p:cNvSpPr/>
          <p:nvPr/>
        </p:nvSpPr>
        <p:spPr>
          <a:xfrm>
            <a:off x="8928100" y="5076825"/>
            <a:ext cx="2524500" cy="231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F2743"/>
              </a:buClr>
              <a:buSzPts val="1300"/>
              <a:buFont typeface="Inter"/>
              <a:buNone/>
            </a:pPr>
            <a:r>
              <a:rPr b="1" i="0" lang="en-US" sz="1300" u="none" cap="none" strike="noStrike">
                <a:solidFill>
                  <a:srgbClr val="0F2743"/>
                </a:solidFill>
                <a:latin typeface="Inter"/>
                <a:ea typeface="Inter"/>
                <a:cs typeface="Inter"/>
                <a:sym typeface="Inter"/>
              </a:rPr>
              <a:t>Tablero validado con usuarios</a:t>
            </a:r>
            <a:endParaRPr b="0" i="0" sz="1300" u="none" cap="none" strike="noStrike">
              <a:solidFill>
                <a:schemeClr val="dk1"/>
              </a:solidFill>
              <a:latin typeface="Inter"/>
              <a:ea typeface="Inter"/>
              <a:cs typeface="Inter"/>
              <a:sym typeface="Inter"/>
            </a:endParaRPr>
          </a:p>
        </p:txBody>
      </p:sp>
      <p:sp>
        <p:nvSpPr>
          <p:cNvPr id="443" name="Google Shape;443;p15"/>
          <p:cNvSpPr/>
          <p:nvPr/>
        </p:nvSpPr>
        <p:spPr>
          <a:xfrm>
            <a:off x="8928100" y="5321300"/>
            <a:ext cx="2524500" cy="231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200"/>
              <a:buFont typeface="Inter"/>
              <a:buNone/>
            </a:pPr>
            <a:r>
              <a:rPr b="0" i="0" lang="en-US" sz="1200" u="none" cap="none" strike="noStrike">
                <a:solidFill>
                  <a:srgbClr val="4A5568"/>
                </a:solidFill>
                <a:latin typeface="Inter"/>
                <a:ea typeface="Inter"/>
                <a:cs typeface="Inter"/>
                <a:sym typeface="Inter"/>
              </a:rPr>
              <a:t>Valida: Gerente de Producción</a:t>
            </a:r>
            <a:endParaRPr b="0" i="0" sz="1200" u="none" cap="none" strike="noStrike">
              <a:solidFill>
                <a:schemeClr val="dk1"/>
              </a:solidFill>
              <a:latin typeface="Inter"/>
              <a:ea typeface="Inter"/>
              <a:cs typeface="Inter"/>
              <a:sym typeface="Inter"/>
            </a:endParaRPr>
          </a:p>
        </p:txBody>
      </p:sp>
      <p:sp>
        <p:nvSpPr>
          <p:cNvPr id="444" name="Google Shape;444;p15"/>
          <p:cNvSpPr/>
          <p:nvPr/>
        </p:nvSpPr>
        <p:spPr>
          <a:xfrm>
            <a:off x="9093200" y="6238280"/>
            <a:ext cx="558900" cy="23880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12</a:t>
            </a:r>
            <a:endParaRPr b="0" i="0" sz="1200" u="none" cap="none" strike="noStrike">
              <a:solidFill>
                <a:schemeClr val="dk1"/>
              </a:solidFill>
              <a:latin typeface="Inter"/>
              <a:ea typeface="Inter"/>
              <a:cs typeface="Inter"/>
              <a:sym typeface="Inter"/>
            </a:endParaRPr>
          </a:p>
        </p:txBody>
      </p:sp>
      <p:pic>
        <p:nvPicPr>
          <p:cNvPr descr="Logotipo de Datum Sur" id="445" name="Google Shape;445;p15"/>
          <p:cNvPicPr preferRelativeResize="0"/>
          <p:nvPr/>
        </p:nvPicPr>
        <p:blipFill rotWithShape="1">
          <a:blip r:embed="rId5">
            <a:alphaModFix/>
          </a:blip>
          <a:srcRect b="-577" l="0" r="0" t="-587"/>
          <a:stretch/>
        </p:blipFill>
        <p:spPr>
          <a:xfrm>
            <a:off x="10617200" y="6223000"/>
            <a:ext cx="762001" cy="279400"/>
          </a:xfrm>
          <a:prstGeom prst="rect">
            <a:avLst/>
          </a:prstGeom>
          <a:noFill/>
          <a:ln>
            <a:noFill/>
          </a:ln>
        </p:spPr>
      </p:pic>
      <p:pic>
        <p:nvPicPr>
          <p:cNvPr descr="logo-uade » CEDOL" id="446" name="Google Shape;446;p15"/>
          <p:cNvPicPr preferRelativeResize="0"/>
          <p:nvPr/>
        </p:nvPicPr>
        <p:blipFill rotWithShape="1">
          <a:blip r:embed="rId6">
            <a:alphaModFix/>
          </a:blip>
          <a:srcRect b="0" l="0" r="0" t="0"/>
          <a:stretch/>
        </p:blipFill>
        <p:spPr>
          <a:xfrm>
            <a:off x="9862481" y="6160518"/>
            <a:ext cx="703920" cy="40371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E"/>
        </a:solidFill>
      </p:bgPr>
    </p:bg>
    <p:spTree>
      <p:nvGrpSpPr>
        <p:cNvPr id="451" name="Shape 451"/>
        <p:cNvGrpSpPr/>
        <p:nvPr/>
      </p:nvGrpSpPr>
      <p:grpSpPr>
        <a:xfrm>
          <a:off x="0" y="0"/>
          <a:ext cx="0" cy="0"/>
          <a:chOff x="0" y="0"/>
          <a:chExt cx="0" cy="0"/>
        </a:xfrm>
      </p:grpSpPr>
      <p:sp>
        <p:nvSpPr>
          <p:cNvPr id="452" name="Google Shape;452;p16"/>
          <p:cNvSpPr/>
          <p:nvPr/>
        </p:nvSpPr>
        <p:spPr>
          <a:xfrm>
            <a:off x="812800" y="796727"/>
            <a:ext cx="304800" cy="38100"/>
          </a:xfrm>
          <a:prstGeom prst="roundRect">
            <a:avLst>
              <a:gd fmla="val 5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453" name="Google Shape;453;p16"/>
          <p:cNvSpPr/>
          <p:nvPr/>
        </p:nvSpPr>
        <p:spPr>
          <a:xfrm>
            <a:off x="1219200" y="709216"/>
            <a:ext cx="128420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INVERSIÓN</a:t>
            </a:r>
            <a:endParaRPr sz="1200">
              <a:solidFill>
                <a:schemeClr val="dk1"/>
              </a:solidFill>
              <a:latin typeface="Inter"/>
              <a:ea typeface="Inter"/>
              <a:cs typeface="Inter"/>
              <a:sym typeface="Inter"/>
            </a:endParaRPr>
          </a:p>
        </p:txBody>
      </p:sp>
      <p:sp>
        <p:nvSpPr>
          <p:cNvPr id="454" name="Google Shape;454;p16"/>
          <p:cNvSpPr txBox="1"/>
          <p:nvPr>
            <p:ph type="title"/>
          </p:nvPr>
        </p:nvSpPr>
        <p:spPr>
          <a:xfrm>
            <a:off x="812800" y="1047452"/>
            <a:ext cx="10883392" cy="436463"/>
          </a:xfrm>
          <a:prstGeom prst="rect">
            <a:avLst/>
          </a:prstGeom>
          <a:noFill/>
          <a:ln>
            <a:noFill/>
          </a:ln>
        </p:spPr>
        <p:txBody>
          <a:bodyPr anchorCtr="0" anchor="t" bIns="0" lIns="0" spcFirstLastPara="1" rIns="0" wrap="square" tIns="0">
            <a:normAutofit/>
          </a:bodyPr>
          <a:lstStyle/>
          <a:p>
            <a:pPr indent="0" lvl="0" marL="0" rtl="0" algn="l">
              <a:lnSpc>
                <a:spcPct val="109993"/>
              </a:lnSpc>
              <a:spcBef>
                <a:spcPts val="0"/>
              </a:spcBef>
              <a:spcAft>
                <a:spcPts val="0"/>
              </a:spcAft>
              <a:buClr>
                <a:srgbClr val="0F2743"/>
              </a:buClr>
              <a:buSzPts val="2972"/>
              <a:buFont typeface="Inter"/>
              <a:buNone/>
            </a:pPr>
            <a:r>
              <a:rPr b="1" i="0" lang="en-US" sz="2972">
                <a:solidFill>
                  <a:srgbClr val="0F2743"/>
                </a:solidFill>
                <a:latin typeface="Inter"/>
                <a:ea typeface="Inter"/>
                <a:cs typeface="Inter"/>
                <a:sym typeface="Inter"/>
              </a:rPr>
              <a:t>El MVP cuesta USD 11.000 y se paga por avance</a:t>
            </a:r>
            <a:endParaRPr sz="2972"/>
          </a:p>
        </p:txBody>
      </p:sp>
      <p:sp>
        <p:nvSpPr>
          <p:cNvPr id="455" name="Google Shape;455;p16"/>
          <p:cNvSpPr/>
          <p:nvPr/>
        </p:nvSpPr>
        <p:spPr>
          <a:xfrm>
            <a:off x="812800" y="1763316"/>
            <a:ext cx="5175250" cy="4078684"/>
          </a:xfrm>
          <a:prstGeom prst="roundRect">
            <a:avLst>
              <a:gd fmla="val 1868" name="adj"/>
            </a:avLst>
          </a:prstGeom>
          <a:solidFill>
            <a:srgbClr val="0F27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456" name="Google Shape;456;p16"/>
          <p:cNvSpPr/>
          <p:nvPr/>
        </p:nvSpPr>
        <p:spPr>
          <a:xfrm>
            <a:off x="1066800" y="2017316"/>
            <a:ext cx="4807268" cy="234057"/>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E3A82B"/>
              </a:buClr>
              <a:buSzPts val="1196"/>
              <a:buFont typeface="Inter"/>
              <a:buNone/>
            </a:pPr>
            <a:r>
              <a:rPr b="1" lang="en-US" sz="1196">
                <a:solidFill>
                  <a:srgbClr val="E3A82B"/>
                </a:solidFill>
                <a:latin typeface="Inter"/>
                <a:ea typeface="Inter"/>
                <a:cs typeface="Inter"/>
                <a:sym typeface="Inter"/>
              </a:rPr>
              <a:t>MVP · 6 SEMANAS</a:t>
            </a:r>
            <a:endParaRPr sz="1196">
              <a:solidFill>
                <a:schemeClr val="dk1"/>
              </a:solidFill>
              <a:latin typeface="Inter"/>
              <a:ea typeface="Inter"/>
              <a:cs typeface="Inter"/>
              <a:sym typeface="Inter"/>
            </a:endParaRPr>
          </a:p>
        </p:txBody>
      </p:sp>
      <p:sp>
        <p:nvSpPr>
          <p:cNvPr id="457" name="Google Shape;457;p16"/>
          <p:cNvSpPr/>
          <p:nvPr/>
        </p:nvSpPr>
        <p:spPr>
          <a:xfrm>
            <a:off x="1066800" y="2302173"/>
            <a:ext cx="4807268" cy="571996"/>
          </a:xfrm>
          <a:prstGeom prst="rect">
            <a:avLst/>
          </a:prstGeom>
          <a:noFill/>
          <a:ln>
            <a:noFill/>
          </a:ln>
        </p:spPr>
        <p:txBody>
          <a:bodyPr anchorCtr="0" anchor="t" bIns="0" lIns="0" spcFirstLastPara="1" rIns="0" wrap="square" tIns="0">
            <a:noAutofit/>
          </a:bodyPr>
          <a:lstStyle/>
          <a:p>
            <a:pPr indent="0" lvl="0" marL="0" marR="0" rtl="0" algn="l">
              <a:lnSpc>
                <a:spcPct val="110012"/>
              </a:lnSpc>
              <a:spcBef>
                <a:spcPts val="0"/>
              </a:spcBef>
              <a:spcAft>
                <a:spcPts val="0"/>
              </a:spcAft>
              <a:buClr>
                <a:srgbClr val="F4F5F9"/>
              </a:buClr>
              <a:buSzPts val="3925"/>
              <a:buFont typeface="Inter"/>
              <a:buNone/>
            </a:pPr>
            <a:r>
              <a:rPr b="1" lang="en-US" sz="3925">
                <a:solidFill>
                  <a:srgbClr val="F4F5F9"/>
                </a:solidFill>
                <a:latin typeface="Inter"/>
                <a:ea typeface="Inter"/>
                <a:cs typeface="Inter"/>
                <a:sym typeface="Inter"/>
              </a:rPr>
              <a:t>USD 11.000</a:t>
            </a:r>
            <a:endParaRPr sz="3925">
              <a:solidFill>
                <a:schemeClr val="dk1"/>
              </a:solidFill>
              <a:latin typeface="Inter"/>
              <a:ea typeface="Inter"/>
              <a:cs typeface="Inter"/>
              <a:sym typeface="Inter"/>
            </a:endParaRPr>
          </a:p>
        </p:txBody>
      </p:sp>
      <p:sp>
        <p:nvSpPr>
          <p:cNvPr id="458" name="Google Shape;458;p16"/>
          <p:cNvSpPr/>
          <p:nvPr/>
        </p:nvSpPr>
        <p:spPr>
          <a:xfrm>
            <a:off x="1066800" y="2924969"/>
            <a:ext cx="4807268" cy="234057"/>
          </a:xfrm>
          <a:prstGeom prst="rect">
            <a:avLst/>
          </a:prstGeom>
          <a:noFill/>
          <a:ln>
            <a:noFill/>
          </a:ln>
        </p:spPr>
        <p:txBody>
          <a:bodyPr anchorCtr="0" anchor="t" bIns="0" lIns="0" spcFirstLastPara="1" rIns="0" wrap="square" tIns="0">
            <a:noAutofit/>
          </a:bodyPr>
          <a:lstStyle/>
          <a:p>
            <a:pPr indent="0" lvl="0" marL="0" marR="0" rtl="0" algn="l">
              <a:lnSpc>
                <a:spcPct val="140050"/>
              </a:lnSpc>
              <a:spcBef>
                <a:spcPts val="0"/>
              </a:spcBef>
              <a:spcAft>
                <a:spcPts val="0"/>
              </a:spcAft>
              <a:buClr>
                <a:srgbClr val="B9C4D4"/>
              </a:buClr>
              <a:buSzPts val="1196"/>
              <a:buFont typeface="Inter"/>
              <a:buNone/>
            </a:pPr>
            <a:r>
              <a:rPr lang="en-US" sz="1196">
                <a:solidFill>
                  <a:srgbClr val="B9C4D4"/>
                </a:solidFill>
                <a:latin typeface="Inter"/>
                <a:ea typeface="Inter"/>
                <a:cs typeface="Inter"/>
                <a:sym typeface="Inter"/>
              </a:rPr>
              <a:t>Valores sin IVA. Software gratuito o de código abierto.</a:t>
            </a:r>
            <a:endParaRPr sz="1196">
              <a:solidFill>
                <a:schemeClr val="dk1"/>
              </a:solidFill>
              <a:latin typeface="Inter"/>
              <a:ea typeface="Inter"/>
              <a:cs typeface="Inter"/>
              <a:sym typeface="Inter"/>
            </a:endParaRPr>
          </a:p>
        </p:txBody>
      </p:sp>
      <p:cxnSp>
        <p:nvCxnSpPr>
          <p:cNvPr id="459" name="Google Shape;459;p16"/>
          <p:cNvCxnSpPr/>
          <p:nvPr/>
        </p:nvCxnSpPr>
        <p:spPr>
          <a:xfrm>
            <a:off x="1066800" y="3639344"/>
            <a:ext cx="4667250" cy="0"/>
          </a:xfrm>
          <a:prstGeom prst="straightConnector1">
            <a:avLst/>
          </a:prstGeom>
          <a:noFill/>
          <a:ln cap="flat" cmpd="sng" w="9525">
            <a:solidFill>
              <a:srgbClr val="34496B"/>
            </a:solidFill>
            <a:prstDash val="solid"/>
            <a:round/>
            <a:headEnd len="sm" w="sm" type="none"/>
            <a:tailEnd len="sm" w="sm" type="none"/>
          </a:ln>
        </p:spPr>
      </p:cxnSp>
      <p:sp>
        <p:nvSpPr>
          <p:cNvPr id="460" name="Google Shape;460;p16"/>
          <p:cNvSpPr/>
          <p:nvPr/>
        </p:nvSpPr>
        <p:spPr>
          <a:xfrm>
            <a:off x="1066800" y="3349526"/>
            <a:ext cx="1798201" cy="248543"/>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300"/>
              <a:buFont typeface="Inter"/>
              <a:buNone/>
            </a:pPr>
            <a:r>
              <a:rPr lang="en-US" sz="1300">
                <a:solidFill>
                  <a:srgbClr val="F4F5F9"/>
                </a:solidFill>
                <a:latin typeface="Inter"/>
                <a:ea typeface="Inter"/>
                <a:cs typeface="Inter"/>
                <a:sym typeface="Inter"/>
              </a:rPr>
              <a:t>Equipo (360 horas)</a:t>
            </a:r>
            <a:endParaRPr sz="1300">
              <a:solidFill>
                <a:schemeClr val="dk1"/>
              </a:solidFill>
              <a:latin typeface="Inter"/>
              <a:ea typeface="Inter"/>
              <a:cs typeface="Inter"/>
              <a:sym typeface="Inter"/>
            </a:endParaRPr>
          </a:p>
        </p:txBody>
      </p:sp>
      <p:sp>
        <p:nvSpPr>
          <p:cNvPr id="461" name="Google Shape;461;p16"/>
          <p:cNvSpPr/>
          <p:nvPr/>
        </p:nvSpPr>
        <p:spPr>
          <a:xfrm>
            <a:off x="4686895" y="3349526"/>
            <a:ext cx="1047155" cy="248543"/>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F4F5F9"/>
              </a:buClr>
              <a:buSzPts val="1300"/>
              <a:buFont typeface="Inter"/>
              <a:buNone/>
            </a:pPr>
            <a:r>
              <a:rPr b="1" lang="en-US" sz="1300">
                <a:solidFill>
                  <a:srgbClr val="F4F5F9"/>
                </a:solidFill>
                <a:latin typeface="Inter"/>
                <a:ea typeface="Inter"/>
                <a:cs typeface="Inter"/>
                <a:sym typeface="Inter"/>
              </a:rPr>
              <a:t>USD 9.900</a:t>
            </a:r>
            <a:endParaRPr sz="1300">
              <a:solidFill>
                <a:schemeClr val="dk1"/>
              </a:solidFill>
              <a:latin typeface="Inter"/>
              <a:ea typeface="Inter"/>
              <a:cs typeface="Inter"/>
              <a:sym typeface="Inter"/>
            </a:endParaRPr>
          </a:p>
        </p:txBody>
      </p:sp>
      <p:cxnSp>
        <p:nvCxnSpPr>
          <p:cNvPr id="462" name="Google Shape;462;p16"/>
          <p:cNvCxnSpPr/>
          <p:nvPr/>
        </p:nvCxnSpPr>
        <p:spPr>
          <a:xfrm>
            <a:off x="1066800" y="3995837"/>
            <a:ext cx="4667250" cy="0"/>
          </a:xfrm>
          <a:prstGeom prst="straightConnector1">
            <a:avLst/>
          </a:prstGeom>
          <a:noFill/>
          <a:ln cap="flat" cmpd="sng" w="9525">
            <a:solidFill>
              <a:srgbClr val="34496B"/>
            </a:solidFill>
            <a:prstDash val="solid"/>
            <a:round/>
            <a:headEnd len="sm" w="sm" type="none"/>
            <a:tailEnd len="sm" w="sm" type="none"/>
          </a:ln>
        </p:spPr>
      </p:cxnSp>
      <p:sp>
        <p:nvSpPr>
          <p:cNvPr id="463" name="Google Shape;463;p16"/>
          <p:cNvSpPr/>
          <p:nvPr/>
        </p:nvSpPr>
        <p:spPr>
          <a:xfrm>
            <a:off x="1066800" y="3706019"/>
            <a:ext cx="2128480" cy="248543"/>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300"/>
              <a:buFont typeface="Inter"/>
              <a:buNone/>
            </a:pPr>
            <a:r>
              <a:rPr lang="en-US" sz="1300">
                <a:solidFill>
                  <a:srgbClr val="F4F5F9"/>
                </a:solidFill>
                <a:latin typeface="Inter"/>
                <a:ea typeface="Inter"/>
                <a:cs typeface="Inter"/>
                <a:sym typeface="Inter"/>
              </a:rPr>
              <a:t>Alojamiento en la nube</a:t>
            </a:r>
            <a:endParaRPr sz="1300">
              <a:solidFill>
                <a:schemeClr val="dk1"/>
              </a:solidFill>
              <a:latin typeface="Inter"/>
              <a:ea typeface="Inter"/>
              <a:cs typeface="Inter"/>
              <a:sym typeface="Inter"/>
            </a:endParaRPr>
          </a:p>
        </p:txBody>
      </p:sp>
      <p:sp>
        <p:nvSpPr>
          <p:cNvPr id="464" name="Google Shape;464;p16"/>
          <p:cNvSpPr/>
          <p:nvPr/>
        </p:nvSpPr>
        <p:spPr>
          <a:xfrm>
            <a:off x="4916686" y="3706019"/>
            <a:ext cx="817364" cy="248543"/>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F4F5F9"/>
              </a:buClr>
              <a:buSzPts val="1300"/>
              <a:buFont typeface="Inter"/>
              <a:buNone/>
            </a:pPr>
            <a:r>
              <a:rPr b="1" lang="en-US" sz="1300">
                <a:solidFill>
                  <a:srgbClr val="F4F5F9"/>
                </a:solidFill>
                <a:latin typeface="Inter"/>
                <a:ea typeface="Inter"/>
                <a:cs typeface="Inter"/>
                <a:sym typeface="Inter"/>
              </a:rPr>
              <a:t>USD 100</a:t>
            </a:r>
            <a:endParaRPr sz="1300">
              <a:solidFill>
                <a:schemeClr val="dk1"/>
              </a:solidFill>
              <a:latin typeface="Inter"/>
              <a:ea typeface="Inter"/>
              <a:cs typeface="Inter"/>
              <a:sym typeface="Inter"/>
            </a:endParaRPr>
          </a:p>
        </p:txBody>
      </p:sp>
      <p:sp>
        <p:nvSpPr>
          <p:cNvPr id="465" name="Google Shape;465;p16"/>
          <p:cNvSpPr/>
          <p:nvPr/>
        </p:nvSpPr>
        <p:spPr>
          <a:xfrm>
            <a:off x="1066800" y="4062512"/>
            <a:ext cx="2089071" cy="248543"/>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300"/>
              <a:buFont typeface="Inter"/>
              <a:buNone/>
            </a:pPr>
            <a:r>
              <a:rPr lang="en-US" sz="1300">
                <a:solidFill>
                  <a:srgbClr val="F4F5F9"/>
                </a:solidFill>
                <a:latin typeface="Inter"/>
                <a:ea typeface="Inter"/>
                <a:cs typeface="Inter"/>
                <a:sym typeface="Inter"/>
              </a:rPr>
              <a:t>Contingencia del 10 %</a:t>
            </a:r>
            <a:endParaRPr sz="1300">
              <a:solidFill>
                <a:schemeClr val="dk1"/>
              </a:solidFill>
              <a:latin typeface="Inter"/>
              <a:ea typeface="Inter"/>
              <a:cs typeface="Inter"/>
              <a:sym typeface="Inter"/>
            </a:endParaRPr>
          </a:p>
        </p:txBody>
      </p:sp>
      <p:sp>
        <p:nvSpPr>
          <p:cNvPr id="466" name="Google Shape;466;p16"/>
          <p:cNvSpPr/>
          <p:nvPr/>
        </p:nvSpPr>
        <p:spPr>
          <a:xfrm>
            <a:off x="4722614" y="4062512"/>
            <a:ext cx="1011436" cy="248543"/>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F4F5F9"/>
              </a:buClr>
              <a:buSzPts val="1300"/>
              <a:buFont typeface="Inter"/>
              <a:buNone/>
            </a:pPr>
            <a:r>
              <a:rPr b="1" lang="en-US" sz="1300">
                <a:solidFill>
                  <a:srgbClr val="F4F5F9"/>
                </a:solidFill>
                <a:latin typeface="Inter"/>
                <a:ea typeface="Inter"/>
                <a:cs typeface="Inter"/>
                <a:sym typeface="Inter"/>
              </a:rPr>
              <a:t>USD 1.000</a:t>
            </a:r>
            <a:endParaRPr sz="1300">
              <a:solidFill>
                <a:schemeClr val="dk1"/>
              </a:solidFill>
              <a:latin typeface="Inter"/>
              <a:ea typeface="Inter"/>
              <a:cs typeface="Inter"/>
              <a:sym typeface="Inter"/>
            </a:endParaRPr>
          </a:p>
        </p:txBody>
      </p:sp>
      <p:sp>
        <p:nvSpPr>
          <p:cNvPr id="467" name="Google Shape;467;p16"/>
          <p:cNvSpPr/>
          <p:nvPr/>
        </p:nvSpPr>
        <p:spPr>
          <a:xfrm>
            <a:off x="1066800" y="4501555"/>
            <a:ext cx="4807268" cy="234057"/>
          </a:xfrm>
          <a:prstGeom prst="rect">
            <a:avLst/>
          </a:prstGeom>
          <a:noFill/>
          <a:ln>
            <a:noFill/>
          </a:ln>
        </p:spPr>
        <p:txBody>
          <a:bodyPr anchorCtr="0" anchor="t" bIns="0" lIns="0" spcFirstLastPara="1" rIns="0" wrap="square" tIns="0">
            <a:noAutofit/>
          </a:bodyPr>
          <a:lstStyle/>
          <a:p>
            <a:pPr indent="0" lvl="0" marL="0" rtl="0" algn="l">
              <a:lnSpc>
                <a:spcPct val="140050"/>
              </a:lnSpc>
              <a:spcBef>
                <a:spcPts val="0"/>
              </a:spcBef>
              <a:spcAft>
                <a:spcPts val="0"/>
              </a:spcAft>
              <a:buClr>
                <a:schemeClr val="accent3"/>
              </a:buClr>
              <a:buSzPts val="1196"/>
              <a:buFont typeface="Inter"/>
              <a:buNone/>
            </a:pPr>
            <a:r>
              <a:rPr b="1" lang="en-US" sz="1196">
                <a:solidFill>
                  <a:schemeClr val="accent3"/>
                </a:solidFill>
                <a:latin typeface="Inter"/>
                <a:ea typeface="Inter"/>
                <a:cs typeface="Inter"/>
                <a:sym typeface="Inter"/>
              </a:rPr>
              <a:t>SE FACTURA AL CUMPLIR LOS HITOS</a:t>
            </a:r>
            <a:endParaRPr sz="1196">
              <a:solidFill>
                <a:schemeClr val="dk1"/>
              </a:solidFill>
              <a:latin typeface="Inter"/>
              <a:ea typeface="Inter"/>
              <a:cs typeface="Inter"/>
              <a:sym typeface="Inter"/>
            </a:endParaRPr>
          </a:p>
        </p:txBody>
      </p:sp>
      <p:sp>
        <p:nvSpPr>
          <p:cNvPr id="468" name="Google Shape;468;p16"/>
          <p:cNvSpPr/>
          <p:nvPr/>
        </p:nvSpPr>
        <p:spPr>
          <a:xfrm>
            <a:off x="1066800" y="4786412"/>
            <a:ext cx="461665" cy="308074"/>
          </a:xfrm>
          <a:prstGeom prst="roundRect">
            <a:avLst>
              <a:gd fmla="val 12367" name="adj"/>
            </a:avLst>
          </a:prstGeom>
          <a:solidFill>
            <a:srgbClr val="B9C4D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469" name="Google Shape;469;p16"/>
          <p:cNvSpPr/>
          <p:nvPr/>
        </p:nvSpPr>
        <p:spPr>
          <a:xfrm>
            <a:off x="1041400" y="4837212"/>
            <a:ext cx="512465" cy="231874"/>
          </a:xfrm>
          <a:prstGeom prst="rect">
            <a:avLst/>
          </a:prstGeom>
          <a:noFill/>
          <a:ln>
            <a:noFill/>
          </a:ln>
        </p:spPr>
        <p:txBody>
          <a:bodyPr anchorCtr="0" anchor="t" bIns="0" lIns="0" spcFirstLastPara="1" rIns="0" wrap="square" tIns="0">
            <a:noAutofit/>
          </a:bodyPr>
          <a:lstStyle/>
          <a:p>
            <a:pPr indent="0" lvl="0" marL="0" marR="0" rtl="0" algn="ctr">
              <a:lnSpc>
                <a:spcPct val="140050"/>
              </a:lnSpc>
              <a:spcBef>
                <a:spcPts val="0"/>
              </a:spcBef>
              <a:spcAft>
                <a:spcPts val="0"/>
              </a:spcAft>
              <a:buClr>
                <a:srgbClr val="0F2743"/>
              </a:buClr>
              <a:buSzPts val="1196"/>
              <a:buFont typeface="Inter"/>
              <a:buNone/>
            </a:pPr>
            <a:r>
              <a:rPr b="1" lang="en-US" sz="1196">
                <a:solidFill>
                  <a:srgbClr val="0F2743"/>
                </a:solidFill>
                <a:latin typeface="Inter"/>
                <a:ea typeface="Inter"/>
                <a:cs typeface="Inter"/>
                <a:sym typeface="Inter"/>
              </a:rPr>
              <a:t>10 %</a:t>
            </a:r>
            <a:endParaRPr sz="1196">
              <a:solidFill>
                <a:schemeClr val="dk1"/>
              </a:solidFill>
              <a:latin typeface="Inter"/>
              <a:ea typeface="Inter"/>
              <a:cs typeface="Inter"/>
              <a:sym typeface="Inter"/>
            </a:endParaRPr>
          </a:p>
        </p:txBody>
      </p:sp>
      <p:sp>
        <p:nvSpPr>
          <p:cNvPr id="470" name="Google Shape;470;p16"/>
          <p:cNvSpPr/>
          <p:nvPr/>
        </p:nvSpPr>
        <p:spPr>
          <a:xfrm>
            <a:off x="1553865" y="4786412"/>
            <a:ext cx="2769890" cy="308074"/>
          </a:xfrm>
          <a:prstGeom prst="roundRect">
            <a:avLst>
              <a:gd fmla="val 12367"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471" name="Google Shape;471;p16"/>
          <p:cNvSpPr/>
          <p:nvPr/>
        </p:nvSpPr>
        <p:spPr>
          <a:xfrm>
            <a:off x="1512316" y="4837212"/>
            <a:ext cx="2852987" cy="231874"/>
          </a:xfrm>
          <a:prstGeom prst="rect">
            <a:avLst/>
          </a:prstGeom>
          <a:noFill/>
          <a:ln>
            <a:noFill/>
          </a:ln>
        </p:spPr>
        <p:txBody>
          <a:bodyPr anchorCtr="0" anchor="t" bIns="0" lIns="0" spcFirstLastPara="1" rIns="0" wrap="square" tIns="0">
            <a:noAutofit/>
          </a:bodyPr>
          <a:lstStyle/>
          <a:p>
            <a:pPr indent="0" lvl="0" marL="0" marR="0" rtl="0" algn="ctr">
              <a:lnSpc>
                <a:spcPct val="140050"/>
              </a:lnSpc>
              <a:spcBef>
                <a:spcPts val="0"/>
              </a:spcBef>
              <a:spcAft>
                <a:spcPts val="0"/>
              </a:spcAft>
              <a:buClr>
                <a:srgbClr val="0F2743"/>
              </a:buClr>
              <a:buSzPts val="1196"/>
              <a:buFont typeface="Inter"/>
              <a:buNone/>
            </a:pPr>
            <a:r>
              <a:rPr b="1" lang="en-US" sz="1196">
                <a:solidFill>
                  <a:srgbClr val="0F2743"/>
                </a:solidFill>
                <a:latin typeface="Inter"/>
                <a:ea typeface="Inter"/>
                <a:cs typeface="Inter"/>
                <a:sym typeface="Inter"/>
              </a:rPr>
              <a:t>60 %</a:t>
            </a:r>
            <a:endParaRPr sz="1196">
              <a:solidFill>
                <a:schemeClr val="dk1"/>
              </a:solidFill>
              <a:latin typeface="Inter"/>
              <a:ea typeface="Inter"/>
              <a:cs typeface="Inter"/>
              <a:sym typeface="Inter"/>
            </a:endParaRPr>
          </a:p>
        </p:txBody>
      </p:sp>
      <p:sp>
        <p:nvSpPr>
          <p:cNvPr id="472" name="Google Shape;472;p16"/>
          <p:cNvSpPr/>
          <p:nvPr/>
        </p:nvSpPr>
        <p:spPr>
          <a:xfrm>
            <a:off x="4349155" y="4786412"/>
            <a:ext cx="1384895" cy="308074"/>
          </a:xfrm>
          <a:prstGeom prst="roundRect">
            <a:avLst>
              <a:gd fmla="val 12367" name="adj"/>
            </a:avLst>
          </a:prstGeom>
          <a:solidFill>
            <a:srgbClr val="F4F5F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473" name="Google Shape;473;p16"/>
          <p:cNvSpPr/>
          <p:nvPr/>
        </p:nvSpPr>
        <p:spPr>
          <a:xfrm>
            <a:off x="4323755" y="4837212"/>
            <a:ext cx="1435695" cy="231874"/>
          </a:xfrm>
          <a:prstGeom prst="rect">
            <a:avLst/>
          </a:prstGeom>
          <a:noFill/>
          <a:ln>
            <a:noFill/>
          </a:ln>
        </p:spPr>
        <p:txBody>
          <a:bodyPr anchorCtr="0" anchor="t" bIns="0" lIns="0" spcFirstLastPara="1" rIns="0" wrap="square" tIns="0">
            <a:noAutofit/>
          </a:bodyPr>
          <a:lstStyle/>
          <a:p>
            <a:pPr indent="0" lvl="0" marL="0" marR="0" rtl="0" algn="ctr">
              <a:lnSpc>
                <a:spcPct val="140050"/>
              </a:lnSpc>
              <a:spcBef>
                <a:spcPts val="0"/>
              </a:spcBef>
              <a:spcAft>
                <a:spcPts val="0"/>
              </a:spcAft>
              <a:buClr>
                <a:srgbClr val="0F2743"/>
              </a:buClr>
              <a:buSzPts val="1196"/>
              <a:buFont typeface="Inter"/>
              <a:buNone/>
            </a:pPr>
            <a:r>
              <a:rPr b="1" lang="en-US" sz="1196">
                <a:solidFill>
                  <a:srgbClr val="0F2743"/>
                </a:solidFill>
                <a:latin typeface="Inter"/>
                <a:ea typeface="Inter"/>
                <a:cs typeface="Inter"/>
                <a:sym typeface="Inter"/>
              </a:rPr>
              <a:t>30 %</a:t>
            </a:r>
            <a:endParaRPr sz="1196">
              <a:solidFill>
                <a:schemeClr val="dk1"/>
              </a:solidFill>
              <a:latin typeface="Inter"/>
              <a:ea typeface="Inter"/>
              <a:cs typeface="Inter"/>
              <a:sym typeface="Inter"/>
            </a:endParaRPr>
          </a:p>
        </p:txBody>
      </p:sp>
      <p:sp>
        <p:nvSpPr>
          <p:cNvPr id="474" name="Google Shape;474;p16"/>
          <p:cNvSpPr/>
          <p:nvPr/>
        </p:nvSpPr>
        <p:spPr>
          <a:xfrm>
            <a:off x="1066800" y="5170686"/>
            <a:ext cx="4807268" cy="442714"/>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chemeClr val="accent3"/>
              </a:buClr>
              <a:buSzPts val="1185"/>
              <a:buFont typeface="Inter"/>
              <a:buNone/>
            </a:pPr>
            <a:r>
              <a:rPr lang="en-US" sz="1185">
                <a:solidFill>
                  <a:schemeClr val="accent3"/>
                </a:solidFill>
                <a:latin typeface="Inter"/>
                <a:ea typeface="Inter"/>
                <a:cs typeface="Inter"/>
                <a:sym typeface="Inter"/>
              </a:rPr>
              <a:t>10 % con las reglas validadas (H1) · 60 % con la ingesta operativa (H2) · 30 % con el tablero validado (H4)</a:t>
            </a:r>
            <a:endParaRPr sz="1185">
              <a:solidFill>
                <a:schemeClr val="dk1"/>
              </a:solidFill>
              <a:latin typeface="Inter"/>
              <a:ea typeface="Inter"/>
              <a:cs typeface="Inter"/>
              <a:sym typeface="Inter"/>
            </a:endParaRPr>
          </a:p>
        </p:txBody>
      </p:sp>
      <p:sp>
        <p:nvSpPr>
          <p:cNvPr id="475" name="Google Shape;475;p16"/>
          <p:cNvSpPr/>
          <p:nvPr/>
        </p:nvSpPr>
        <p:spPr>
          <a:xfrm>
            <a:off x="6194425" y="1766491"/>
            <a:ext cx="5181600" cy="4072334"/>
          </a:xfrm>
          <a:prstGeom prst="roundRect">
            <a:avLst>
              <a:gd fmla="val 1793"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476" name="Google Shape;476;p16"/>
          <p:cNvSpPr/>
          <p:nvPr/>
        </p:nvSpPr>
        <p:spPr>
          <a:xfrm>
            <a:off x="6451600" y="2023666"/>
            <a:ext cx="480726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SI PASAN A PRODUCCIÓN (OPCIONAL)</a:t>
            </a:r>
            <a:endParaRPr sz="1200">
              <a:solidFill>
                <a:schemeClr val="dk1"/>
              </a:solidFill>
              <a:latin typeface="Inter"/>
              <a:ea typeface="Inter"/>
              <a:cs typeface="Inter"/>
              <a:sym typeface="Inter"/>
            </a:endParaRPr>
          </a:p>
        </p:txBody>
      </p:sp>
      <p:sp>
        <p:nvSpPr>
          <p:cNvPr id="477" name="Google Shape;477;p16"/>
          <p:cNvSpPr/>
          <p:nvPr/>
        </p:nvSpPr>
        <p:spPr>
          <a:xfrm>
            <a:off x="6451600" y="2313186"/>
            <a:ext cx="4807268" cy="584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743"/>
              </a:buClr>
              <a:buSzPts val="4000"/>
              <a:buFont typeface="Inter"/>
              <a:buNone/>
            </a:pPr>
            <a:r>
              <a:rPr b="1" lang="en-US" sz="4000">
                <a:solidFill>
                  <a:srgbClr val="0F2743"/>
                </a:solidFill>
                <a:latin typeface="Inter"/>
                <a:ea typeface="Inter"/>
                <a:cs typeface="Inter"/>
                <a:sym typeface="Inter"/>
              </a:rPr>
              <a:t>USD 860</a:t>
            </a:r>
            <a:r>
              <a:rPr b="1" lang="en-US" sz="4000">
                <a:solidFill>
                  <a:srgbClr val="4A5568"/>
                </a:solidFill>
                <a:latin typeface="Inter"/>
                <a:ea typeface="Inter"/>
                <a:cs typeface="Inter"/>
                <a:sym typeface="Inter"/>
              </a:rPr>
              <a:t>/mes</a:t>
            </a:r>
            <a:endParaRPr sz="4000">
              <a:solidFill>
                <a:schemeClr val="dk1"/>
              </a:solidFill>
              <a:latin typeface="Inter"/>
              <a:ea typeface="Inter"/>
              <a:cs typeface="Inter"/>
              <a:sym typeface="Inter"/>
            </a:endParaRPr>
          </a:p>
        </p:txBody>
      </p:sp>
      <p:sp>
        <p:nvSpPr>
          <p:cNvPr id="478" name="Google Shape;478;p16"/>
          <p:cNvSpPr/>
          <p:nvPr/>
        </p:nvSpPr>
        <p:spPr>
          <a:xfrm>
            <a:off x="6451600" y="2948186"/>
            <a:ext cx="4807268"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 USD 10.320 por año, para unos 7 millones de registros.</a:t>
            </a:r>
            <a:endParaRPr sz="1200">
              <a:solidFill>
                <a:schemeClr val="dk1"/>
              </a:solidFill>
              <a:latin typeface="Inter"/>
              <a:ea typeface="Inter"/>
              <a:cs typeface="Inter"/>
              <a:sym typeface="Inter"/>
            </a:endParaRPr>
          </a:p>
        </p:txBody>
      </p:sp>
      <p:cxnSp>
        <p:nvCxnSpPr>
          <p:cNvPr id="479" name="Google Shape;479;p16"/>
          <p:cNvCxnSpPr/>
          <p:nvPr/>
        </p:nvCxnSpPr>
        <p:spPr>
          <a:xfrm>
            <a:off x="6451600" y="3675162"/>
            <a:ext cx="4667250" cy="0"/>
          </a:xfrm>
          <a:prstGeom prst="straightConnector1">
            <a:avLst/>
          </a:prstGeom>
          <a:noFill/>
          <a:ln cap="flat" cmpd="sng" w="9525">
            <a:solidFill>
              <a:srgbClr val="E3E7EE"/>
            </a:solidFill>
            <a:prstDash val="solid"/>
            <a:round/>
            <a:headEnd len="sm" w="sm" type="none"/>
            <a:tailEnd len="sm" w="sm" type="none"/>
          </a:ln>
        </p:spPr>
      </p:cxnSp>
      <p:sp>
        <p:nvSpPr>
          <p:cNvPr id="480" name="Google Shape;480;p16"/>
          <p:cNvSpPr/>
          <p:nvPr/>
        </p:nvSpPr>
        <p:spPr>
          <a:xfrm>
            <a:off x="6451600" y="3377406"/>
            <a:ext cx="3063597"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300"/>
              <a:buFont typeface="Inter"/>
              <a:buNone/>
            </a:pPr>
            <a:r>
              <a:rPr lang="en-US" sz="1300">
                <a:solidFill>
                  <a:srgbClr val="0F2743"/>
                </a:solidFill>
                <a:latin typeface="Inter"/>
                <a:ea typeface="Inter"/>
                <a:cs typeface="Inter"/>
                <a:sym typeface="Inter"/>
              </a:rPr>
              <a:t>Soporte y ajuste de reglas (20 h)</a:t>
            </a:r>
            <a:endParaRPr sz="1300">
              <a:solidFill>
                <a:schemeClr val="dk1"/>
              </a:solidFill>
              <a:latin typeface="Inter"/>
              <a:ea typeface="Inter"/>
              <a:cs typeface="Inter"/>
              <a:sym typeface="Inter"/>
            </a:endParaRPr>
          </a:p>
        </p:txBody>
      </p:sp>
      <p:sp>
        <p:nvSpPr>
          <p:cNvPr id="481" name="Google Shape;481;p16"/>
          <p:cNvSpPr/>
          <p:nvPr/>
        </p:nvSpPr>
        <p:spPr>
          <a:xfrm>
            <a:off x="10049165" y="3377406"/>
            <a:ext cx="1069686" cy="25648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0F2743"/>
              </a:buClr>
              <a:buSzPts val="1300"/>
              <a:buFont typeface="Inter"/>
              <a:buNone/>
            </a:pPr>
            <a:r>
              <a:rPr b="1" lang="en-US" sz="1300">
                <a:solidFill>
                  <a:srgbClr val="0F2743"/>
                </a:solidFill>
                <a:latin typeface="Inter"/>
                <a:ea typeface="Inter"/>
                <a:cs typeface="Inter"/>
                <a:sym typeface="Inter"/>
              </a:rPr>
              <a:t>USD 500</a:t>
            </a:r>
            <a:endParaRPr sz="1300">
              <a:solidFill>
                <a:schemeClr val="dk1"/>
              </a:solidFill>
              <a:latin typeface="Inter"/>
              <a:ea typeface="Inter"/>
              <a:cs typeface="Inter"/>
              <a:sym typeface="Inter"/>
            </a:endParaRPr>
          </a:p>
        </p:txBody>
      </p:sp>
      <p:cxnSp>
        <p:nvCxnSpPr>
          <p:cNvPr id="482" name="Google Shape;482;p16"/>
          <p:cNvCxnSpPr/>
          <p:nvPr/>
        </p:nvCxnSpPr>
        <p:spPr>
          <a:xfrm>
            <a:off x="6451600" y="4039592"/>
            <a:ext cx="4667250" cy="0"/>
          </a:xfrm>
          <a:prstGeom prst="straightConnector1">
            <a:avLst/>
          </a:prstGeom>
          <a:noFill/>
          <a:ln cap="flat" cmpd="sng" w="9525">
            <a:solidFill>
              <a:srgbClr val="E3E7EE"/>
            </a:solidFill>
            <a:prstDash val="solid"/>
            <a:round/>
            <a:headEnd len="sm" w="sm" type="none"/>
            <a:tailEnd len="sm" w="sm" type="none"/>
          </a:ln>
        </p:spPr>
      </p:cxnSp>
      <p:sp>
        <p:nvSpPr>
          <p:cNvPr id="483" name="Google Shape;483;p16"/>
          <p:cNvSpPr/>
          <p:nvPr/>
        </p:nvSpPr>
        <p:spPr>
          <a:xfrm>
            <a:off x="6451600" y="3741837"/>
            <a:ext cx="2417802"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300"/>
              <a:buFont typeface="Inter"/>
              <a:buNone/>
            </a:pPr>
            <a:r>
              <a:rPr lang="en-US" sz="1300">
                <a:solidFill>
                  <a:srgbClr val="0F2743"/>
                </a:solidFill>
                <a:latin typeface="Inter"/>
                <a:ea typeface="Inter"/>
                <a:cs typeface="Inter"/>
                <a:sym typeface="Inter"/>
              </a:rPr>
              <a:t>Base de datos gestionada</a:t>
            </a:r>
            <a:endParaRPr sz="1300">
              <a:solidFill>
                <a:schemeClr val="dk1"/>
              </a:solidFill>
              <a:latin typeface="Inter"/>
              <a:ea typeface="Inter"/>
              <a:cs typeface="Inter"/>
              <a:sym typeface="Inter"/>
            </a:endParaRPr>
          </a:p>
        </p:txBody>
      </p:sp>
      <p:sp>
        <p:nvSpPr>
          <p:cNvPr id="484" name="Google Shape;484;p16"/>
          <p:cNvSpPr/>
          <p:nvPr/>
        </p:nvSpPr>
        <p:spPr>
          <a:xfrm>
            <a:off x="9966036" y="3741837"/>
            <a:ext cx="1152815" cy="25648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None/>
            </a:pPr>
            <a:r>
              <a:rPr b="1" lang="en-US" sz="1300">
                <a:solidFill>
                  <a:srgbClr val="0F2743"/>
                </a:solidFill>
                <a:latin typeface="Inter"/>
                <a:ea typeface="Inter"/>
                <a:cs typeface="Inter"/>
                <a:sym typeface="Inter"/>
              </a:rPr>
              <a:t>USD 120</a:t>
            </a:r>
            <a:endParaRPr sz="1300">
              <a:solidFill>
                <a:schemeClr val="dk1"/>
              </a:solidFill>
              <a:latin typeface="Inter"/>
              <a:ea typeface="Inter"/>
              <a:cs typeface="Inter"/>
              <a:sym typeface="Inter"/>
            </a:endParaRPr>
          </a:p>
        </p:txBody>
      </p:sp>
      <p:cxnSp>
        <p:nvCxnSpPr>
          <p:cNvPr id="485" name="Google Shape;485;p16"/>
          <p:cNvCxnSpPr/>
          <p:nvPr/>
        </p:nvCxnSpPr>
        <p:spPr>
          <a:xfrm>
            <a:off x="6451600" y="4404023"/>
            <a:ext cx="4667250" cy="0"/>
          </a:xfrm>
          <a:prstGeom prst="straightConnector1">
            <a:avLst/>
          </a:prstGeom>
          <a:noFill/>
          <a:ln cap="flat" cmpd="sng" w="9525">
            <a:solidFill>
              <a:srgbClr val="E3E7EE"/>
            </a:solidFill>
            <a:prstDash val="solid"/>
            <a:round/>
            <a:headEnd len="sm" w="sm" type="none"/>
            <a:tailEnd len="sm" w="sm" type="none"/>
          </a:ln>
        </p:spPr>
      </p:cxnSp>
      <p:sp>
        <p:nvSpPr>
          <p:cNvPr id="486" name="Google Shape;486;p16"/>
          <p:cNvSpPr/>
          <p:nvPr/>
        </p:nvSpPr>
        <p:spPr>
          <a:xfrm>
            <a:off x="6451600" y="4106267"/>
            <a:ext cx="2890480"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300"/>
              <a:buFont typeface="Inter"/>
              <a:buNone/>
            </a:pPr>
            <a:r>
              <a:rPr lang="en-US" sz="1300">
                <a:solidFill>
                  <a:srgbClr val="0F2743"/>
                </a:solidFill>
                <a:latin typeface="Inter"/>
                <a:ea typeface="Inter"/>
                <a:cs typeface="Inter"/>
                <a:sym typeface="Inter"/>
              </a:rPr>
              <a:t>Orquestación (Apache Airflow)</a:t>
            </a:r>
            <a:endParaRPr sz="1300">
              <a:solidFill>
                <a:schemeClr val="dk1"/>
              </a:solidFill>
              <a:latin typeface="Inter"/>
              <a:ea typeface="Inter"/>
              <a:cs typeface="Inter"/>
              <a:sym typeface="Inter"/>
            </a:endParaRPr>
          </a:p>
        </p:txBody>
      </p:sp>
      <p:sp>
        <p:nvSpPr>
          <p:cNvPr id="487" name="Google Shape;487;p16"/>
          <p:cNvSpPr/>
          <p:nvPr/>
        </p:nvSpPr>
        <p:spPr>
          <a:xfrm>
            <a:off x="10049165" y="4106267"/>
            <a:ext cx="1069685" cy="25648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None/>
            </a:pPr>
            <a:r>
              <a:rPr b="1" lang="en-US" sz="1300">
                <a:solidFill>
                  <a:srgbClr val="0F2743"/>
                </a:solidFill>
                <a:latin typeface="Inter"/>
                <a:ea typeface="Inter"/>
                <a:cs typeface="Inter"/>
                <a:sym typeface="Inter"/>
              </a:rPr>
              <a:t>USD 80</a:t>
            </a:r>
            <a:endParaRPr sz="1300">
              <a:solidFill>
                <a:schemeClr val="dk1"/>
              </a:solidFill>
              <a:latin typeface="Inter"/>
              <a:ea typeface="Inter"/>
              <a:cs typeface="Inter"/>
              <a:sym typeface="Inter"/>
            </a:endParaRPr>
          </a:p>
        </p:txBody>
      </p:sp>
      <p:cxnSp>
        <p:nvCxnSpPr>
          <p:cNvPr id="488" name="Google Shape;488;p16"/>
          <p:cNvCxnSpPr/>
          <p:nvPr/>
        </p:nvCxnSpPr>
        <p:spPr>
          <a:xfrm>
            <a:off x="6451600" y="4768453"/>
            <a:ext cx="4667250" cy="0"/>
          </a:xfrm>
          <a:prstGeom prst="straightConnector1">
            <a:avLst/>
          </a:prstGeom>
          <a:noFill/>
          <a:ln cap="flat" cmpd="sng" w="9525">
            <a:solidFill>
              <a:srgbClr val="E3E7EE"/>
            </a:solidFill>
            <a:prstDash val="solid"/>
            <a:round/>
            <a:headEnd len="sm" w="sm" type="none"/>
            <a:tailEnd len="sm" w="sm" type="none"/>
          </a:ln>
        </p:spPr>
      </p:cxnSp>
      <p:sp>
        <p:nvSpPr>
          <p:cNvPr id="489" name="Google Shape;489;p16"/>
          <p:cNvSpPr/>
          <p:nvPr/>
        </p:nvSpPr>
        <p:spPr>
          <a:xfrm>
            <a:off x="6451600" y="4470698"/>
            <a:ext cx="2811780"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300"/>
              <a:buFont typeface="Inter"/>
              <a:buNone/>
            </a:pPr>
            <a:r>
              <a:rPr lang="en-US" sz="1300">
                <a:solidFill>
                  <a:srgbClr val="0F2743"/>
                </a:solidFill>
                <a:latin typeface="Inter"/>
                <a:ea typeface="Inter"/>
                <a:cs typeface="Inter"/>
                <a:sym typeface="Inter"/>
              </a:rPr>
              <a:t>Tablero (Power BI, 5 usuarios)</a:t>
            </a:r>
            <a:endParaRPr sz="1300">
              <a:solidFill>
                <a:schemeClr val="dk1"/>
              </a:solidFill>
              <a:latin typeface="Inter"/>
              <a:ea typeface="Inter"/>
              <a:cs typeface="Inter"/>
              <a:sym typeface="Inter"/>
            </a:endParaRPr>
          </a:p>
        </p:txBody>
      </p:sp>
      <p:sp>
        <p:nvSpPr>
          <p:cNvPr id="490" name="Google Shape;490;p16"/>
          <p:cNvSpPr/>
          <p:nvPr/>
        </p:nvSpPr>
        <p:spPr>
          <a:xfrm>
            <a:off x="9966036" y="4470698"/>
            <a:ext cx="1152815" cy="25648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None/>
            </a:pPr>
            <a:r>
              <a:rPr b="1" lang="en-US" sz="1300">
                <a:solidFill>
                  <a:srgbClr val="0F2743"/>
                </a:solidFill>
                <a:latin typeface="Inter"/>
                <a:ea typeface="Inter"/>
                <a:cs typeface="Inter"/>
                <a:sym typeface="Inter"/>
              </a:rPr>
              <a:t>USD 70</a:t>
            </a:r>
            <a:endParaRPr sz="1300">
              <a:solidFill>
                <a:schemeClr val="dk1"/>
              </a:solidFill>
              <a:latin typeface="Inter"/>
              <a:ea typeface="Inter"/>
              <a:cs typeface="Inter"/>
              <a:sym typeface="Inter"/>
            </a:endParaRPr>
          </a:p>
        </p:txBody>
      </p:sp>
      <p:cxnSp>
        <p:nvCxnSpPr>
          <p:cNvPr id="491" name="Google Shape;491;p16"/>
          <p:cNvCxnSpPr/>
          <p:nvPr/>
        </p:nvCxnSpPr>
        <p:spPr>
          <a:xfrm>
            <a:off x="6451600" y="5132884"/>
            <a:ext cx="4667250" cy="0"/>
          </a:xfrm>
          <a:prstGeom prst="straightConnector1">
            <a:avLst/>
          </a:prstGeom>
          <a:noFill/>
          <a:ln cap="flat" cmpd="sng" w="9525">
            <a:solidFill>
              <a:srgbClr val="E3E7EE"/>
            </a:solidFill>
            <a:prstDash val="solid"/>
            <a:round/>
            <a:headEnd len="sm" w="sm" type="none"/>
            <a:tailEnd len="sm" w="sm" type="none"/>
          </a:ln>
        </p:spPr>
      </p:cxnSp>
      <p:sp>
        <p:nvSpPr>
          <p:cNvPr id="492" name="Google Shape;492;p16"/>
          <p:cNvSpPr/>
          <p:nvPr/>
        </p:nvSpPr>
        <p:spPr>
          <a:xfrm>
            <a:off x="6451600" y="4835128"/>
            <a:ext cx="2721054"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300"/>
              <a:buFont typeface="Inter"/>
              <a:buNone/>
            </a:pPr>
            <a:r>
              <a:rPr lang="en-US" sz="1300">
                <a:solidFill>
                  <a:srgbClr val="0F2743"/>
                </a:solidFill>
                <a:latin typeface="Inter"/>
                <a:ea typeface="Inter"/>
                <a:cs typeface="Inter"/>
                <a:sym typeface="Inter"/>
              </a:rPr>
              <a:t>Procesamiento automatizado</a:t>
            </a:r>
            <a:endParaRPr sz="1300">
              <a:solidFill>
                <a:schemeClr val="dk1"/>
              </a:solidFill>
              <a:latin typeface="Inter"/>
              <a:ea typeface="Inter"/>
              <a:cs typeface="Inter"/>
              <a:sym typeface="Inter"/>
            </a:endParaRPr>
          </a:p>
        </p:txBody>
      </p:sp>
      <p:sp>
        <p:nvSpPr>
          <p:cNvPr id="493" name="Google Shape;493;p16"/>
          <p:cNvSpPr/>
          <p:nvPr/>
        </p:nvSpPr>
        <p:spPr>
          <a:xfrm>
            <a:off x="10049165" y="4835128"/>
            <a:ext cx="1069685" cy="25648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None/>
            </a:pPr>
            <a:r>
              <a:rPr b="1" lang="en-US" sz="1300">
                <a:solidFill>
                  <a:srgbClr val="0F2743"/>
                </a:solidFill>
                <a:latin typeface="Inter"/>
                <a:ea typeface="Inter"/>
                <a:cs typeface="Inter"/>
                <a:sym typeface="Inter"/>
              </a:rPr>
              <a:t>USD 60</a:t>
            </a:r>
            <a:endParaRPr sz="1300">
              <a:solidFill>
                <a:schemeClr val="dk1"/>
              </a:solidFill>
              <a:latin typeface="Inter"/>
              <a:ea typeface="Inter"/>
              <a:cs typeface="Inter"/>
              <a:sym typeface="Inter"/>
            </a:endParaRPr>
          </a:p>
        </p:txBody>
      </p:sp>
      <p:sp>
        <p:nvSpPr>
          <p:cNvPr id="494" name="Google Shape;494;p16"/>
          <p:cNvSpPr/>
          <p:nvPr/>
        </p:nvSpPr>
        <p:spPr>
          <a:xfrm>
            <a:off x="6451600" y="5199559"/>
            <a:ext cx="1806893" cy="2564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F2743"/>
              </a:buClr>
              <a:buSzPts val="1300"/>
              <a:buFont typeface="Inter"/>
              <a:buNone/>
            </a:pPr>
            <a:r>
              <a:rPr lang="en-US" sz="1300">
                <a:solidFill>
                  <a:srgbClr val="0F2743"/>
                </a:solidFill>
                <a:latin typeface="Inter"/>
                <a:ea typeface="Inter"/>
                <a:cs typeface="Inter"/>
                <a:sym typeface="Inter"/>
              </a:rPr>
              <a:t>Monitoreo y alertas</a:t>
            </a:r>
            <a:endParaRPr sz="1300">
              <a:solidFill>
                <a:schemeClr val="dk1"/>
              </a:solidFill>
              <a:latin typeface="Inter"/>
              <a:ea typeface="Inter"/>
              <a:cs typeface="Inter"/>
              <a:sym typeface="Inter"/>
            </a:endParaRPr>
          </a:p>
        </p:txBody>
      </p:sp>
      <p:sp>
        <p:nvSpPr>
          <p:cNvPr id="495" name="Google Shape;495;p16"/>
          <p:cNvSpPr/>
          <p:nvPr/>
        </p:nvSpPr>
        <p:spPr>
          <a:xfrm>
            <a:off x="10196945" y="5199559"/>
            <a:ext cx="921905" cy="25648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None/>
            </a:pPr>
            <a:r>
              <a:rPr b="1" lang="en-US" sz="1300">
                <a:solidFill>
                  <a:srgbClr val="0F2743"/>
                </a:solidFill>
                <a:latin typeface="Inter"/>
                <a:ea typeface="Inter"/>
                <a:cs typeface="Inter"/>
                <a:sym typeface="Inter"/>
              </a:rPr>
              <a:t>USD 30</a:t>
            </a:r>
            <a:endParaRPr sz="1300">
              <a:solidFill>
                <a:schemeClr val="dk1"/>
              </a:solidFill>
              <a:latin typeface="Inter"/>
              <a:ea typeface="Inter"/>
              <a:cs typeface="Inter"/>
              <a:sym typeface="Inter"/>
            </a:endParaRPr>
          </a:p>
        </p:txBody>
      </p:sp>
      <p:sp>
        <p:nvSpPr>
          <p:cNvPr id="496" name="Google Shape;496;p16"/>
          <p:cNvSpPr/>
          <p:nvPr/>
        </p:nvSpPr>
        <p:spPr>
          <a:xfrm>
            <a:off x="9093200" y="6238280"/>
            <a:ext cx="558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13</a:t>
            </a:r>
            <a:endParaRPr sz="1200">
              <a:solidFill>
                <a:schemeClr val="dk1"/>
              </a:solidFill>
              <a:latin typeface="Inter"/>
              <a:ea typeface="Inter"/>
              <a:cs typeface="Inter"/>
              <a:sym typeface="Inter"/>
            </a:endParaRPr>
          </a:p>
        </p:txBody>
      </p:sp>
      <p:pic>
        <p:nvPicPr>
          <p:cNvPr descr="Logotipo de Datum Sur" id="497" name="Google Shape;497;p16"/>
          <p:cNvPicPr preferRelativeResize="0"/>
          <p:nvPr/>
        </p:nvPicPr>
        <p:blipFill rotWithShape="1">
          <a:blip r:embed="rId3">
            <a:alphaModFix/>
          </a:blip>
          <a:srcRect b="-584" l="0" r="0" t="-584"/>
          <a:stretch/>
        </p:blipFill>
        <p:spPr>
          <a:xfrm>
            <a:off x="10617200" y="6223000"/>
            <a:ext cx="762000" cy="279400"/>
          </a:xfrm>
          <a:prstGeom prst="rect">
            <a:avLst/>
          </a:prstGeom>
          <a:noFill/>
          <a:ln>
            <a:noFill/>
          </a:ln>
        </p:spPr>
      </p:pic>
      <p:pic>
        <p:nvPicPr>
          <p:cNvPr descr="logo-uade » CEDOL" id="498" name="Google Shape;498;p16"/>
          <p:cNvPicPr preferRelativeResize="0"/>
          <p:nvPr/>
        </p:nvPicPr>
        <p:blipFill rotWithShape="1">
          <a:blip r:embed="rId4">
            <a:alphaModFix/>
          </a:blip>
          <a:srcRect b="0" l="0" r="0" t="0"/>
          <a:stretch/>
        </p:blipFill>
        <p:spPr>
          <a:xfrm>
            <a:off x="9862481" y="6160518"/>
            <a:ext cx="703920" cy="40371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E"/>
        </a:solidFill>
      </p:bgPr>
    </p:bg>
    <p:spTree>
      <p:nvGrpSpPr>
        <p:cNvPr id="503" name="Shape 503"/>
        <p:cNvGrpSpPr/>
        <p:nvPr/>
      </p:nvGrpSpPr>
      <p:grpSpPr>
        <a:xfrm>
          <a:off x="0" y="0"/>
          <a:ext cx="0" cy="0"/>
          <a:chOff x="0" y="0"/>
          <a:chExt cx="0" cy="0"/>
        </a:xfrm>
      </p:grpSpPr>
      <p:sp>
        <p:nvSpPr>
          <p:cNvPr id="504" name="Google Shape;504;p17"/>
          <p:cNvSpPr/>
          <p:nvPr/>
        </p:nvSpPr>
        <p:spPr>
          <a:xfrm>
            <a:off x="847825" y="4558231"/>
            <a:ext cx="10566300" cy="1057500"/>
          </a:xfrm>
          <a:prstGeom prst="roundRect">
            <a:avLst>
              <a:gd fmla="val 2980"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505" name="Google Shape;505;p17"/>
          <p:cNvSpPr/>
          <p:nvPr/>
        </p:nvSpPr>
        <p:spPr>
          <a:xfrm>
            <a:off x="812800" y="798810"/>
            <a:ext cx="304800" cy="38100"/>
          </a:xfrm>
          <a:prstGeom prst="roundRect">
            <a:avLst>
              <a:gd fmla="val 5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506" name="Google Shape;506;p17"/>
          <p:cNvSpPr/>
          <p:nvPr/>
        </p:nvSpPr>
        <p:spPr>
          <a:xfrm>
            <a:off x="1219200" y="711200"/>
            <a:ext cx="135981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EVOLUCIÓN</a:t>
            </a:r>
            <a:endParaRPr sz="1200">
              <a:solidFill>
                <a:schemeClr val="dk1"/>
              </a:solidFill>
              <a:latin typeface="Inter"/>
              <a:ea typeface="Inter"/>
              <a:cs typeface="Inter"/>
              <a:sym typeface="Inter"/>
            </a:endParaRPr>
          </a:p>
        </p:txBody>
      </p:sp>
      <p:sp>
        <p:nvSpPr>
          <p:cNvPr id="507" name="Google Shape;507;p17"/>
          <p:cNvSpPr txBox="1"/>
          <p:nvPr>
            <p:ph type="title"/>
          </p:nvPr>
        </p:nvSpPr>
        <p:spPr>
          <a:xfrm>
            <a:off x="812800" y="1103084"/>
            <a:ext cx="10883400" cy="444600"/>
          </a:xfrm>
          <a:prstGeom prst="rect">
            <a:avLst/>
          </a:prstGeom>
          <a:noFill/>
          <a:ln>
            <a:noFill/>
          </a:ln>
        </p:spPr>
        <p:txBody>
          <a:bodyPr anchorCtr="0" anchor="t" bIns="0" lIns="0" spcFirstLastPara="1" rIns="0" wrap="square" tIns="0">
            <a:normAutofit fontScale="90000"/>
          </a:bodyPr>
          <a:lstStyle/>
          <a:p>
            <a:pPr indent="0" lvl="0" marL="0" rtl="0" algn="l">
              <a:lnSpc>
                <a:spcPct val="110000"/>
              </a:lnSpc>
              <a:spcBef>
                <a:spcPts val="0"/>
              </a:spcBef>
              <a:spcAft>
                <a:spcPts val="0"/>
              </a:spcAft>
              <a:buClr>
                <a:srgbClr val="0F2743"/>
              </a:buClr>
              <a:buSzPct val="100000"/>
              <a:buFont typeface="Inter"/>
              <a:buNone/>
            </a:pPr>
            <a:r>
              <a:rPr b="1" i="0" lang="en-US" sz="3000">
                <a:solidFill>
                  <a:srgbClr val="0F2743"/>
                </a:solidFill>
                <a:latin typeface="Inter"/>
                <a:ea typeface="Inter"/>
                <a:cs typeface="Inter"/>
                <a:sym typeface="Inter"/>
              </a:rPr>
              <a:t>Empezar acotado y crecer con lo que aprendamos</a:t>
            </a:r>
            <a:endParaRPr sz="3000"/>
          </a:p>
        </p:txBody>
      </p:sp>
      <p:sp>
        <p:nvSpPr>
          <p:cNvPr id="508" name="Google Shape;508;p17"/>
          <p:cNvSpPr/>
          <p:nvPr/>
        </p:nvSpPr>
        <p:spPr>
          <a:xfrm>
            <a:off x="814425" y="1860497"/>
            <a:ext cx="3208800" cy="2275500"/>
          </a:xfrm>
          <a:prstGeom prst="roundRect">
            <a:avLst>
              <a:gd fmla="val 3426" name="adj"/>
            </a:avLst>
          </a:prstGeom>
          <a:solidFill>
            <a:srgbClr val="0F27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509" name="Google Shape;509;p17"/>
          <p:cNvSpPr/>
          <p:nvPr/>
        </p:nvSpPr>
        <p:spPr>
          <a:xfrm>
            <a:off x="1043025" y="2089092"/>
            <a:ext cx="28341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2B"/>
              </a:buClr>
              <a:buSzPts val="1200"/>
              <a:buFont typeface="Inter"/>
              <a:buNone/>
            </a:pPr>
            <a:r>
              <a:rPr b="1" lang="en-US" sz="1200">
                <a:solidFill>
                  <a:srgbClr val="E3A82B"/>
                </a:solidFill>
                <a:latin typeface="Inter"/>
                <a:ea typeface="Inter"/>
                <a:cs typeface="Inter"/>
                <a:sym typeface="Inter"/>
              </a:rPr>
              <a:t>1 · ESTA PROPUESTA</a:t>
            </a:r>
            <a:endParaRPr sz="1200">
              <a:solidFill>
                <a:schemeClr val="dk1"/>
              </a:solidFill>
              <a:latin typeface="Inter"/>
              <a:ea typeface="Inter"/>
              <a:cs typeface="Inter"/>
              <a:sym typeface="Inter"/>
            </a:endParaRPr>
          </a:p>
        </p:txBody>
      </p:sp>
      <p:sp>
        <p:nvSpPr>
          <p:cNvPr id="510" name="Google Shape;510;p17"/>
          <p:cNvSpPr/>
          <p:nvPr/>
        </p:nvSpPr>
        <p:spPr>
          <a:xfrm>
            <a:off x="1043025" y="2378613"/>
            <a:ext cx="28341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4F5F9"/>
              </a:buClr>
              <a:buSzPts val="1800"/>
              <a:buFont typeface="Inter"/>
              <a:buNone/>
            </a:pPr>
            <a:r>
              <a:rPr b="1" lang="en-US" sz="1800">
                <a:solidFill>
                  <a:srgbClr val="F4F5F9"/>
                </a:solidFill>
                <a:latin typeface="Inter"/>
                <a:ea typeface="Inter"/>
                <a:cs typeface="Inter"/>
                <a:sym typeface="Inter"/>
              </a:rPr>
              <a:t>MVP</a:t>
            </a:r>
            <a:endParaRPr sz="1800">
              <a:solidFill>
                <a:schemeClr val="dk1"/>
              </a:solidFill>
              <a:latin typeface="Inter"/>
              <a:ea typeface="Inter"/>
              <a:cs typeface="Inter"/>
              <a:sym typeface="Inter"/>
            </a:endParaRPr>
          </a:p>
        </p:txBody>
      </p:sp>
      <p:sp>
        <p:nvSpPr>
          <p:cNvPr id="511" name="Google Shape;511;p17"/>
          <p:cNvSpPr/>
          <p:nvPr/>
        </p:nvSpPr>
        <p:spPr>
          <a:xfrm>
            <a:off x="1141075" y="2729047"/>
            <a:ext cx="2728500" cy="1294800"/>
          </a:xfrm>
          <a:prstGeom prst="rect">
            <a:avLst/>
          </a:prstGeom>
          <a:noFill/>
          <a:ln>
            <a:noFill/>
          </a:ln>
        </p:spPr>
        <p:txBody>
          <a:bodyPr anchorCtr="0" anchor="t" bIns="0" lIns="0" spcFirstLastPara="1" rIns="0" wrap="square" tIns="0">
            <a:noAutofit/>
          </a:bodyPr>
          <a:lstStyle/>
          <a:p>
            <a:pPr indent="-155956" lvl="0" marL="155956" marR="0" rtl="0" algn="l">
              <a:lnSpc>
                <a:spcPct val="135000"/>
              </a:lnSpc>
              <a:spcBef>
                <a:spcPts val="0"/>
              </a:spcBef>
              <a:spcAft>
                <a:spcPts val="0"/>
              </a:spcAft>
              <a:buClr>
                <a:srgbClr val="F4F5F9"/>
              </a:buClr>
              <a:buSzPts val="1300"/>
              <a:buFont typeface="Inter"/>
              <a:buChar char="•"/>
            </a:pPr>
            <a:r>
              <a:rPr lang="en-US" sz="1300">
                <a:solidFill>
                  <a:srgbClr val="F4F5F9"/>
                </a:solidFill>
                <a:latin typeface="Inter"/>
                <a:ea typeface="Inter"/>
                <a:cs typeface="Inter"/>
                <a:sym typeface="Inter"/>
              </a:rPr>
              <a:t>Circuito completo con sensores simulados</a:t>
            </a:r>
            <a:endParaRPr sz="1300">
              <a:solidFill>
                <a:schemeClr val="dk1"/>
              </a:solidFill>
              <a:latin typeface="Inter"/>
              <a:ea typeface="Inter"/>
              <a:cs typeface="Inter"/>
              <a:sym typeface="Inter"/>
            </a:endParaRPr>
          </a:p>
          <a:p>
            <a:pPr indent="-155956" lvl="0" marL="155956" marR="0" rtl="0" algn="l">
              <a:lnSpc>
                <a:spcPct val="135000"/>
              </a:lnSpc>
              <a:spcBef>
                <a:spcPts val="0"/>
              </a:spcBef>
              <a:spcAft>
                <a:spcPts val="0"/>
              </a:spcAft>
              <a:buClr>
                <a:srgbClr val="F4F5F9"/>
              </a:buClr>
              <a:buSzPts val="1300"/>
              <a:buFont typeface="Inter"/>
              <a:buChar char="•"/>
            </a:pPr>
            <a:r>
              <a:rPr lang="en-US" sz="1300">
                <a:solidFill>
                  <a:srgbClr val="F4F5F9"/>
                </a:solidFill>
                <a:latin typeface="Inter"/>
                <a:ea typeface="Inter"/>
                <a:cs typeface="Inter"/>
                <a:sym typeface="Inter"/>
              </a:rPr>
              <a:t>12 reglas e Índice de Calidad</a:t>
            </a:r>
            <a:endParaRPr sz="1300">
              <a:solidFill>
                <a:schemeClr val="dk1"/>
              </a:solidFill>
              <a:latin typeface="Inter"/>
              <a:ea typeface="Inter"/>
              <a:cs typeface="Inter"/>
              <a:sym typeface="Inter"/>
            </a:endParaRPr>
          </a:p>
          <a:p>
            <a:pPr indent="-155956" lvl="0" marL="155956" marR="0" rtl="0" algn="l">
              <a:lnSpc>
                <a:spcPct val="135000"/>
              </a:lnSpc>
              <a:spcBef>
                <a:spcPts val="0"/>
              </a:spcBef>
              <a:spcAft>
                <a:spcPts val="0"/>
              </a:spcAft>
              <a:buClr>
                <a:srgbClr val="F4F5F9"/>
              </a:buClr>
              <a:buSzPts val="1300"/>
              <a:buFont typeface="Inter"/>
              <a:buChar char="•"/>
            </a:pPr>
            <a:r>
              <a:rPr lang="en-US" sz="1300">
                <a:solidFill>
                  <a:srgbClr val="F4F5F9"/>
                </a:solidFill>
                <a:latin typeface="Inter"/>
                <a:ea typeface="Inter"/>
                <a:cs typeface="Inter"/>
                <a:sym typeface="Inter"/>
              </a:rPr>
              <a:t>Tablero solo con datos validados</a:t>
            </a:r>
            <a:endParaRPr sz="1300">
              <a:solidFill>
                <a:srgbClr val="F4F5F9"/>
              </a:solidFill>
              <a:latin typeface="Inter"/>
              <a:ea typeface="Inter"/>
              <a:cs typeface="Inter"/>
              <a:sym typeface="Inter"/>
            </a:endParaRPr>
          </a:p>
          <a:p>
            <a:pPr indent="-155956" lvl="0" marL="155956" marR="0" rtl="0" algn="l">
              <a:lnSpc>
                <a:spcPct val="135000"/>
              </a:lnSpc>
              <a:spcBef>
                <a:spcPts val="0"/>
              </a:spcBef>
              <a:spcAft>
                <a:spcPts val="0"/>
              </a:spcAft>
              <a:buClr>
                <a:srgbClr val="F4F5F9"/>
              </a:buClr>
              <a:buSzPts val="1300"/>
              <a:buFont typeface="Inter"/>
              <a:buChar char="•"/>
            </a:pPr>
            <a:r>
              <a:rPr lang="en-US" sz="1300">
                <a:solidFill>
                  <a:srgbClr val="F4F5F9"/>
                </a:solidFill>
                <a:latin typeface="Inter"/>
                <a:ea typeface="Inter"/>
                <a:cs typeface="Inter"/>
                <a:sym typeface="Inter"/>
              </a:rPr>
              <a:t>Pruebas </a:t>
            </a:r>
            <a:r>
              <a:rPr lang="en-US" sz="1300">
                <a:solidFill>
                  <a:srgbClr val="F4F5F9"/>
                </a:solidFill>
                <a:latin typeface="Inter"/>
                <a:ea typeface="Inter"/>
                <a:cs typeface="Inter"/>
                <a:sym typeface="Inter"/>
              </a:rPr>
              <a:t>Automáticas</a:t>
            </a:r>
            <a:r>
              <a:rPr lang="en-US" sz="1300">
                <a:solidFill>
                  <a:srgbClr val="F4F5F9"/>
                </a:solidFill>
                <a:latin typeface="Inter"/>
                <a:ea typeface="Inter"/>
                <a:cs typeface="Inter"/>
                <a:sym typeface="Inter"/>
              </a:rPr>
              <a:t> y CI/CD</a:t>
            </a:r>
            <a:endParaRPr sz="1300">
              <a:solidFill>
                <a:srgbClr val="F4F5F9"/>
              </a:solidFill>
              <a:latin typeface="Inter"/>
              <a:ea typeface="Inter"/>
              <a:cs typeface="Inter"/>
              <a:sym typeface="Inter"/>
            </a:endParaRPr>
          </a:p>
        </p:txBody>
      </p:sp>
      <p:pic>
        <p:nvPicPr>
          <p:cNvPr descr="arrow-right" id="512" name="Google Shape;512;p17"/>
          <p:cNvPicPr preferRelativeResize="0"/>
          <p:nvPr/>
        </p:nvPicPr>
        <p:blipFill rotWithShape="1">
          <a:blip r:embed="rId3">
            <a:alphaModFix/>
          </a:blip>
          <a:srcRect b="0" l="0" r="0" t="0"/>
          <a:stretch/>
        </p:blipFill>
        <p:spPr>
          <a:xfrm>
            <a:off x="4124859" y="2902686"/>
            <a:ext cx="254000" cy="139700"/>
          </a:xfrm>
          <a:prstGeom prst="rect">
            <a:avLst/>
          </a:prstGeom>
          <a:noFill/>
          <a:ln>
            <a:noFill/>
          </a:ln>
        </p:spPr>
      </p:pic>
      <p:sp>
        <p:nvSpPr>
          <p:cNvPr id="513" name="Google Shape;513;p17"/>
          <p:cNvSpPr/>
          <p:nvPr/>
        </p:nvSpPr>
        <p:spPr>
          <a:xfrm>
            <a:off x="4483625" y="1863672"/>
            <a:ext cx="3215400" cy="2275500"/>
          </a:xfrm>
          <a:prstGeom prst="roundRect">
            <a:avLst>
              <a:gd fmla="val 3293"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514" name="Google Shape;514;p17"/>
          <p:cNvSpPr/>
          <p:nvPr/>
        </p:nvSpPr>
        <p:spPr>
          <a:xfrm>
            <a:off x="4715409" y="2095442"/>
            <a:ext cx="2834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2 · SIGUIENTE PASO</a:t>
            </a:r>
            <a:endParaRPr sz="1200">
              <a:solidFill>
                <a:schemeClr val="dk1"/>
              </a:solidFill>
              <a:latin typeface="Inter"/>
              <a:ea typeface="Inter"/>
              <a:cs typeface="Inter"/>
              <a:sym typeface="Inter"/>
            </a:endParaRPr>
          </a:p>
        </p:txBody>
      </p:sp>
      <p:sp>
        <p:nvSpPr>
          <p:cNvPr id="515" name="Google Shape;515;p17"/>
          <p:cNvSpPr/>
          <p:nvPr/>
        </p:nvSpPr>
        <p:spPr>
          <a:xfrm>
            <a:off x="4715409" y="2384963"/>
            <a:ext cx="28344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743"/>
              </a:buClr>
              <a:buSzPts val="1800"/>
              <a:buFont typeface="Inter"/>
              <a:buNone/>
            </a:pPr>
            <a:r>
              <a:rPr b="1" lang="en-US" sz="1800">
                <a:solidFill>
                  <a:srgbClr val="0F2743"/>
                </a:solidFill>
                <a:latin typeface="Inter"/>
                <a:ea typeface="Inter"/>
                <a:cs typeface="Inter"/>
                <a:sym typeface="Inter"/>
              </a:rPr>
              <a:t>Datos reales</a:t>
            </a:r>
            <a:endParaRPr sz="1800">
              <a:solidFill>
                <a:schemeClr val="dk1"/>
              </a:solidFill>
              <a:latin typeface="Inter"/>
              <a:ea typeface="Inter"/>
              <a:cs typeface="Inter"/>
              <a:sym typeface="Inter"/>
            </a:endParaRPr>
          </a:p>
        </p:txBody>
      </p:sp>
      <p:sp>
        <p:nvSpPr>
          <p:cNvPr id="516" name="Google Shape;516;p17"/>
          <p:cNvSpPr/>
          <p:nvPr/>
        </p:nvSpPr>
        <p:spPr>
          <a:xfrm>
            <a:off x="4813453" y="2735403"/>
            <a:ext cx="2728500" cy="1139700"/>
          </a:xfrm>
          <a:prstGeom prst="rect">
            <a:avLst/>
          </a:prstGeom>
          <a:noFill/>
          <a:ln>
            <a:noFill/>
          </a:ln>
        </p:spPr>
        <p:txBody>
          <a:bodyPr anchorCtr="0" anchor="t" bIns="0" lIns="0" spcFirstLastPara="1" rIns="0" wrap="square" tIns="0">
            <a:noAutofit/>
          </a:bodyPr>
          <a:lstStyle/>
          <a:p>
            <a:pPr indent="-155956" lvl="0" marL="155956" marR="0" rtl="0" algn="l">
              <a:lnSpc>
                <a:spcPct val="135000"/>
              </a:lnSpc>
              <a:spcBef>
                <a:spcPts val="0"/>
              </a:spcBef>
              <a:spcAft>
                <a:spcPts val="0"/>
              </a:spcAft>
              <a:buClr>
                <a:srgbClr val="0F2743"/>
              </a:buClr>
              <a:buSzPts val="1300"/>
              <a:buFont typeface="Inter"/>
              <a:buChar char="•"/>
            </a:pPr>
            <a:r>
              <a:rPr lang="en-US" sz="1300">
                <a:solidFill>
                  <a:srgbClr val="0F2743"/>
                </a:solidFill>
                <a:latin typeface="Inter"/>
                <a:ea typeface="Inter"/>
                <a:cs typeface="Inter"/>
                <a:sym typeface="Inter"/>
              </a:rPr>
              <a:t>Integrar los sensores reales</a:t>
            </a:r>
            <a:endParaRPr sz="1300">
              <a:solidFill>
                <a:schemeClr val="dk1"/>
              </a:solidFill>
              <a:latin typeface="Inter"/>
              <a:ea typeface="Inter"/>
              <a:cs typeface="Inter"/>
              <a:sym typeface="Inter"/>
            </a:endParaRPr>
          </a:p>
          <a:p>
            <a:pPr indent="-155956" lvl="0" marL="155956" marR="0" rtl="0" algn="l">
              <a:lnSpc>
                <a:spcPct val="135000"/>
              </a:lnSpc>
              <a:spcBef>
                <a:spcPts val="0"/>
              </a:spcBef>
              <a:spcAft>
                <a:spcPts val="0"/>
              </a:spcAft>
              <a:buClr>
                <a:srgbClr val="0F2743"/>
              </a:buClr>
              <a:buSzPts val="1300"/>
              <a:buFont typeface="Inter"/>
              <a:buChar char="•"/>
            </a:pPr>
            <a:r>
              <a:rPr lang="en-US" sz="1300">
                <a:solidFill>
                  <a:srgbClr val="0F2743"/>
                </a:solidFill>
                <a:latin typeface="Inter"/>
                <a:ea typeface="Inter"/>
                <a:cs typeface="Inter"/>
                <a:sym typeface="Inter"/>
              </a:rPr>
              <a:t>Recalibrar tasa de error y rangos</a:t>
            </a:r>
            <a:endParaRPr sz="1300">
              <a:solidFill>
                <a:schemeClr val="dk1"/>
              </a:solidFill>
              <a:latin typeface="Inter"/>
              <a:ea typeface="Inter"/>
              <a:cs typeface="Inter"/>
              <a:sym typeface="Inter"/>
            </a:endParaRPr>
          </a:p>
          <a:p>
            <a:pPr indent="-155956" lvl="0" marL="155956" marR="0" rtl="0" algn="l">
              <a:lnSpc>
                <a:spcPct val="135000"/>
              </a:lnSpc>
              <a:spcBef>
                <a:spcPts val="0"/>
              </a:spcBef>
              <a:spcAft>
                <a:spcPts val="0"/>
              </a:spcAft>
              <a:buClr>
                <a:srgbClr val="0F2743"/>
              </a:buClr>
              <a:buSzPts val="1300"/>
              <a:buFont typeface="Inter"/>
              <a:buChar char="•"/>
            </a:pPr>
            <a:r>
              <a:rPr lang="en-US" sz="1300">
                <a:solidFill>
                  <a:srgbClr val="0F2743"/>
                </a:solidFill>
                <a:latin typeface="Inter"/>
                <a:ea typeface="Inter"/>
                <a:cs typeface="Inter"/>
                <a:sym typeface="Inter"/>
              </a:rPr>
              <a:t>Umbrales por provincia o campo</a:t>
            </a:r>
            <a:endParaRPr sz="1300">
              <a:solidFill>
                <a:schemeClr val="dk1"/>
              </a:solidFill>
              <a:latin typeface="Inter"/>
              <a:ea typeface="Inter"/>
              <a:cs typeface="Inter"/>
              <a:sym typeface="Inter"/>
            </a:endParaRPr>
          </a:p>
        </p:txBody>
      </p:sp>
      <p:pic>
        <p:nvPicPr>
          <p:cNvPr descr="arrow-right" id="517" name="Google Shape;517;p17"/>
          <p:cNvPicPr preferRelativeResize="0"/>
          <p:nvPr/>
        </p:nvPicPr>
        <p:blipFill rotWithShape="1">
          <a:blip r:embed="rId3">
            <a:alphaModFix/>
          </a:blip>
          <a:srcRect b="0" l="0" r="0" t="0"/>
          <a:stretch/>
        </p:blipFill>
        <p:spPr>
          <a:xfrm>
            <a:off x="7803691" y="2902686"/>
            <a:ext cx="254000" cy="139700"/>
          </a:xfrm>
          <a:prstGeom prst="rect">
            <a:avLst/>
          </a:prstGeom>
          <a:noFill/>
          <a:ln>
            <a:noFill/>
          </a:ln>
        </p:spPr>
      </p:pic>
      <p:sp>
        <p:nvSpPr>
          <p:cNvPr id="518" name="Google Shape;518;p17"/>
          <p:cNvSpPr/>
          <p:nvPr/>
        </p:nvSpPr>
        <p:spPr>
          <a:xfrm>
            <a:off x="8162475" y="1863672"/>
            <a:ext cx="3215100" cy="2275500"/>
          </a:xfrm>
          <a:prstGeom prst="roundRect">
            <a:avLst>
              <a:gd fmla="val 3293" name="adj"/>
            </a:avLst>
          </a:prstGeom>
          <a:solidFill>
            <a:srgbClr val="F4F5F9"/>
          </a:solidFill>
          <a:ln cap="flat" cmpd="sng" w="9525">
            <a:solidFill>
              <a:srgbClr val="E3E7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519" name="Google Shape;519;p17"/>
          <p:cNvSpPr/>
          <p:nvPr/>
        </p:nvSpPr>
        <p:spPr>
          <a:xfrm>
            <a:off x="8394241" y="2095442"/>
            <a:ext cx="28341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Inter"/>
              <a:buNone/>
            </a:pPr>
            <a:r>
              <a:rPr b="1" lang="en-US" sz="1200">
                <a:solidFill>
                  <a:srgbClr val="4A5568"/>
                </a:solidFill>
                <a:latin typeface="Inter"/>
                <a:ea typeface="Inter"/>
                <a:cs typeface="Inter"/>
                <a:sym typeface="Inter"/>
              </a:rPr>
              <a:t>3 · DESPUÉS</a:t>
            </a:r>
            <a:endParaRPr sz="1200">
              <a:solidFill>
                <a:schemeClr val="dk1"/>
              </a:solidFill>
              <a:latin typeface="Inter"/>
              <a:ea typeface="Inter"/>
              <a:cs typeface="Inter"/>
              <a:sym typeface="Inter"/>
            </a:endParaRPr>
          </a:p>
        </p:txBody>
      </p:sp>
      <p:sp>
        <p:nvSpPr>
          <p:cNvPr id="520" name="Google Shape;520;p17"/>
          <p:cNvSpPr/>
          <p:nvPr/>
        </p:nvSpPr>
        <p:spPr>
          <a:xfrm>
            <a:off x="8394241" y="2384963"/>
            <a:ext cx="2834100" cy="2997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743"/>
              </a:buClr>
              <a:buSzPts val="1800"/>
              <a:buFont typeface="Inter"/>
              <a:buNone/>
            </a:pPr>
            <a:r>
              <a:rPr b="1" lang="en-US" sz="1800">
                <a:solidFill>
                  <a:srgbClr val="0F2743"/>
                </a:solidFill>
                <a:latin typeface="Inter"/>
                <a:ea typeface="Inter"/>
                <a:cs typeface="Inter"/>
                <a:sym typeface="Inter"/>
              </a:rPr>
              <a:t>Producción</a:t>
            </a:r>
            <a:endParaRPr sz="1800">
              <a:solidFill>
                <a:schemeClr val="dk1"/>
              </a:solidFill>
              <a:latin typeface="Inter"/>
              <a:ea typeface="Inter"/>
              <a:cs typeface="Inter"/>
              <a:sym typeface="Inter"/>
            </a:endParaRPr>
          </a:p>
        </p:txBody>
      </p:sp>
      <p:sp>
        <p:nvSpPr>
          <p:cNvPr id="521" name="Google Shape;521;p17"/>
          <p:cNvSpPr/>
          <p:nvPr/>
        </p:nvSpPr>
        <p:spPr>
          <a:xfrm>
            <a:off x="8492285" y="2735403"/>
            <a:ext cx="2728500" cy="1139700"/>
          </a:xfrm>
          <a:prstGeom prst="rect">
            <a:avLst/>
          </a:prstGeom>
          <a:noFill/>
          <a:ln>
            <a:noFill/>
          </a:ln>
        </p:spPr>
        <p:txBody>
          <a:bodyPr anchorCtr="0" anchor="t" bIns="0" lIns="0" spcFirstLastPara="1" rIns="0" wrap="square" tIns="0">
            <a:noAutofit/>
          </a:bodyPr>
          <a:lstStyle/>
          <a:p>
            <a:pPr indent="-155956" lvl="0" marL="155956" marR="0" rtl="0" algn="l">
              <a:lnSpc>
                <a:spcPct val="135000"/>
              </a:lnSpc>
              <a:spcBef>
                <a:spcPts val="0"/>
              </a:spcBef>
              <a:spcAft>
                <a:spcPts val="0"/>
              </a:spcAft>
              <a:buClr>
                <a:srgbClr val="0F2743"/>
              </a:buClr>
              <a:buSzPts val="1300"/>
              <a:buFont typeface="Inter"/>
              <a:buChar char="•"/>
            </a:pPr>
            <a:r>
              <a:rPr lang="en-US" sz="1300">
                <a:solidFill>
                  <a:srgbClr val="0F2743"/>
                </a:solidFill>
                <a:latin typeface="Inter"/>
                <a:ea typeface="Inter"/>
                <a:cs typeface="Inter"/>
                <a:sym typeface="Inter"/>
              </a:rPr>
              <a:t>Monitoreo y alertas del Índice</a:t>
            </a:r>
            <a:endParaRPr sz="1300">
              <a:solidFill>
                <a:schemeClr val="dk1"/>
              </a:solidFill>
              <a:latin typeface="Inter"/>
              <a:ea typeface="Inter"/>
              <a:cs typeface="Inter"/>
              <a:sym typeface="Inter"/>
            </a:endParaRPr>
          </a:p>
          <a:p>
            <a:pPr indent="-155956" lvl="0" marL="155956" marR="0" rtl="0" algn="l">
              <a:lnSpc>
                <a:spcPct val="135000"/>
              </a:lnSpc>
              <a:spcBef>
                <a:spcPts val="0"/>
              </a:spcBef>
              <a:spcAft>
                <a:spcPts val="0"/>
              </a:spcAft>
              <a:buClr>
                <a:srgbClr val="0F2743"/>
              </a:buClr>
              <a:buSzPts val="1300"/>
              <a:buFont typeface="Inter"/>
              <a:buChar char="•"/>
            </a:pPr>
            <a:r>
              <a:rPr lang="en-US" sz="1300">
                <a:solidFill>
                  <a:srgbClr val="0F2743"/>
                </a:solidFill>
                <a:latin typeface="Inter"/>
                <a:ea typeface="Inter"/>
                <a:cs typeface="Inter"/>
                <a:sym typeface="Inter"/>
              </a:rPr>
              <a:t>Gestión de incidentes y reproceso automático</a:t>
            </a:r>
            <a:endParaRPr sz="1300">
              <a:solidFill>
                <a:schemeClr val="dk1"/>
              </a:solidFill>
              <a:latin typeface="Inter"/>
              <a:ea typeface="Inter"/>
              <a:cs typeface="Inter"/>
              <a:sym typeface="Inter"/>
            </a:endParaRPr>
          </a:p>
          <a:p>
            <a:pPr indent="-155956" lvl="0" marL="155956" marR="0" rtl="0" algn="l">
              <a:lnSpc>
                <a:spcPct val="135000"/>
              </a:lnSpc>
              <a:spcBef>
                <a:spcPts val="0"/>
              </a:spcBef>
              <a:spcAft>
                <a:spcPts val="0"/>
              </a:spcAft>
              <a:buClr>
                <a:srgbClr val="0F2743"/>
              </a:buClr>
              <a:buSzPts val="1300"/>
              <a:buFont typeface="Inter"/>
              <a:buChar char="•"/>
            </a:pPr>
            <a:r>
              <a:rPr lang="en-US" sz="1300">
                <a:solidFill>
                  <a:srgbClr val="0F2743"/>
                </a:solidFill>
                <a:latin typeface="Inter"/>
                <a:ea typeface="Inter"/>
                <a:cs typeface="Inter"/>
                <a:sym typeface="Inter"/>
              </a:rPr>
              <a:t>Nuevas reglas (sensores “congelados”)</a:t>
            </a:r>
            <a:endParaRPr sz="1300">
              <a:solidFill>
                <a:schemeClr val="dk1"/>
              </a:solidFill>
              <a:latin typeface="Inter"/>
              <a:ea typeface="Inter"/>
              <a:cs typeface="Inter"/>
              <a:sym typeface="Inter"/>
            </a:endParaRPr>
          </a:p>
        </p:txBody>
      </p:sp>
      <p:sp>
        <p:nvSpPr>
          <p:cNvPr id="522" name="Google Shape;522;p17"/>
          <p:cNvSpPr/>
          <p:nvPr/>
        </p:nvSpPr>
        <p:spPr>
          <a:xfrm>
            <a:off x="1174475" y="4915314"/>
            <a:ext cx="50700" cy="457200"/>
          </a:xfrm>
          <a:prstGeom prst="roundRect">
            <a:avLst>
              <a:gd fmla="val 5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523" name="Google Shape;523;p17"/>
          <p:cNvSpPr/>
          <p:nvPr/>
        </p:nvSpPr>
        <p:spPr>
          <a:xfrm>
            <a:off x="9093200" y="6238280"/>
            <a:ext cx="558800" cy="23872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A5568"/>
              </a:buClr>
              <a:buSzPts val="1200"/>
              <a:buFont typeface="Inter"/>
              <a:buNone/>
            </a:pPr>
            <a:r>
              <a:rPr lang="en-US" sz="1200">
                <a:solidFill>
                  <a:srgbClr val="4A5568"/>
                </a:solidFill>
                <a:latin typeface="Inter"/>
                <a:ea typeface="Inter"/>
                <a:cs typeface="Inter"/>
                <a:sym typeface="Inter"/>
              </a:rPr>
              <a:t>14</a:t>
            </a:r>
            <a:endParaRPr sz="1200">
              <a:solidFill>
                <a:schemeClr val="dk1"/>
              </a:solidFill>
              <a:latin typeface="Inter"/>
              <a:ea typeface="Inter"/>
              <a:cs typeface="Inter"/>
              <a:sym typeface="Inter"/>
            </a:endParaRPr>
          </a:p>
        </p:txBody>
      </p:sp>
      <p:pic>
        <p:nvPicPr>
          <p:cNvPr descr="Logotipo de Datum Sur" id="524" name="Google Shape;524;p17"/>
          <p:cNvPicPr preferRelativeResize="0"/>
          <p:nvPr/>
        </p:nvPicPr>
        <p:blipFill rotWithShape="1">
          <a:blip r:embed="rId4">
            <a:alphaModFix/>
          </a:blip>
          <a:srcRect b="-584" l="0" r="0" t="-584"/>
          <a:stretch/>
        </p:blipFill>
        <p:spPr>
          <a:xfrm>
            <a:off x="10617200" y="6223000"/>
            <a:ext cx="762000" cy="279400"/>
          </a:xfrm>
          <a:prstGeom prst="rect">
            <a:avLst/>
          </a:prstGeom>
          <a:noFill/>
          <a:ln>
            <a:noFill/>
          </a:ln>
        </p:spPr>
      </p:pic>
      <p:pic>
        <p:nvPicPr>
          <p:cNvPr descr="logo-uade » CEDOL" id="525" name="Google Shape;525;p17"/>
          <p:cNvPicPr preferRelativeResize="0"/>
          <p:nvPr/>
        </p:nvPicPr>
        <p:blipFill rotWithShape="1">
          <a:blip r:embed="rId5">
            <a:alphaModFix/>
          </a:blip>
          <a:srcRect b="0" l="0" r="0" t="0"/>
          <a:stretch/>
        </p:blipFill>
        <p:spPr>
          <a:xfrm>
            <a:off x="9862481" y="6160518"/>
            <a:ext cx="703920" cy="403719"/>
          </a:xfrm>
          <a:prstGeom prst="rect">
            <a:avLst/>
          </a:prstGeom>
          <a:noFill/>
          <a:ln>
            <a:noFill/>
          </a:ln>
        </p:spPr>
      </p:pic>
      <p:sp>
        <p:nvSpPr>
          <p:cNvPr id="526" name="Google Shape;526;p17"/>
          <p:cNvSpPr/>
          <p:nvPr/>
        </p:nvSpPr>
        <p:spPr>
          <a:xfrm>
            <a:off x="3633425" y="4671450"/>
            <a:ext cx="4041600" cy="925200"/>
          </a:xfrm>
          <a:prstGeom prst="rect">
            <a:avLst/>
          </a:prstGeom>
          <a:noFill/>
          <a:ln>
            <a:noFill/>
          </a:ln>
        </p:spPr>
        <p:txBody>
          <a:bodyPr anchorCtr="0" anchor="t" bIns="0" lIns="0" spcFirstLastPara="1" rIns="0" wrap="square" tIns="0">
            <a:noAutofit/>
          </a:bodyPr>
          <a:lstStyle/>
          <a:p>
            <a:pPr indent="-155956" lvl="0" marL="155956" marR="0" rtl="0" algn="l">
              <a:lnSpc>
                <a:spcPct val="135000"/>
              </a:lnSpc>
              <a:spcBef>
                <a:spcPts val="0"/>
              </a:spcBef>
              <a:spcAft>
                <a:spcPts val="0"/>
              </a:spcAft>
              <a:buClr>
                <a:srgbClr val="4A5568"/>
              </a:buClr>
              <a:buSzPts val="1300"/>
              <a:buFont typeface="Inter"/>
              <a:buChar char="•"/>
            </a:pPr>
            <a:r>
              <a:rPr lang="en-US" sz="1300">
                <a:solidFill>
                  <a:srgbClr val="4A5568"/>
                </a:solidFill>
                <a:latin typeface="Inter"/>
                <a:ea typeface="Inter"/>
                <a:cs typeface="Inter"/>
                <a:sym typeface="Inter"/>
              </a:rPr>
              <a:t>App móvil</a:t>
            </a:r>
            <a:endParaRPr sz="1300">
              <a:solidFill>
                <a:schemeClr val="dk1"/>
              </a:solidFill>
              <a:latin typeface="Inter"/>
              <a:ea typeface="Inter"/>
              <a:cs typeface="Inter"/>
              <a:sym typeface="Inter"/>
            </a:endParaRPr>
          </a:p>
          <a:p>
            <a:pPr indent="-155956" lvl="0" marL="155956" marR="0" rtl="0" algn="l">
              <a:lnSpc>
                <a:spcPct val="135000"/>
              </a:lnSpc>
              <a:spcBef>
                <a:spcPts val="0"/>
              </a:spcBef>
              <a:spcAft>
                <a:spcPts val="0"/>
              </a:spcAft>
              <a:buClr>
                <a:srgbClr val="4A5568"/>
              </a:buClr>
              <a:buSzPts val="1300"/>
              <a:buFont typeface="Inter"/>
              <a:buChar char="•"/>
            </a:pPr>
            <a:r>
              <a:rPr lang="en-US" sz="1300">
                <a:solidFill>
                  <a:srgbClr val="4A5568"/>
                </a:solidFill>
                <a:latin typeface="Inter"/>
                <a:ea typeface="Inter"/>
                <a:cs typeface="Inter"/>
                <a:sym typeface="Inter"/>
              </a:rPr>
              <a:t>Control físico de sensores</a:t>
            </a:r>
            <a:endParaRPr sz="1300">
              <a:solidFill>
                <a:schemeClr val="dk1"/>
              </a:solidFill>
              <a:latin typeface="Inter"/>
              <a:ea typeface="Inter"/>
              <a:cs typeface="Inter"/>
              <a:sym typeface="Inter"/>
            </a:endParaRPr>
          </a:p>
          <a:p>
            <a:pPr indent="-155956" lvl="0" marL="155956" marR="0" rtl="0" algn="l">
              <a:lnSpc>
                <a:spcPct val="135000"/>
              </a:lnSpc>
              <a:spcBef>
                <a:spcPts val="0"/>
              </a:spcBef>
              <a:spcAft>
                <a:spcPts val="0"/>
              </a:spcAft>
              <a:buClr>
                <a:srgbClr val="4A5568"/>
              </a:buClr>
              <a:buSzPts val="1300"/>
              <a:buFont typeface="Inter"/>
              <a:buChar char="•"/>
            </a:pPr>
            <a:r>
              <a:rPr lang="en-US" sz="1300">
                <a:solidFill>
                  <a:srgbClr val="4A5568"/>
                </a:solidFill>
                <a:latin typeface="Inter"/>
                <a:ea typeface="Inter"/>
                <a:cs typeface="Inter"/>
                <a:sym typeface="Inter"/>
              </a:rPr>
              <a:t>Automatización de maquinaria</a:t>
            </a:r>
            <a:endParaRPr sz="1300">
              <a:solidFill>
                <a:schemeClr val="dk1"/>
              </a:solidFill>
              <a:latin typeface="Inter"/>
              <a:ea typeface="Inter"/>
              <a:cs typeface="Inter"/>
              <a:sym typeface="Inter"/>
            </a:endParaRPr>
          </a:p>
        </p:txBody>
      </p:sp>
      <p:sp>
        <p:nvSpPr>
          <p:cNvPr id="527" name="Google Shape;527;p17"/>
          <p:cNvSpPr/>
          <p:nvPr/>
        </p:nvSpPr>
        <p:spPr>
          <a:xfrm>
            <a:off x="1440369" y="4817836"/>
            <a:ext cx="1905300" cy="457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F2743"/>
              </a:buClr>
              <a:buSzPts val="1800"/>
              <a:buFont typeface="Inter"/>
              <a:buNone/>
            </a:pPr>
            <a:r>
              <a:rPr b="1" lang="en-US" sz="1800">
                <a:solidFill>
                  <a:srgbClr val="0F2743"/>
                </a:solidFill>
                <a:latin typeface="Inter"/>
                <a:ea typeface="Inter"/>
                <a:cs typeface="Inter"/>
                <a:sym typeface="Inter"/>
              </a:rPr>
              <a:t>Fuera </a:t>
            </a:r>
            <a:endParaRPr b="1" sz="1800">
              <a:solidFill>
                <a:srgbClr val="0F2743"/>
              </a:solidFill>
              <a:latin typeface="Inter"/>
              <a:ea typeface="Inter"/>
              <a:cs typeface="Inter"/>
              <a:sym typeface="Inter"/>
            </a:endParaRPr>
          </a:p>
          <a:p>
            <a:pPr indent="0" lvl="0" marL="0" marR="0" rtl="0" algn="l">
              <a:lnSpc>
                <a:spcPct val="120000"/>
              </a:lnSpc>
              <a:spcBef>
                <a:spcPts val="0"/>
              </a:spcBef>
              <a:spcAft>
                <a:spcPts val="0"/>
              </a:spcAft>
              <a:buClr>
                <a:srgbClr val="0F2743"/>
              </a:buClr>
              <a:buSzPts val="1800"/>
              <a:buFont typeface="Inter"/>
              <a:buNone/>
            </a:pPr>
            <a:r>
              <a:rPr b="1" lang="en-US" sz="1800">
                <a:solidFill>
                  <a:srgbClr val="0F2743"/>
                </a:solidFill>
                <a:latin typeface="Inter"/>
                <a:ea typeface="Inter"/>
                <a:cs typeface="Inter"/>
                <a:sym typeface="Inter"/>
              </a:rPr>
              <a:t>del MVP</a:t>
            </a:r>
            <a:endParaRPr sz="1800">
              <a:solidFill>
                <a:schemeClr val="dk1"/>
              </a:solidFill>
              <a:latin typeface="Inter"/>
              <a:ea typeface="Inter"/>
              <a:cs typeface="Inter"/>
              <a:sym typeface="Inter"/>
            </a:endParaRPr>
          </a:p>
        </p:txBody>
      </p:sp>
      <p:sp>
        <p:nvSpPr>
          <p:cNvPr id="528" name="Google Shape;528;p17"/>
          <p:cNvSpPr txBox="1"/>
          <p:nvPr/>
        </p:nvSpPr>
        <p:spPr>
          <a:xfrm>
            <a:off x="6976199" y="4611198"/>
            <a:ext cx="4278000" cy="925200"/>
          </a:xfrm>
          <a:prstGeom prst="rect">
            <a:avLst/>
          </a:prstGeom>
          <a:noFill/>
          <a:ln>
            <a:noFill/>
          </a:ln>
        </p:spPr>
        <p:txBody>
          <a:bodyPr anchorCtr="0" anchor="t" bIns="91425" lIns="91425" spcFirstLastPara="1" rIns="91425" wrap="square" tIns="91425">
            <a:spAutoFit/>
          </a:bodyPr>
          <a:lstStyle/>
          <a:p>
            <a:pPr indent="-155956" lvl="0" marL="155956" rtl="0" algn="l">
              <a:lnSpc>
                <a:spcPct val="135000"/>
              </a:lnSpc>
              <a:spcBef>
                <a:spcPts val="0"/>
              </a:spcBef>
              <a:spcAft>
                <a:spcPts val="0"/>
              </a:spcAft>
              <a:buClr>
                <a:schemeClr val="accent2"/>
              </a:buClr>
              <a:buSzPts val="1300"/>
              <a:buFont typeface="Inter"/>
              <a:buChar char="•"/>
            </a:pPr>
            <a:r>
              <a:rPr lang="en-US" sz="1300">
                <a:solidFill>
                  <a:schemeClr val="accent2"/>
                </a:solidFill>
                <a:latin typeface="Inter"/>
                <a:ea typeface="Inter"/>
                <a:cs typeface="Inter"/>
                <a:sym typeface="Inter"/>
              </a:rPr>
              <a:t>Alta disponibilidad</a:t>
            </a:r>
            <a:endParaRPr sz="1300">
              <a:solidFill>
                <a:schemeClr val="dk1"/>
              </a:solidFill>
              <a:latin typeface="Inter"/>
              <a:ea typeface="Inter"/>
              <a:cs typeface="Inter"/>
              <a:sym typeface="Inter"/>
            </a:endParaRPr>
          </a:p>
          <a:p>
            <a:pPr indent="-155956" lvl="0" marL="155956" rtl="0" algn="l">
              <a:lnSpc>
                <a:spcPct val="135000"/>
              </a:lnSpc>
              <a:spcBef>
                <a:spcPts val="0"/>
              </a:spcBef>
              <a:spcAft>
                <a:spcPts val="0"/>
              </a:spcAft>
              <a:buClr>
                <a:schemeClr val="accent2"/>
              </a:buClr>
              <a:buSzPts val="1300"/>
              <a:buFont typeface="Inter"/>
              <a:buChar char="•"/>
            </a:pPr>
            <a:r>
              <a:rPr lang="en-US" sz="1300">
                <a:solidFill>
                  <a:schemeClr val="accent2"/>
                </a:solidFill>
                <a:latin typeface="Inter"/>
                <a:ea typeface="Inter"/>
                <a:cs typeface="Inter"/>
                <a:sym typeface="Inter"/>
              </a:rPr>
              <a:t>Integración total de sistemas</a:t>
            </a:r>
            <a:endParaRPr sz="1300">
              <a:solidFill>
                <a:schemeClr val="dk1"/>
              </a:solidFill>
              <a:latin typeface="Inter"/>
              <a:ea typeface="Inter"/>
              <a:cs typeface="Inter"/>
              <a:sym typeface="Inter"/>
            </a:endParaRPr>
          </a:p>
          <a:p>
            <a:pPr indent="-155956" lvl="0" marL="155956" rtl="0" algn="l">
              <a:lnSpc>
                <a:spcPct val="135000"/>
              </a:lnSpc>
              <a:spcBef>
                <a:spcPts val="0"/>
              </a:spcBef>
              <a:spcAft>
                <a:spcPts val="0"/>
              </a:spcAft>
              <a:buClr>
                <a:schemeClr val="accent2"/>
              </a:buClr>
              <a:buSzPts val="1300"/>
              <a:buFont typeface="Inter"/>
              <a:buChar char="•"/>
            </a:pPr>
            <a:r>
              <a:rPr lang="en-US" sz="1300">
                <a:solidFill>
                  <a:schemeClr val="accent2"/>
                </a:solidFill>
                <a:latin typeface="Inter"/>
                <a:ea typeface="Inter"/>
                <a:cs typeface="Inter"/>
                <a:sym typeface="Inter"/>
              </a:rPr>
              <a:t>Gestión de incidentes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18"/>
          <p:cNvSpPr/>
          <p:nvPr/>
        </p:nvSpPr>
        <p:spPr>
          <a:xfrm>
            <a:off x="8001000" y="0"/>
            <a:ext cx="4191000" cy="6858000"/>
          </a:xfrm>
          <a:prstGeom prst="rect">
            <a:avLst/>
          </a:prstGeom>
          <a:solidFill>
            <a:srgbClr val="0F274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cxnSp>
        <p:nvCxnSpPr>
          <p:cNvPr id="535" name="Google Shape;535;p18"/>
          <p:cNvCxnSpPr/>
          <p:nvPr/>
        </p:nvCxnSpPr>
        <p:spPr>
          <a:xfrm>
            <a:off x="8039100" y="0"/>
            <a:ext cx="0" cy="6858000"/>
          </a:xfrm>
          <a:prstGeom prst="straightConnector1">
            <a:avLst/>
          </a:prstGeom>
          <a:noFill/>
          <a:ln cap="flat" cmpd="sng" w="76200">
            <a:solidFill>
              <a:srgbClr val="E3A82B"/>
            </a:solidFill>
            <a:prstDash val="solid"/>
            <a:round/>
            <a:headEnd len="sm" w="sm" type="none"/>
            <a:tailEnd len="sm" w="sm" type="none"/>
          </a:ln>
        </p:spPr>
      </p:cxnSp>
      <p:sp>
        <p:nvSpPr>
          <p:cNvPr id="536" name="Google Shape;536;p18"/>
          <p:cNvSpPr/>
          <p:nvPr/>
        </p:nvSpPr>
        <p:spPr>
          <a:xfrm>
            <a:off x="8542782" y="4478068"/>
            <a:ext cx="3276599" cy="1760212"/>
          </a:xfrm>
          <a:prstGeom prst="rect">
            <a:avLst/>
          </a:prstGeom>
          <a:noFill/>
          <a:ln>
            <a:noFill/>
          </a:ln>
        </p:spPr>
        <p:txBody>
          <a:bodyPr anchorCtr="0" anchor="t" bIns="0" lIns="0" spcFirstLastPara="1" rIns="0" wrap="square" tIns="0">
            <a:noAutofit/>
          </a:bodyPr>
          <a:lstStyle/>
          <a:p>
            <a:pPr indent="0" lvl="0" marL="0" marR="0" rtl="0" algn="ctr">
              <a:lnSpc>
                <a:spcPct val="154285"/>
              </a:lnSpc>
              <a:spcBef>
                <a:spcPts val="0"/>
              </a:spcBef>
              <a:spcAft>
                <a:spcPts val="0"/>
              </a:spcAft>
              <a:buNone/>
            </a:pPr>
            <a:r>
              <a:rPr b="1" lang="en-US" sz="2800">
                <a:solidFill>
                  <a:srgbClr val="F4F5F9"/>
                </a:solidFill>
                <a:latin typeface="Inter"/>
                <a:ea typeface="Inter"/>
                <a:cs typeface="Inter"/>
                <a:sym typeface="Inter"/>
              </a:rPr>
              <a:t>“Un dato </a:t>
            </a:r>
            <a:r>
              <a:rPr b="1" lang="en-US" sz="2800">
                <a:solidFill>
                  <a:srgbClr val="F4F5F9"/>
                </a:solidFill>
                <a:latin typeface="Inter"/>
                <a:ea typeface="Inter"/>
                <a:cs typeface="Inter"/>
                <a:sym typeface="Inter"/>
              </a:rPr>
              <a:t>sólo</a:t>
            </a:r>
            <a:r>
              <a:rPr b="1" lang="en-US" sz="2800">
                <a:solidFill>
                  <a:srgbClr val="F4F5F9"/>
                </a:solidFill>
                <a:latin typeface="Inter"/>
                <a:ea typeface="Inter"/>
                <a:cs typeface="Inter"/>
                <a:sym typeface="Inter"/>
              </a:rPr>
              <a:t> es útil si se puede confiar en él.”</a:t>
            </a:r>
            <a:endParaRPr/>
          </a:p>
        </p:txBody>
      </p:sp>
      <p:pic>
        <p:nvPicPr>
          <p:cNvPr descr="Logotipo de Datum Sur: calidad de datos y DataOps" id="537" name="Google Shape;537;p18"/>
          <p:cNvPicPr preferRelativeResize="0"/>
          <p:nvPr/>
        </p:nvPicPr>
        <p:blipFill rotWithShape="1">
          <a:blip r:embed="rId3">
            <a:alphaModFix/>
          </a:blip>
          <a:srcRect b="0" l="-183" r="-183" t="0"/>
          <a:stretch/>
        </p:blipFill>
        <p:spPr>
          <a:xfrm>
            <a:off x="812800" y="711200"/>
            <a:ext cx="2286000" cy="825500"/>
          </a:xfrm>
          <a:prstGeom prst="rect">
            <a:avLst/>
          </a:prstGeom>
          <a:noFill/>
          <a:ln>
            <a:noFill/>
          </a:ln>
        </p:spPr>
      </p:pic>
      <p:sp>
        <p:nvSpPr>
          <p:cNvPr id="538" name="Google Shape;538;p18"/>
          <p:cNvSpPr/>
          <p:nvPr/>
        </p:nvSpPr>
        <p:spPr>
          <a:xfrm>
            <a:off x="812800" y="3065959"/>
            <a:ext cx="304800" cy="38100"/>
          </a:xfrm>
          <a:prstGeom prst="roundRect">
            <a:avLst>
              <a:gd fmla="val 5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539" name="Google Shape;539;p18"/>
          <p:cNvSpPr txBox="1"/>
          <p:nvPr>
            <p:ph type="title"/>
          </p:nvPr>
        </p:nvSpPr>
        <p:spPr>
          <a:xfrm>
            <a:off x="812800" y="3369469"/>
            <a:ext cx="6540500" cy="1122561"/>
          </a:xfrm>
          <a:prstGeom prst="rect">
            <a:avLst/>
          </a:prstGeom>
          <a:noFill/>
          <a:ln>
            <a:noFill/>
          </a:ln>
        </p:spPr>
        <p:txBody>
          <a:bodyPr anchorCtr="0" anchor="t" bIns="0" lIns="0" spcFirstLastPara="1" rIns="0" wrap="square" tIns="0">
            <a:normAutofit/>
          </a:bodyPr>
          <a:lstStyle/>
          <a:p>
            <a:pPr indent="0" lvl="0" marL="0" rtl="0" algn="l">
              <a:lnSpc>
                <a:spcPct val="108000"/>
              </a:lnSpc>
              <a:spcBef>
                <a:spcPts val="0"/>
              </a:spcBef>
              <a:spcAft>
                <a:spcPts val="0"/>
              </a:spcAft>
              <a:buClr>
                <a:srgbClr val="0F2743"/>
              </a:buClr>
              <a:buSzPts val="4000"/>
              <a:buFont typeface="Inter"/>
              <a:buNone/>
            </a:pPr>
            <a:r>
              <a:rPr b="1" i="0" lang="en-US" sz="4000">
                <a:solidFill>
                  <a:srgbClr val="0F2743"/>
                </a:solidFill>
                <a:latin typeface="Inter"/>
                <a:ea typeface="Inter"/>
                <a:cs typeface="Inter"/>
                <a:sym typeface="Inter"/>
              </a:rPr>
              <a:t>Gracias por confiar en nosotros.</a:t>
            </a:r>
            <a:endParaRPr sz="4000"/>
          </a:p>
        </p:txBody>
      </p:sp>
      <p:sp>
        <p:nvSpPr>
          <p:cNvPr id="540" name="Google Shape;540;p18"/>
          <p:cNvSpPr/>
          <p:nvPr/>
        </p:nvSpPr>
        <p:spPr>
          <a:xfrm>
            <a:off x="812800" y="4644430"/>
            <a:ext cx="6540500" cy="28317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4A5568"/>
              </a:buClr>
              <a:buSzPts val="1400"/>
              <a:buFont typeface="Inter"/>
              <a:buNone/>
            </a:pPr>
            <a:r>
              <a:rPr lang="en-US" sz="1400">
                <a:solidFill>
                  <a:srgbClr val="4A5568"/>
                </a:solidFill>
                <a:latin typeface="Inter"/>
                <a:ea typeface="Inter"/>
                <a:cs typeface="Inter"/>
                <a:sym typeface="Inter"/>
              </a:rPr>
              <a:t>Ahora, nuestro trabajo es que también puedan confiar en sus datos.</a:t>
            </a:r>
            <a:endParaRPr sz="1400">
              <a:solidFill>
                <a:schemeClr val="dk1"/>
              </a:solidFill>
              <a:latin typeface="Inter"/>
              <a:ea typeface="Inter"/>
              <a:cs typeface="Inter"/>
              <a:sym typeface="Inter"/>
            </a:endParaRPr>
          </a:p>
        </p:txBody>
      </p:sp>
      <p:sp>
        <p:nvSpPr>
          <p:cNvPr id="541" name="Google Shape;541;p18"/>
          <p:cNvSpPr/>
          <p:nvPr/>
        </p:nvSpPr>
        <p:spPr>
          <a:xfrm>
            <a:off x="812800" y="5232400"/>
            <a:ext cx="76200" cy="609600"/>
          </a:xfrm>
          <a:prstGeom prst="roundRect">
            <a:avLst>
              <a:gd fmla="val 50000" name="adj"/>
            </a:avLst>
          </a:prstGeom>
          <a:solidFill>
            <a:srgbClr val="E3A82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542" name="Google Shape;542;p18"/>
          <p:cNvSpPr/>
          <p:nvPr/>
        </p:nvSpPr>
        <p:spPr>
          <a:xfrm>
            <a:off x="1016000" y="5257800"/>
            <a:ext cx="3816668" cy="584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F2743"/>
              </a:buClr>
              <a:buSzPts val="4000"/>
              <a:buFont typeface="Inter"/>
              <a:buNone/>
            </a:pPr>
            <a:r>
              <a:rPr b="1" lang="en-US" sz="4000">
                <a:solidFill>
                  <a:srgbClr val="0F2743"/>
                </a:solidFill>
                <a:latin typeface="Inter"/>
                <a:ea typeface="Inter"/>
                <a:cs typeface="Inter"/>
                <a:sym typeface="Inter"/>
              </a:rPr>
              <a:t>¿Preguntas?</a:t>
            </a:r>
            <a:endParaRPr sz="4000">
              <a:solidFill>
                <a:schemeClr val="dk1"/>
              </a:solidFill>
              <a:latin typeface="Inter"/>
              <a:ea typeface="Inter"/>
              <a:cs typeface="Inter"/>
              <a:sym typeface="Inter"/>
            </a:endParaRPr>
          </a:p>
        </p:txBody>
      </p:sp>
      <p:pic>
        <p:nvPicPr>
          <p:cNvPr descr="logo-uade » CEDOL" id="543" name="Google Shape;543;p18"/>
          <p:cNvPicPr preferRelativeResize="0"/>
          <p:nvPr/>
        </p:nvPicPr>
        <p:blipFill rotWithShape="1">
          <a:blip r:embed="rId4">
            <a:alphaModFix/>
          </a:blip>
          <a:srcRect b="0" l="0" r="0" t="0"/>
          <a:stretch/>
        </p:blipFill>
        <p:spPr>
          <a:xfrm>
            <a:off x="5252019" y="413940"/>
            <a:ext cx="2475931" cy="1420019"/>
          </a:xfrm>
          <a:prstGeom prst="rect">
            <a:avLst/>
          </a:prstGeom>
          <a:noFill/>
          <a:ln>
            <a:noFill/>
          </a:ln>
        </p:spPr>
      </p:pic>
      <p:sp>
        <p:nvSpPr>
          <p:cNvPr id="544" name="Google Shape;544;p18"/>
          <p:cNvSpPr/>
          <p:nvPr/>
        </p:nvSpPr>
        <p:spPr>
          <a:xfrm>
            <a:off x="8585200" y="711200"/>
            <a:ext cx="319176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2B"/>
              </a:buClr>
              <a:buSzPts val="1200"/>
              <a:buFont typeface="Inter"/>
              <a:buNone/>
            </a:pPr>
            <a:r>
              <a:rPr b="1" lang="en-US" sz="1200">
                <a:solidFill>
                  <a:srgbClr val="E3A82B"/>
                </a:solidFill>
                <a:latin typeface="Inter"/>
                <a:ea typeface="Inter"/>
                <a:cs typeface="Inter"/>
                <a:sym typeface="Inter"/>
              </a:rPr>
              <a:t>EQUIPO DATUM SUR</a:t>
            </a:r>
            <a:endParaRPr sz="1200">
              <a:solidFill>
                <a:schemeClr val="dk1"/>
              </a:solidFill>
              <a:latin typeface="Inter"/>
              <a:ea typeface="Inter"/>
              <a:cs typeface="Inter"/>
              <a:sym typeface="Inter"/>
            </a:endParaRPr>
          </a:p>
        </p:txBody>
      </p:sp>
      <p:sp>
        <p:nvSpPr>
          <p:cNvPr id="545" name="Google Shape;545;p18"/>
          <p:cNvSpPr/>
          <p:nvPr/>
        </p:nvSpPr>
        <p:spPr>
          <a:xfrm>
            <a:off x="8585200" y="1102320"/>
            <a:ext cx="3191764"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400"/>
              <a:buFont typeface="Inter"/>
              <a:buNone/>
            </a:pPr>
            <a:r>
              <a:rPr b="1" lang="en-US" sz="1400">
                <a:solidFill>
                  <a:srgbClr val="F4F5F9"/>
                </a:solidFill>
                <a:latin typeface="Inter"/>
                <a:ea typeface="Inter"/>
                <a:cs typeface="Inter"/>
                <a:sym typeface="Inter"/>
              </a:rPr>
              <a:t>Joaquín Maver</a:t>
            </a:r>
            <a:endParaRPr sz="1400">
              <a:solidFill>
                <a:schemeClr val="dk1"/>
              </a:solidFill>
              <a:latin typeface="Inter"/>
              <a:ea typeface="Inter"/>
              <a:cs typeface="Inter"/>
              <a:sym typeface="Inter"/>
            </a:endParaRPr>
          </a:p>
        </p:txBody>
      </p:sp>
      <p:sp>
        <p:nvSpPr>
          <p:cNvPr id="546" name="Google Shape;546;p18"/>
          <p:cNvSpPr/>
          <p:nvPr/>
        </p:nvSpPr>
        <p:spPr>
          <a:xfrm>
            <a:off x="8585200" y="1376561"/>
            <a:ext cx="319176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Project Manager</a:t>
            </a:r>
            <a:endParaRPr sz="1200">
              <a:solidFill>
                <a:schemeClr val="dk1"/>
              </a:solidFill>
              <a:latin typeface="Inter"/>
              <a:ea typeface="Inter"/>
              <a:cs typeface="Inter"/>
              <a:sym typeface="Inter"/>
            </a:endParaRPr>
          </a:p>
        </p:txBody>
      </p:sp>
      <p:sp>
        <p:nvSpPr>
          <p:cNvPr id="547" name="Google Shape;547;p18"/>
          <p:cNvSpPr/>
          <p:nvPr/>
        </p:nvSpPr>
        <p:spPr>
          <a:xfrm>
            <a:off x="8585200" y="1767681"/>
            <a:ext cx="3191764"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400"/>
              <a:buFont typeface="Inter"/>
              <a:buNone/>
            </a:pPr>
            <a:r>
              <a:rPr b="1" lang="en-US" sz="1400">
                <a:solidFill>
                  <a:srgbClr val="F4F5F9"/>
                </a:solidFill>
                <a:latin typeface="Inter"/>
                <a:ea typeface="Inter"/>
                <a:cs typeface="Inter"/>
                <a:sym typeface="Inter"/>
              </a:rPr>
              <a:t>Sebastián Martínez Benegas</a:t>
            </a:r>
            <a:endParaRPr sz="1400">
              <a:solidFill>
                <a:schemeClr val="dk1"/>
              </a:solidFill>
              <a:latin typeface="Inter"/>
              <a:ea typeface="Inter"/>
              <a:cs typeface="Inter"/>
              <a:sym typeface="Inter"/>
            </a:endParaRPr>
          </a:p>
        </p:txBody>
      </p:sp>
      <p:sp>
        <p:nvSpPr>
          <p:cNvPr id="548" name="Google Shape;548;p18"/>
          <p:cNvSpPr/>
          <p:nvPr/>
        </p:nvSpPr>
        <p:spPr>
          <a:xfrm>
            <a:off x="8585200" y="2041922"/>
            <a:ext cx="319176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Data Engineer</a:t>
            </a:r>
            <a:endParaRPr sz="1200">
              <a:solidFill>
                <a:schemeClr val="dk1"/>
              </a:solidFill>
              <a:latin typeface="Inter"/>
              <a:ea typeface="Inter"/>
              <a:cs typeface="Inter"/>
              <a:sym typeface="Inter"/>
            </a:endParaRPr>
          </a:p>
        </p:txBody>
      </p:sp>
      <p:sp>
        <p:nvSpPr>
          <p:cNvPr id="549" name="Google Shape;549;p18"/>
          <p:cNvSpPr/>
          <p:nvPr/>
        </p:nvSpPr>
        <p:spPr>
          <a:xfrm>
            <a:off x="8585200" y="2433042"/>
            <a:ext cx="3191764"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400"/>
              <a:buFont typeface="Inter"/>
              <a:buNone/>
            </a:pPr>
            <a:r>
              <a:rPr b="1" lang="en-US" sz="1400">
                <a:solidFill>
                  <a:srgbClr val="F4F5F9"/>
                </a:solidFill>
                <a:latin typeface="Inter"/>
                <a:ea typeface="Inter"/>
                <a:cs typeface="Inter"/>
                <a:sym typeface="Inter"/>
              </a:rPr>
              <a:t>Kiara Pisera</a:t>
            </a:r>
            <a:endParaRPr sz="1400">
              <a:solidFill>
                <a:schemeClr val="dk1"/>
              </a:solidFill>
              <a:latin typeface="Inter"/>
              <a:ea typeface="Inter"/>
              <a:cs typeface="Inter"/>
              <a:sym typeface="Inter"/>
            </a:endParaRPr>
          </a:p>
        </p:txBody>
      </p:sp>
      <p:sp>
        <p:nvSpPr>
          <p:cNvPr id="550" name="Google Shape;550;p18"/>
          <p:cNvSpPr/>
          <p:nvPr/>
        </p:nvSpPr>
        <p:spPr>
          <a:xfrm>
            <a:off x="8585200" y="2707283"/>
            <a:ext cx="319176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QA / Data Quality</a:t>
            </a:r>
            <a:endParaRPr sz="1200">
              <a:solidFill>
                <a:schemeClr val="dk1"/>
              </a:solidFill>
              <a:latin typeface="Inter"/>
              <a:ea typeface="Inter"/>
              <a:cs typeface="Inter"/>
              <a:sym typeface="Inter"/>
            </a:endParaRPr>
          </a:p>
        </p:txBody>
      </p:sp>
      <p:sp>
        <p:nvSpPr>
          <p:cNvPr id="551" name="Google Shape;551;p18"/>
          <p:cNvSpPr/>
          <p:nvPr/>
        </p:nvSpPr>
        <p:spPr>
          <a:xfrm>
            <a:off x="8585200" y="3098403"/>
            <a:ext cx="3191764"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F5F9"/>
              </a:buClr>
              <a:buSzPts val="1400"/>
              <a:buFont typeface="Inter"/>
              <a:buNone/>
            </a:pPr>
            <a:r>
              <a:rPr b="1" lang="en-US" sz="1400">
                <a:solidFill>
                  <a:srgbClr val="F4F5F9"/>
                </a:solidFill>
                <a:latin typeface="Inter"/>
                <a:ea typeface="Inter"/>
                <a:cs typeface="Inter"/>
                <a:sym typeface="Inter"/>
              </a:rPr>
              <a:t>Matías Posse Presa</a:t>
            </a:r>
            <a:endParaRPr sz="1400">
              <a:solidFill>
                <a:schemeClr val="dk1"/>
              </a:solidFill>
              <a:latin typeface="Inter"/>
              <a:ea typeface="Inter"/>
              <a:cs typeface="Inter"/>
              <a:sym typeface="Inter"/>
            </a:endParaRPr>
          </a:p>
        </p:txBody>
      </p:sp>
      <p:sp>
        <p:nvSpPr>
          <p:cNvPr id="552" name="Google Shape;552;p18"/>
          <p:cNvSpPr/>
          <p:nvPr/>
        </p:nvSpPr>
        <p:spPr>
          <a:xfrm>
            <a:off x="8585200" y="3372644"/>
            <a:ext cx="319176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4D4"/>
              </a:buClr>
              <a:buSzPts val="1200"/>
              <a:buFont typeface="Inter"/>
              <a:buNone/>
            </a:pPr>
            <a:r>
              <a:rPr lang="en-US" sz="1200">
                <a:solidFill>
                  <a:srgbClr val="B9C4D4"/>
                </a:solidFill>
                <a:latin typeface="Inter"/>
                <a:ea typeface="Inter"/>
                <a:cs typeface="Inter"/>
                <a:sym typeface="Inter"/>
              </a:rPr>
              <a:t>DevOps / CI-CD</a:t>
            </a:r>
            <a:endParaRPr sz="1200">
              <a:solidFill>
                <a:schemeClr val="dk1"/>
              </a:solidFill>
              <a:latin typeface="Inter"/>
              <a:ea typeface="Inter"/>
              <a:cs typeface="Inter"/>
              <a:sym typeface="Inter"/>
            </a:endParaRPr>
          </a:p>
        </p:txBody>
      </p:sp>
      <p:pic>
        <p:nvPicPr>
          <p:cNvPr id="553" name="Google Shape;553;p18"/>
          <p:cNvPicPr preferRelativeResize="0"/>
          <p:nvPr/>
        </p:nvPicPr>
        <p:blipFill>
          <a:blip r:embed="rId5">
            <a:alphaModFix/>
          </a:blip>
          <a:stretch>
            <a:fillRect/>
          </a:stretch>
        </p:blipFill>
        <p:spPr>
          <a:xfrm>
            <a:off x="812800" y="1726432"/>
            <a:ext cx="2285999" cy="114978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atum Sur - Propuesta MVP calidad de datos">
  <a:themeElements>
    <a:clrScheme name="Datum Sur - Propuesta MVP calidad de datos">
      <a:dk1>
        <a:srgbClr val="0F2743"/>
      </a:dk1>
      <a:lt1>
        <a:srgbClr val="FDFDFE"/>
      </a:lt1>
      <a:dk2>
        <a:srgbClr val="4B5D72"/>
      </a:dk2>
      <a:lt2>
        <a:srgbClr val="E5E8EB"/>
      </a:lt2>
      <a:accent1>
        <a:srgbClr val="E3A82B"/>
      </a:accent1>
      <a:accent2>
        <a:srgbClr val="4A5568"/>
      </a:accent2>
      <a:accent3>
        <a:srgbClr val="B9C4D4"/>
      </a:accent3>
      <a:accent4>
        <a:srgbClr val="FBEFD5"/>
      </a:accent4>
      <a:accent5>
        <a:srgbClr val="A9B6C9"/>
      </a:accent5>
      <a:accent6>
        <a:srgbClr val="9AA0A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